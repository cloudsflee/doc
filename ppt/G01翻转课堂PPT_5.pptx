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notesMasterIdLst>
    <p:notesMasterId r:id="rId45"/>
  </p:notesMasterIdLst>
  <p:sldIdLst>
    <p:sldId id="286" r:id="rId3"/>
    <p:sldId id="265" r:id="rId4"/>
    <p:sldId id="289" r:id="rId5"/>
    <p:sldId id="269" r:id="rId6"/>
    <p:sldId id="270" r:id="rId7"/>
    <p:sldId id="272" r:id="rId8"/>
    <p:sldId id="296" r:id="rId9"/>
    <p:sldId id="279" r:id="rId10"/>
    <p:sldId id="291" r:id="rId11"/>
    <p:sldId id="317" r:id="rId12"/>
    <p:sldId id="299" r:id="rId13"/>
    <p:sldId id="300" r:id="rId14"/>
    <p:sldId id="316" r:id="rId15"/>
    <p:sldId id="275" r:id="rId16"/>
    <p:sldId id="318" r:id="rId17"/>
    <p:sldId id="321" r:id="rId18"/>
    <p:sldId id="304" r:id="rId19"/>
    <p:sldId id="293" r:id="rId20"/>
    <p:sldId id="276" r:id="rId21"/>
    <p:sldId id="305" r:id="rId22"/>
    <p:sldId id="306" r:id="rId23"/>
    <p:sldId id="308" r:id="rId24"/>
    <p:sldId id="311" r:id="rId25"/>
    <p:sldId id="309" r:id="rId26"/>
    <p:sldId id="282" r:id="rId27"/>
    <p:sldId id="310" r:id="rId28"/>
    <p:sldId id="319" r:id="rId29"/>
    <p:sldId id="322" r:id="rId30"/>
    <p:sldId id="292" r:id="rId31"/>
    <p:sldId id="312" r:id="rId32"/>
    <p:sldId id="271" r:id="rId33"/>
    <p:sldId id="277" r:id="rId34"/>
    <p:sldId id="307" r:id="rId35"/>
    <p:sldId id="313" r:id="rId36"/>
    <p:sldId id="320" r:id="rId37"/>
    <p:sldId id="325" r:id="rId38"/>
    <p:sldId id="326" r:id="rId39"/>
    <p:sldId id="295" r:id="rId40"/>
    <p:sldId id="281" r:id="rId41"/>
    <p:sldId id="328" r:id="rId42"/>
    <p:sldId id="327" r:id="rId43"/>
    <p:sldId id="294" r:id="rId44"/>
  </p:sldIdLst>
  <p:sldSz cx="12192000" cy="6858000"/>
  <p:notesSz cx="6858000" cy="9144000"/>
  <p:custDataLst>
    <p:tags r:id="rId4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93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52" autoAdjust="0"/>
    <p:restoredTop sz="81245" autoAdjust="0"/>
  </p:normalViewPr>
  <p:slideViewPr>
    <p:cSldViewPr snapToGrid="0">
      <p:cViewPr varScale="1">
        <p:scale>
          <a:sx n="65" d="100"/>
          <a:sy n="65" d="100"/>
        </p:scale>
        <p:origin x="90" y="26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gs" Target="tags/tag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577D22-AD28-43FC-8EB4-B134A7D334C3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8C8EFA-96ED-4A18-B46D-8BDC030E3A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07263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fade/>
  </p:transition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 advClick="0" advTm="0">
    <p:fade/>
  </p:transition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 advClick="0" advTm="0">
    <p:fade/>
  </p:transition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9.png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10.pn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Relationship Id="rId5" Type="http://schemas.openxmlformats.org/officeDocument/2006/relationships/image" Target="../media/image35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Relationship Id="rId6" Type="http://schemas.openxmlformats.org/officeDocument/2006/relationships/image" Target="../media/image12.png"/><Relationship Id="rId5" Type="http://schemas.openxmlformats.org/officeDocument/2006/relationships/image" Target="../media/image29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.xm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0.xml"/><Relationship Id="rId4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4.xml"/><Relationship Id="rId4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7.xml"/><Relationship Id="rId4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1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30" b="24000"/>
          <a:stretch>
            <a:fillRect/>
          </a:stretch>
        </p:blipFill>
        <p:spPr>
          <a:xfrm>
            <a:off x="9990725" y="0"/>
            <a:ext cx="2201275" cy="3111074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30" b="24000"/>
          <a:stretch>
            <a:fillRect/>
          </a:stretch>
        </p:blipFill>
        <p:spPr>
          <a:xfrm rot="10800000">
            <a:off x="-1" y="3746926"/>
            <a:ext cx="2201275" cy="3111074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711200" y="884940"/>
            <a:ext cx="10446327" cy="4813896"/>
            <a:chOff x="3279740" y="1363979"/>
            <a:chExt cx="5830644" cy="4130041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330" t="17556" r="15663" b="18444"/>
            <a:stretch>
              <a:fillRect/>
            </a:stretch>
          </p:blipFill>
          <p:spPr>
            <a:xfrm rot="5400000">
              <a:off x="4130041" y="513678"/>
              <a:ext cx="4130041" cy="5830644"/>
            </a:xfrm>
            <a:prstGeom prst="rect">
              <a:avLst/>
            </a:prstGeom>
          </p:spPr>
        </p:pic>
        <p:sp>
          <p:nvSpPr>
            <p:cNvPr id="27" name="íş1íďé"/>
            <p:cNvSpPr/>
            <p:nvPr/>
          </p:nvSpPr>
          <p:spPr>
            <a:xfrm>
              <a:off x="3836003" y="1961195"/>
              <a:ext cx="4805077" cy="2935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406400" dist="355600" dir="2880000" sx="92000" sy="92000" algn="ctr" rotWithShape="0">
                <a:srgbClr val="000000">
                  <a:alpha val="1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>
            <a:off x="-61340" y="712107"/>
            <a:ext cx="2472901" cy="5154361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2201275" y="2178061"/>
            <a:ext cx="8422419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rgbClr val="E9939A"/>
                </a:solidFill>
                <a:latin typeface="思源宋体 CN Heavy" pitchFamily="18" charset="-122"/>
                <a:ea typeface="思源宋体 CN Heavy" pitchFamily="18" charset="-122"/>
              </a:rPr>
              <a:t>        UML</a:t>
            </a:r>
            <a:r>
              <a:rPr lang="zh-CN" altLang="en-US" sz="6000" dirty="0">
                <a:solidFill>
                  <a:srgbClr val="E9939A"/>
                </a:solidFill>
                <a:latin typeface="思源宋体 CN Heavy" pitchFamily="18" charset="-122"/>
                <a:ea typeface="思源宋体 CN Heavy" pitchFamily="18" charset="-122"/>
              </a:rPr>
              <a:t>基础</a:t>
            </a:r>
            <a:r>
              <a:rPr lang="en-US" altLang="zh-CN" sz="6000" dirty="0">
                <a:solidFill>
                  <a:srgbClr val="E9939A"/>
                </a:solidFill>
                <a:latin typeface="思源宋体 CN Heavy" pitchFamily="18" charset="-122"/>
                <a:ea typeface="思源宋体 CN Heavy" pitchFamily="18" charset="-122"/>
              </a:rPr>
              <a:t>III</a:t>
            </a:r>
          </a:p>
          <a:p>
            <a:r>
              <a:rPr lang="zh-CN" altLang="en-US" sz="6000" dirty="0">
                <a:solidFill>
                  <a:srgbClr val="E9939A"/>
                </a:solidFill>
                <a:latin typeface="思源宋体 CN Heavy" pitchFamily="18" charset="-122"/>
                <a:ea typeface="思源宋体 CN Heavy" pitchFamily="18" charset="-122"/>
              </a:rPr>
              <a:t>对象图、构件图、包图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 rot="11425656">
            <a:off x="9534926" y="637472"/>
            <a:ext cx="2472901" cy="515436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39F947E-E030-5268-4EC0-0C76EF06A236}"/>
              </a:ext>
            </a:extLst>
          </p:cNvPr>
          <p:cNvSpPr txBox="1"/>
          <p:nvPr/>
        </p:nvSpPr>
        <p:spPr>
          <a:xfrm>
            <a:off x="1875289" y="1703784"/>
            <a:ext cx="372527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E9939A"/>
                </a:solidFill>
                <a:latin typeface="思源宋体 CN Heavy" pitchFamily="18" charset="-122"/>
                <a:ea typeface="思源宋体 CN Heavy" pitchFamily="18" charset="-122"/>
              </a:rPr>
              <a:t>G01</a:t>
            </a:r>
            <a:r>
              <a:rPr lang="zh-CN" altLang="en-US" sz="2000" b="1" dirty="0">
                <a:solidFill>
                  <a:srgbClr val="E9939A"/>
                </a:solidFill>
                <a:latin typeface="思源宋体 CN Heavy" pitchFamily="18" charset="-122"/>
                <a:ea typeface="思源宋体 CN Heavy" pitchFamily="18" charset="-122"/>
              </a:rPr>
              <a:t>小组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sḻiḓe"/>
          <p:cNvSpPr/>
          <p:nvPr/>
        </p:nvSpPr>
        <p:spPr>
          <a:xfrm>
            <a:off x="1084262" y="2224538"/>
            <a:ext cx="2408924" cy="2408924"/>
          </a:xfrm>
          <a:prstGeom prst="roundRect">
            <a:avLst>
              <a:gd name="adj" fmla="val 4035"/>
            </a:avLst>
          </a:pr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ṥ1iḍè"/>
          <p:cNvSpPr/>
          <p:nvPr/>
        </p:nvSpPr>
        <p:spPr>
          <a:xfrm>
            <a:off x="3622445" y="2224538"/>
            <a:ext cx="2408924" cy="2408924"/>
          </a:xfrm>
          <a:prstGeom prst="roundRect">
            <a:avLst>
              <a:gd name="adj" fmla="val 4035"/>
            </a:avLst>
          </a:prstGeom>
          <a:solidFill>
            <a:schemeClr val="bg1"/>
          </a:solidFill>
          <a:ln>
            <a:noFill/>
          </a:ln>
          <a:effectLst>
            <a:outerShdw blurRad="431800" dist="50800" dir="5400000" algn="ctr" rotWithShape="0">
              <a:srgbClr val="000000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íṥlïďè"/>
          <p:cNvSpPr/>
          <p:nvPr/>
        </p:nvSpPr>
        <p:spPr>
          <a:xfrm>
            <a:off x="6160628" y="2224538"/>
            <a:ext cx="2408924" cy="2408924"/>
          </a:xfrm>
          <a:prstGeom prst="roundRect">
            <a:avLst>
              <a:gd name="adj" fmla="val 4035"/>
            </a:avLst>
          </a:pr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ïṥ1ïḍè"/>
          <p:cNvSpPr/>
          <p:nvPr/>
        </p:nvSpPr>
        <p:spPr>
          <a:xfrm>
            <a:off x="8698811" y="2224538"/>
            <a:ext cx="2408924" cy="2408924"/>
          </a:xfrm>
          <a:prstGeom prst="roundRect">
            <a:avLst>
              <a:gd name="adj" fmla="val 4035"/>
            </a:avLst>
          </a:prstGeom>
          <a:solidFill>
            <a:schemeClr val="bg1"/>
          </a:solidFill>
          <a:ln>
            <a:noFill/>
          </a:ln>
          <a:effectLst>
            <a:outerShdw blurRad="431800" dist="50800" dir="5400000" algn="ctr" rotWithShape="0">
              <a:srgbClr val="000000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íSḻiďè"/>
          <p:cNvSpPr/>
          <p:nvPr/>
        </p:nvSpPr>
        <p:spPr>
          <a:xfrm>
            <a:off x="0" y="6064250"/>
            <a:ext cx="12192000" cy="793750"/>
          </a:xfrm>
          <a:custGeom>
            <a:avLst/>
            <a:gdLst>
              <a:gd name="connsiteX0" fmla="*/ 6095999 w 12192000"/>
              <a:gd name="connsiteY0" fmla="*/ 0 h 793750"/>
              <a:gd name="connsiteX1" fmla="*/ 12076023 w 12192000"/>
              <a:gd name="connsiteY1" fmla="*/ 415402 h 793750"/>
              <a:gd name="connsiteX2" fmla="*/ 12192000 w 12192000"/>
              <a:gd name="connsiteY2" fmla="*/ 441831 h 793750"/>
              <a:gd name="connsiteX3" fmla="*/ 12192000 w 12192000"/>
              <a:gd name="connsiteY3" fmla="*/ 793750 h 793750"/>
              <a:gd name="connsiteX4" fmla="*/ 0 w 12192000"/>
              <a:gd name="connsiteY4" fmla="*/ 793750 h 793750"/>
              <a:gd name="connsiteX5" fmla="*/ 0 w 12192000"/>
              <a:gd name="connsiteY5" fmla="*/ 441830 h 793750"/>
              <a:gd name="connsiteX6" fmla="*/ 115975 w 12192000"/>
              <a:gd name="connsiteY6" fmla="*/ 415402 h 793750"/>
              <a:gd name="connsiteX7" fmla="*/ 6095999 w 12192000"/>
              <a:gd name="connsiteY7" fmla="*/ 0 h 793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793750">
                <a:moveTo>
                  <a:pt x="6095999" y="0"/>
                </a:moveTo>
                <a:cubicBezTo>
                  <a:pt x="8678253" y="0"/>
                  <a:pt x="10924372" y="167970"/>
                  <a:pt x="12076023" y="415402"/>
                </a:cubicBezTo>
                <a:lnTo>
                  <a:pt x="12192000" y="441831"/>
                </a:lnTo>
                <a:lnTo>
                  <a:pt x="12192000" y="793750"/>
                </a:lnTo>
                <a:lnTo>
                  <a:pt x="0" y="793750"/>
                </a:lnTo>
                <a:lnTo>
                  <a:pt x="0" y="441830"/>
                </a:lnTo>
                <a:lnTo>
                  <a:pt x="115975" y="415402"/>
                </a:lnTo>
                <a:cubicBezTo>
                  <a:pt x="1267626" y="167970"/>
                  <a:pt x="3513745" y="0"/>
                  <a:pt x="6095999" y="0"/>
                </a:cubicBezTo>
                <a:close/>
              </a:path>
            </a:pathLst>
          </a:cu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îṣ1iďe"/>
          <p:cNvSpPr/>
          <p:nvPr/>
        </p:nvSpPr>
        <p:spPr>
          <a:xfrm flipH="1">
            <a:off x="11239378" y="3263900"/>
            <a:ext cx="330200" cy="330200"/>
          </a:xfrm>
          <a:prstGeom prst="ellipse">
            <a:avLst/>
          </a:prstGeom>
          <a:solidFill>
            <a:srgbClr val="ECA1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îsliḍe"/>
          <p:cNvSpPr/>
          <p:nvPr/>
        </p:nvSpPr>
        <p:spPr>
          <a:xfrm rot="5400000">
            <a:off x="11358552" y="3391823"/>
            <a:ext cx="115661" cy="7436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î$ḷíḋè"/>
          <p:cNvSpPr/>
          <p:nvPr/>
        </p:nvSpPr>
        <p:spPr>
          <a:xfrm>
            <a:off x="624802" y="3263900"/>
            <a:ext cx="330200" cy="330200"/>
          </a:xfrm>
          <a:prstGeom prst="ellipse">
            <a:avLst/>
          </a:prstGeom>
          <a:solidFill>
            <a:srgbClr val="ECA1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ïṥḻiḍê"/>
          <p:cNvSpPr/>
          <p:nvPr/>
        </p:nvSpPr>
        <p:spPr>
          <a:xfrm rot="16200000" flipH="1">
            <a:off x="720167" y="3391823"/>
            <a:ext cx="115661" cy="7436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 rot="16046210">
            <a:off x="5460782" y="-144348"/>
            <a:ext cx="1141173" cy="237859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557010" y="2802235"/>
            <a:ext cx="146342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第一章节</a:t>
            </a:r>
          </a:p>
        </p:txBody>
      </p:sp>
      <p:cxnSp>
        <p:nvCxnSpPr>
          <p:cNvPr id="23" name="直接连接符 22"/>
          <p:cNvCxnSpPr/>
          <p:nvPr/>
        </p:nvCxnSpPr>
        <p:spPr>
          <a:xfrm>
            <a:off x="1084262" y="3594100"/>
            <a:ext cx="2408924" cy="0"/>
          </a:xfrm>
          <a:prstGeom prst="line">
            <a:avLst/>
          </a:prstGeom>
          <a:ln w="3175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6737222" y="2830300"/>
            <a:ext cx="146342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第三章节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6160628" y="3588473"/>
            <a:ext cx="2408924" cy="0"/>
          </a:xfrm>
          <a:prstGeom prst="line">
            <a:avLst/>
          </a:prstGeom>
          <a:ln w="3175" cap="rnd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095193" y="2811953"/>
            <a:ext cx="146342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E993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第二章节</a:t>
            </a:r>
          </a:p>
        </p:txBody>
      </p:sp>
      <p:cxnSp>
        <p:nvCxnSpPr>
          <p:cNvPr id="27" name="直接连接符 26"/>
          <p:cNvCxnSpPr/>
          <p:nvPr/>
        </p:nvCxnSpPr>
        <p:spPr>
          <a:xfrm>
            <a:off x="3690022" y="3625065"/>
            <a:ext cx="2408924" cy="0"/>
          </a:xfrm>
          <a:prstGeom prst="line">
            <a:avLst/>
          </a:prstGeom>
          <a:ln w="3175" cap="rnd">
            <a:solidFill>
              <a:srgbClr val="E99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9171563" y="2830300"/>
            <a:ext cx="146342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E993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第四章节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8663610" y="3576699"/>
            <a:ext cx="2408924" cy="0"/>
          </a:xfrm>
          <a:prstGeom prst="line">
            <a:avLst/>
          </a:prstGeom>
          <a:ln w="3175" cap="rnd">
            <a:solidFill>
              <a:srgbClr val="E9939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图片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 rot="4021409" flipH="1">
            <a:off x="5720984" y="4143071"/>
            <a:ext cx="1056378" cy="220184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5266134-13BF-5E56-1578-FAAEAEDE50DF}"/>
              </a:ext>
            </a:extLst>
          </p:cNvPr>
          <p:cNvSpPr txBox="1"/>
          <p:nvPr/>
        </p:nvSpPr>
        <p:spPr>
          <a:xfrm>
            <a:off x="1261185" y="3924301"/>
            <a:ext cx="2330419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UML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与结构图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A42705-F722-688A-6D57-3B0790EC7381}"/>
              </a:ext>
            </a:extLst>
          </p:cNvPr>
          <p:cNvSpPr txBox="1"/>
          <p:nvPr/>
        </p:nvSpPr>
        <p:spPr>
          <a:xfrm>
            <a:off x="4266855" y="3878794"/>
            <a:ext cx="146342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E993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A51DB8D-E76C-BE68-4825-9484745BD0A1}"/>
              </a:ext>
            </a:extLst>
          </p:cNvPr>
          <p:cNvSpPr txBox="1"/>
          <p:nvPr/>
        </p:nvSpPr>
        <p:spPr>
          <a:xfrm>
            <a:off x="9467388" y="3800547"/>
            <a:ext cx="146342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E9939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包图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4C7205-10E9-3140-23EE-AD2789A3BA8B}"/>
              </a:ext>
            </a:extLst>
          </p:cNvPr>
          <p:cNvSpPr txBox="1"/>
          <p:nvPr/>
        </p:nvSpPr>
        <p:spPr>
          <a:xfrm>
            <a:off x="6910421" y="3857112"/>
            <a:ext cx="146342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构件图</a:t>
            </a:r>
          </a:p>
        </p:txBody>
      </p:sp>
    </p:spTree>
    <p:custDataLst>
      <p:tags r:id="rId1"/>
    </p:custData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22" grpId="0"/>
      <p:bldP spid="24" grpId="0"/>
      <p:bldP spid="26" grpId="0"/>
      <p:bldP spid="28" grpId="0"/>
      <p:bldP spid="3" grpId="0"/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1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2263742" y="-2263739"/>
            <a:ext cx="6858000" cy="11385479"/>
          </a:xfrm>
          <a:prstGeom prst="rect">
            <a:avLst/>
          </a:prstGeom>
          <a:ln>
            <a:noFill/>
          </a:ln>
        </p:spPr>
      </p:pic>
      <p:sp>
        <p:nvSpPr>
          <p:cNvPr id="9" name="íş1íďé"/>
          <p:cNvSpPr/>
          <p:nvPr/>
        </p:nvSpPr>
        <p:spPr>
          <a:xfrm>
            <a:off x="3899502" y="1713877"/>
            <a:ext cx="7174898" cy="380229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6400" dist="355600" dir="2880000" sx="92000" sy="92000" algn="ctr" rotWithShape="0">
              <a:srgbClr val="000000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îṣ1iďe"/>
          <p:cNvSpPr/>
          <p:nvPr/>
        </p:nvSpPr>
        <p:spPr>
          <a:xfrm flipH="1">
            <a:off x="3990389" y="3263900"/>
            <a:ext cx="330200" cy="330200"/>
          </a:xfrm>
          <a:prstGeom prst="ellipse">
            <a:avLst/>
          </a:prstGeom>
          <a:solidFill>
            <a:srgbClr val="ECA1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îsliḍe"/>
          <p:cNvSpPr/>
          <p:nvPr/>
        </p:nvSpPr>
        <p:spPr>
          <a:xfrm rot="5400000">
            <a:off x="4097659" y="3391824"/>
            <a:ext cx="115661" cy="7436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î$ḷíḋè"/>
          <p:cNvSpPr/>
          <p:nvPr/>
        </p:nvSpPr>
        <p:spPr>
          <a:xfrm>
            <a:off x="10558657" y="3263900"/>
            <a:ext cx="330200" cy="330200"/>
          </a:xfrm>
          <a:prstGeom prst="ellipse">
            <a:avLst/>
          </a:prstGeom>
          <a:solidFill>
            <a:srgbClr val="ECA1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ïṥḻiḍê"/>
          <p:cNvSpPr/>
          <p:nvPr/>
        </p:nvSpPr>
        <p:spPr>
          <a:xfrm rot="16200000" flipH="1">
            <a:off x="10665927" y="3391820"/>
            <a:ext cx="115661" cy="7436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324111" y="2932833"/>
            <a:ext cx="6234545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 CN Heavy" pitchFamily="18" charset="-122"/>
                <a:ea typeface="思源宋体 CN Heavy" pitchFamily="18" charset="-122"/>
              </a:rPr>
              <a:t>UML</a:t>
            </a:r>
            <a:r>
              <a:rPr lang="zh-CN" altLang="en-US" sz="66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宋体 CN Heavy" pitchFamily="18" charset="-122"/>
                <a:ea typeface="思源宋体 CN Heavy" pitchFamily="18" charset="-122"/>
              </a:rPr>
              <a:t>与结构图</a:t>
            </a:r>
          </a:p>
        </p:txBody>
      </p:sp>
      <p:sp>
        <p:nvSpPr>
          <p:cNvPr id="19" name="Synergistically utilize technically sound portals with frictionless chains. Dramatically customize…"/>
          <p:cNvSpPr txBox="1"/>
          <p:nvPr/>
        </p:nvSpPr>
        <p:spPr>
          <a:xfrm>
            <a:off x="8032087" y="4055850"/>
            <a:ext cx="2929828" cy="40729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lang="zh-CN" alt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/>
              </a:rPr>
              <a:t>前景回顾</a:t>
            </a:r>
            <a:endParaRPr kern="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Roboto Light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7" grpId="0" animBg="1"/>
      <p:bldP spid="18" grpId="0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îṩļïḋè"/>
          <p:cNvSpPr/>
          <p:nvPr/>
        </p:nvSpPr>
        <p:spPr>
          <a:xfrm>
            <a:off x="1399668" y="1943843"/>
            <a:ext cx="2208303" cy="3947572"/>
          </a:xfrm>
          <a:prstGeom prst="rect">
            <a:avLst/>
          </a:prstGeom>
          <a:noFill/>
          <a:ln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îŝ1ïdè"/>
          <p:cNvSpPr/>
          <p:nvPr/>
        </p:nvSpPr>
        <p:spPr>
          <a:xfrm>
            <a:off x="932155" y="3187033"/>
            <a:ext cx="4939078" cy="2550838"/>
          </a:xfrm>
          <a:prstGeom prst="rect">
            <a:avLst/>
          </a:prstGeom>
          <a:blipFill>
            <a:blip r:embed="rId3"/>
            <a:stretch>
              <a:fillRect t="-2664" b="-2637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íšliďê"/>
          <p:cNvSpPr/>
          <p:nvPr/>
        </p:nvSpPr>
        <p:spPr>
          <a:xfrm>
            <a:off x="2940500" y="1549357"/>
            <a:ext cx="9018859" cy="2799597"/>
          </a:xfrm>
          <a:prstGeom prst="rect">
            <a:avLst/>
          </a:pr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0" y="0"/>
            <a:ext cx="3321886" cy="1306696"/>
            <a:chOff x="-46113" y="5185"/>
            <a:chExt cx="3321886" cy="1306696"/>
          </a:xfrm>
        </p:grpSpPr>
        <p:sp>
          <p:nvSpPr>
            <p:cNvPr id="7" name="iṩļïḓè"/>
            <p:cNvSpPr txBox="1"/>
            <p:nvPr/>
          </p:nvSpPr>
          <p:spPr bwMode="auto">
            <a:xfrm>
              <a:off x="638556" y="458848"/>
              <a:ext cx="2095408" cy="421718"/>
            </a:xfrm>
            <a:prstGeom prst="rect">
              <a:avLst/>
            </a:prstGeom>
            <a:solidFill>
              <a:srgbClr val="E9939A"/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0" hangingPunct="0"/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开篇互动问题</a:t>
              </a: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5013422">
              <a:off x="353462" y="-394390"/>
              <a:ext cx="736994" cy="153614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16046210">
              <a:off x="2218870" y="254977"/>
              <a:ext cx="685336" cy="1428471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/>
        </p:nvSpPr>
        <p:spPr>
          <a:xfrm>
            <a:off x="3103622" y="2297967"/>
            <a:ext cx="8692613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UML 2.5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中，图分为结构图和行为图两大类。请问以下哪种图属于行为图？</a:t>
            </a: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 rot="311904">
            <a:off x="1377460" y="1201130"/>
            <a:ext cx="1974849" cy="411625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1CDC10F-B23C-B037-5B01-256EE9FB9605}"/>
              </a:ext>
            </a:extLst>
          </p:cNvPr>
          <p:cNvSpPr txBox="1"/>
          <p:nvPr/>
        </p:nvSpPr>
        <p:spPr>
          <a:xfrm>
            <a:off x="3266744" y="2828848"/>
            <a:ext cx="8692613" cy="960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类图          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对象图       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C.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活动图           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D.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包图</a:t>
            </a:r>
          </a:p>
        </p:txBody>
      </p:sp>
    </p:spTree>
    <p:custDataLst>
      <p:tags r:id="rId1"/>
    </p:custData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ïšlíḍè"/>
          <p:cNvSpPr/>
          <p:nvPr/>
        </p:nvSpPr>
        <p:spPr>
          <a:xfrm>
            <a:off x="56710" y="2044612"/>
            <a:ext cx="4596206" cy="3747292"/>
          </a:xfrm>
          <a:prstGeom prst="rect">
            <a:avLst/>
          </a:prstGeom>
          <a:blipFill>
            <a:blip r:embed="rId3"/>
            <a:stretch>
              <a:fillRect l="-50346" r="-50090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ïŝḷiḍé"/>
          <p:cNvSpPr/>
          <p:nvPr/>
        </p:nvSpPr>
        <p:spPr>
          <a:xfrm>
            <a:off x="3261050" y="1151342"/>
            <a:ext cx="8262165" cy="5153147"/>
          </a:xfrm>
          <a:prstGeom prst="rect">
            <a:avLst/>
          </a:pr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isľïḋe"/>
          <p:cNvSpPr/>
          <p:nvPr/>
        </p:nvSpPr>
        <p:spPr>
          <a:xfrm>
            <a:off x="7953616" y="3918258"/>
            <a:ext cx="2834284" cy="190543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6400" dist="355600" dir="2880000" sx="92000" sy="92000" algn="ctr" rotWithShape="0">
              <a:srgbClr val="000000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3" name="ïSļiḍè"/>
          <p:cNvSpPr/>
          <p:nvPr/>
        </p:nvSpPr>
        <p:spPr>
          <a:xfrm>
            <a:off x="7953616" y="3208307"/>
            <a:ext cx="2834284" cy="705831"/>
          </a:xfrm>
          <a:prstGeom prst="rect">
            <a:avLst/>
          </a:prstGeom>
          <a:blipFill>
            <a:blip r:embed="rId4"/>
            <a:stretch>
              <a:fillRect l="-25260" r="-24902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4" name="íş1íďé"/>
          <p:cNvSpPr/>
          <p:nvPr/>
        </p:nvSpPr>
        <p:spPr>
          <a:xfrm>
            <a:off x="3846085" y="3918258"/>
            <a:ext cx="2750023" cy="18516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6400" dist="355600" dir="2880000" sx="92000" sy="92000" algn="ctr" rotWithShape="0">
              <a:srgbClr val="000000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6" name="i$líďe"/>
          <p:cNvSpPr/>
          <p:nvPr/>
        </p:nvSpPr>
        <p:spPr>
          <a:xfrm>
            <a:off x="3846085" y="3174258"/>
            <a:ext cx="2750023" cy="739880"/>
          </a:xfrm>
          <a:prstGeom prst="rect">
            <a:avLst/>
          </a:prstGeom>
          <a:blipFill>
            <a:blip r:embed="rId5"/>
            <a:stretch>
              <a:fillRect l="-25260" r="-24902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36498" y="83273"/>
            <a:ext cx="3123287" cy="1163524"/>
            <a:chOff x="36498" y="83273"/>
            <a:chExt cx="3123287" cy="1163524"/>
          </a:xfrm>
        </p:grpSpPr>
        <p:sp>
          <p:nvSpPr>
            <p:cNvPr id="10" name="iṩļïḓè"/>
            <p:cNvSpPr txBox="1"/>
            <p:nvPr/>
          </p:nvSpPr>
          <p:spPr bwMode="auto">
            <a:xfrm>
              <a:off x="713475" y="482412"/>
              <a:ext cx="1457692" cy="421718"/>
            </a:xfrm>
            <a:prstGeom prst="rect">
              <a:avLst/>
            </a:prstGeom>
            <a:solidFill>
              <a:srgbClr val="E9939A"/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rmAutofit fontScale="850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UML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概览</a:t>
              </a: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5013422">
              <a:off x="436073" y="-316302"/>
              <a:ext cx="736994" cy="1536144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16046210">
              <a:off x="2102882" y="189893"/>
              <a:ext cx="685336" cy="1428471"/>
            </a:xfrm>
            <a:prstGeom prst="rect">
              <a:avLst/>
            </a:prstGeom>
          </p:spPr>
        </p:pic>
      </p:grpSp>
      <p:sp>
        <p:nvSpPr>
          <p:cNvPr id="19" name="文本框 18"/>
          <p:cNvSpPr txBox="1"/>
          <p:nvPr/>
        </p:nvSpPr>
        <p:spPr>
          <a:xfrm>
            <a:off x="3926673" y="4002403"/>
            <a:ext cx="28342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结构图</a:t>
            </a:r>
            <a:r>
              <a:rPr lang="zh-CN" altLang="en-US" dirty="0"/>
              <a:t>（静态架构）：</a:t>
            </a:r>
            <a:endParaRPr lang="en-US" altLang="zh-CN" dirty="0"/>
          </a:p>
          <a:p>
            <a:r>
              <a:rPr lang="zh-CN" altLang="en-US" dirty="0"/>
              <a:t>描述系统的静态结构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类图、对象图、构件图、包图、部署图</a:t>
            </a:r>
            <a:r>
              <a:rPr lang="en-US" altLang="zh-CN" dirty="0"/>
              <a:t>…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 rot="311904">
            <a:off x="1062991" y="2152924"/>
            <a:ext cx="1633203" cy="340414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680FBBC-A374-088B-6C78-3C38E92FCF45}"/>
              </a:ext>
            </a:extLst>
          </p:cNvPr>
          <p:cNvSpPr txBox="1"/>
          <p:nvPr/>
        </p:nvSpPr>
        <p:spPr>
          <a:xfrm>
            <a:off x="4047523" y="1702151"/>
            <a:ext cx="6163650" cy="1059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</a:rPr>
              <a:t>UML</a:t>
            </a:r>
            <a:r>
              <a:rPr lang="zh-CN" altLang="en-US" sz="2400" b="1" dirty="0">
                <a:solidFill>
                  <a:schemeClr val="accent2">
                    <a:lumMod val="75000"/>
                  </a:schemeClr>
                </a:solidFill>
              </a:rPr>
              <a:t>定义：</a:t>
            </a:r>
            <a:r>
              <a:rPr lang="zh-CN" altLang="en-US" sz="2000" b="1" dirty="0">
                <a:solidFill>
                  <a:schemeClr val="bg1"/>
                </a:solidFill>
              </a:rPr>
              <a:t>用于软件系统可视化、规范设计、构造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</a:rPr>
              <a:t>和文档化的标准化建模语言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488D446-8CFB-5BE5-334D-E060CA81FACF}"/>
              </a:ext>
            </a:extLst>
          </p:cNvPr>
          <p:cNvSpPr txBox="1"/>
          <p:nvPr/>
        </p:nvSpPr>
        <p:spPr>
          <a:xfrm>
            <a:off x="8060148" y="3982372"/>
            <a:ext cx="28342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行为图</a:t>
            </a:r>
            <a:r>
              <a:rPr lang="zh-CN" altLang="en-US" dirty="0"/>
              <a:t>（动态交互）：</a:t>
            </a:r>
            <a:endParaRPr lang="en-US" altLang="zh-CN" dirty="0"/>
          </a:p>
          <a:p>
            <a:r>
              <a:rPr lang="zh-CN" altLang="en-US" dirty="0"/>
              <a:t>描述系统的动态行为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用例图、活动图、顺序图、状态机图</a:t>
            </a:r>
            <a:r>
              <a:rPr lang="en-US" altLang="zh-CN" dirty="0"/>
              <a:t>…</a:t>
            </a:r>
          </a:p>
        </p:txBody>
      </p:sp>
    </p:spTree>
    <p:custDataLst>
      <p:tags r:id="rId1"/>
    </p:custData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ïšľide"/>
          <p:cNvSpPr/>
          <p:nvPr/>
        </p:nvSpPr>
        <p:spPr>
          <a:xfrm>
            <a:off x="2078025" y="1889175"/>
            <a:ext cx="2880000" cy="37171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íŝḻïďé"/>
          <p:cNvSpPr/>
          <p:nvPr/>
        </p:nvSpPr>
        <p:spPr>
          <a:xfrm>
            <a:off x="2078025" y="1853548"/>
            <a:ext cx="2880000" cy="1476284"/>
          </a:xfrm>
          <a:prstGeom prst="rect">
            <a:avLst/>
          </a:prstGeom>
          <a:blipFill>
            <a:blip r:embed="rId3"/>
            <a:stretch>
              <a:fillRect l="-1266" r="-1254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íŝľïḋè"/>
          <p:cNvSpPr/>
          <p:nvPr/>
        </p:nvSpPr>
        <p:spPr>
          <a:xfrm>
            <a:off x="7187656" y="1889175"/>
            <a:ext cx="2880000" cy="37171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ïsľïḋé"/>
          <p:cNvSpPr/>
          <p:nvPr/>
        </p:nvSpPr>
        <p:spPr>
          <a:xfrm>
            <a:off x="7187656" y="1853548"/>
            <a:ext cx="2880000" cy="1476284"/>
          </a:xfrm>
          <a:prstGeom prst="rect">
            <a:avLst/>
          </a:prstGeom>
          <a:blipFill>
            <a:blip r:embed="rId4"/>
            <a:stretch>
              <a:fillRect l="-1266" r="-1254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ïṡlîḋé"/>
          <p:cNvSpPr/>
          <p:nvPr/>
        </p:nvSpPr>
        <p:spPr>
          <a:xfrm>
            <a:off x="4656000" y="1538285"/>
            <a:ext cx="2880000" cy="4383314"/>
          </a:xfrm>
          <a:prstGeom prst="rect">
            <a:avLst/>
          </a:pr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ïṥľîdè"/>
          <p:cNvSpPr/>
          <p:nvPr/>
        </p:nvSpPr>
        <p:spPr>
          <a:xfrm>
            <a:off x="4656000" y="1538285"/>
            <a:ext cx="2880000" cy="1791547"/>
          </a:xfrm>
          <a:prstGeom prst="rect">
            <a:avLst/>
          </a:prstGeom>
          <a:blipFill>
            <a:blip r:embed="rId5"/>
            <a:stretch>
              <a:fillRect l="-12260" r="-12153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íṣlíḋe"/>
          <p:cNvSpPr/>
          <p:nvPr/>
        </p:nvSpPr>
        <p:spPr>
          <a:xfrm>
            <a:off x="4656000" y="1538285"/>
            <a:ext cx="2880000" cy="45719"/>
          </a:xfrm>
          <a:prstGeom prst="rect">
            <a:avLst/>
          </a:pr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-46113" y="5185"/>
            <a:ext cx="3513942" cy="1241614"/>
            <a:chOff x="-46113" y="5185"/>
            <a:chExt cx="3513942" cy="1241614"/>
          </a:xfrm>
        </p:grpSpPr>
        <p:sp>
          <p:nvSpPr>
            <p:cNvPr id="10" name="iṩļïḓè"/>
            <p:cNvSpPr txBox="1"/>
            <p:nvPr/>
          </p:nvSpPr>
          <p:spPr bwMode="auto">
            <a:xfrm>
              <a:off x="415605" y="409465"/>
              <a:ext cx="2475194" cy="421718"/>
            </a:xfrm>
            <a:prstGeom prst="rect">
              <a:avLst/>
            </a:prstGeom>
            <a:solidFill>
              <a:srgbClr val="E9939A"/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dist"/>
              <a:r>
                <a:rPr lang="zh-CN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前期已学</a:t>
              </a:r>
              <a:r>
                <a:rPr lang="en-US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UML</a:t>
              </a:r>
              <a:r>
                <a:rPr lang="zh-CN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图回顾</a:t>
              </a:r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5013422">
              <a:off x="353462" y="-394390"/>
              <a:ext cx="736994" cy="1536144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16046210">
              <a:off x="2410926" y="189895"/>
              <a:ext cx="685336" cy="1428471"/>
            </a:xfrm>
            <a:prstGeom prst="rect">
              <a:avLst/>
            </a:prstGeom>
          </p:spPr>
        </p:pic>
      </p:grpSp>
      <p:sp>
        <p:nvSpPr>
          <p:cNvPr id="14" name="文本框 13"/>
          <p:cNvSpPr txBox="1"/>
          <p:nvPr/>
        </p:nvSpPr>
        <p:spPr>
          <a:xfrm>
            <a:off x="2304788" y="3442919"/>
            <a:ext cx="2123555" cy="46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用例图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iṩļïḓè"/>
          <p:cNvSpPr txBox="1"/>
          <p:nvPr/>
        </p:nvSpPr>
        <p:spPr bwMode="auto">
          <a:xfrm>
            <a:off x="5110111" y="3507035"/>
            <a:ext cx="1896654" cy="481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 dirty="0"/>
              <a:t>类图</a:t>
            </a: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004345" y="4115270"/>
            <a:ext cx="2123555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描述类、接口、属性、方法及静态关系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系统分析与设计阶段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870189" y="3442919"/>
            <a:ext cx="2123555" cy="46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活动图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8613F7-74A1-4545-D66D-C1951CF1821E}"/>
              </a:ext>
            </a:extLst>
          </p:cNvPr>
          <p:cNvSpPr txBox="1"/>
          <p:nvPr/>
        </p:nvSpPr>
        <p:spPr>
          <a:xfrm>
            <a:off x="2388095" y="3988475"/>
            <a:ext cx="2123555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描述系统功能需求及用户交互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需求分析阶段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5EF842-7ED4-A340-85B8-0D1F366F276E}"/>
              </a:ext>
            </a:extLst>
          </p:cNvPr>
          <p:cNvSpPr txBox="1"/>
          <p:nvPr/>
        </p:nvSpPr>
        <p:spPr>
          <a:xfrm>
            <a:off x="7870189" y="4115270"/>
            <a:ext cx="2123555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建模业务流程或操作步骤的工作流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业务流程建模</a:t>
            </a:r>
          </a:p>
        </p:txBody>
      </p:sp>
      <p:sp>
        <p:nvSpPr>
          <p:cNvPr id="5" name="圆: 空心 4">
            <a:extLst>
              <a:ext uri="{FF2B5EF4-FFF2-40B4-BE49-F238E27FC236}">
                <a16:creationId xmlns:a16="http://schemas.microsoft.com/office/drawing/2014/main" id="{DC5F0664-EFAF-BDAE-2F91-CA8F6EF43C27}"/>
              </a:ext>
            </a:extLst>
          </p:cNvPr>
          <p:cNvSpPr/>
          <p:nvPr/>
        </p:nvSpPr>
        <p:spPr>
          <a:xfrm>
            <a:off x="2341775" y="4110220"/>
            <a:ext cx="175878" cy="187848"/>
          </a:xfrm>
          <a:prstGeom prst="donu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rgbClr val="953735"/>
              </a:solidFill>
            </a:endParaRPr>
          </a:p>
        </p:txBody>
      </p:sp>
      <p:sp>
        <p:nvSpPr>
          <p:cNvPr id="6" name="圆: 空心 5">
            <a:extLst>
              <a:ext uri="{FF2B5EF4-FFF2-40B4-BE49-F238E27FC236}">
                <a16:creationId xmlns:a16="http://schemas.microsoft.com/office/drawing/2014/main" id="{ACA04DA9-6091-C3F8-B525-3DCEED03EBEF}"/>
              </a:ext>
            </a:extLst>
          </p:cNvPr>
          <p:cNvSpPr/>
          <p:nvPr/>
        </p:nvSpPr>
        <p:spPr>
          <a:xfrm>
            <a:off x="2711600" y="4730445"/>
            <a:ext cx="175878" cy="187848"/>
          </a:xfrm>
          <a:prstGeom prst="donu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rgbClr val="953735"/>
              </a:solidFill>
            </a:endParaRPr>
          </a:p>
        </p:txBody>
      </p:sp>
      <p:sp>
        <p:nvSpPr>
          <p:cNvPr id="20" name="圆: 空心 19">
            <a:extLst>
              <a:ext uri="{FF2B5EF4-FFF2-40B4-BE49-F238E27FC236}">
                <a16:creationId xmlns:a16="http://schemas.microsoft.com/office/drawing/2014/main" id="{9A0D3441-4016-12B0-0E8E-2B0790BDEBBE}"/>
              </a:ext>
            </a:extLst>
          </p:cNvPr>
          <p:cNvSpPr/>
          <p:nvPr/>
        </p:nvSpPr>
        <p:spPr>
          <a:xfrm>
            <a:off x="8159608" y="4918293"/>
            <a:ext cx="175878" cy="187848"/>
          </a:xfrm>
          <a:prstGeom prst="donu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rgbClr val="953735"/>
              </a:solidFill>
            </a:endParaRPr>
          </a:p>
        </p:txBody>
      </p:sp>
      <p:sp>
        <p:nvSpPr>
          <p:cNvPr id="21" name="圆: 空心 20">
            <a:extLst>
              <a:ext uri="{FF2B5EF4-FFF2-40B4-BE49-F238E27FC236}">
                <a16:creationId xmlns:a16="http://schemas.microsoft.com/office/drawing/2014/main" id="{E10EC43B-FA78-58A4-099A-D6FBB91B7088}"/>
              </a:ext>
            </a:extLst>
          </p:cNvPr>
          <p:cNvSpPr/>
          <p:nvPr/>
        </p:nvSpPr>
        <p:spPr>
          <a:xfrm>
            <a:off x="7796277" y="4262620"/>
            <a:ext cx="175878" cy="187848"/>
          </a:xfrm>
          <a:prstGeom prst="donu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rgbClr val="953735"/>
              </a:solidFill>
            </a:endParaRPr>
          </a:p>
        </p:txBody>
      </p:sp>
      <p:sp>
        <p:nvSpPr>
          <p:cNvPr id="22" name="圆: 空心 21">
            <a:extLst>
              <a:ext uri="{FF2B5EF4-FFF2-40B4-BE49-F238E27FC236}">
                <a16:creationId xmlns:a16="http://schemas.microsoft.com/office/drawing/2014/main" id="{61AC957D-656E-E19A-C293-682F8AC74C06}"/>
              </a:ext>
            </a:extLst>
          </p:cNvPr>
          <p:cNvSpPr/>
          <p:nvPr/>
        </p:nvSpPr>
        <p:spPr>
          <a:xfrm>
            <a:off x="5059919" y="4904261"/>
            <a:ext cx="175878" cy="187848"/>
          </a:xfrm>
          <a:prstGeom prst="donut">
            <a:avLst/>
          </a:prstGeom>
          <a:solidFill>
            <a:schemeClr val="bg1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rgbClr val="953735"/>
              </a:solidFill>
            </a:endParaRPr>
          </a:p>
        </p:txBody>
      </p:sp>
      <p:sp>
        <p:nvSpPr>
          <p:cNvPr id="23" name="圆: 空心 22">
            <a:extLst>
              <a:ext uri="{FF2B5EF4-FFF2-40B4-BE49-F238E27FC236}">
                <a16:creationId xmlns:a16="http://schemas.microsoft.com/office/drawing/2014/main" id="{69482408-0F35-BA4D-8EC5-72FDC1EC7BEF}"/>
              </a:ext>
            </a:extLst>
          </p:cNvPr>
          <p:cNvSpPr/>
          <p:nvPr/>
        </p:nvSpPr>
        <p:spPr>
          <a:xfrm>
            <a:off x="4919750" y="4262620"/>
            <a:ext cx="175878" cy="187848"/>
          </a:xfrm>
          <a:prstGeom prst="donut">
            <a:avLst/>
          </a:prstGeom>
          <a:solidFill>
            <a:schemeClr val="bg1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rgbClr val="953735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9" grpId="0"/>
      <p:bldP spid="2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B5139-C212-DB2A-2A96-0A896A937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îṩļïḋè">
            <a:extLst>
              <a:ext uri="{FF2B5EF4-FFF2-40B4-BE49-F238E27FC236}">
                <a16:creationId xmlns:a16="http://schemas.microsoft.com/office/drawing/2014/main" id="{4CC58750-2C85-6086-58DB-80BB79EB69E3}"/>
              </a:ext>
            </a:extLst>
          </p:cNvPr>
          <p:cNvSpPr/>
          <p:nvPr/>
        </p:nvSpPr>
        <p:spPr>
          <a:xfrm>
            <a:off x="1540666" y="1554045"/>
            <a:ext cx="1926302" cy="3505497"/>
          </a:xfrm>
          <a:prstGeom prst="rect">
            <a:avLst/>
          </a:prstGeom>
          <a:noFill/>
          <a:ln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îŝ1ïdè">
            <a:extLst>
              <a:ext uri="{FF2B5EF4-FFF2-40B4-BE49-F238E27FC236}">
                <a16:creationId xmlns:a16="http://schemas.microsoft.com/office/drawing/2014/main" id="{A807F2BF-717B-1856-AB37-7E6BB44DE40E}"/>
              </a:ext>
            </a:extLst>
          </p:cNvPr>
          <p:cNvSpPr/>
          <p:nvPr/>
        </p:nvSpPr>
        <p:spPr>
          <a:xfrm>
            <a:off x="926327" y="3743076"/>
            <a:ext cx="3154981" cy="1867571"/>
          </a:xfrm>
          <a:prstGeom prst="rect">
            <a:avLst/>
          </a:prstGeom>
          <a:blipFill>
            <a:blip r:embed="rId3"/>
            <a:stretch>
              <a:fillRect t="-2664" b="-2637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DB7DB80-C05A-4FB3-773E-BEDFA7BC66C2}"/>
              </a:ext>
            </a:extLst>
          </p:cNvPr>
          <p:cNvGrpSpPr/>
          <p:nvPr/>
        </p:nvGrpSpPr>
        <p:grpSpPr>
          <a:xfrm>
            <a:off x="109025" y="101114"/>
            <a:ext cx="3941706" cy="1283713"/>
            <a:chOff x="-8108" y="29690"/>
            <a:chExt cx="3941706" cy="1283713"/>
          </a:xfrm>
        </p:grpSpPr>
        <p:sp>
          <p:nvSpPr>
            <p:cNvPr id="7" name="iṩļïḓè">
              <a:extLst>
                <a:ext uri="{FF2B5EF4-FFF2-40B4-BE49-F238E27FC236}">
                  <a16:creationId xmlns:a16="http://schemas.microsoft.com/office/drawing/2014/main" id="{37594DA7-80C1-0C51-E694-7FFEA69D8B86}"/>
                </a:ext>
              </a:extLst>
            </p:cNvPr>
            <p:cNvSpPr txBox="1"/>
            <p:nvPr/>
          </p:nvSpPr>
          <p:spPr bwMode="auto">
            <a:xfrm>
              <a:off x="638555" y="458848"/>
              <a:ext cx="2563053" cy="487452"/>
            </a:xfrm>
            <a:prstGeom prst="rect">
              <a:avLst/>
            </a:prstGeom>
            <a:solidFill>
              <a:srgbClr val="E9939A"/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0" hangingPunct="0"/>
              <a:r>
                <a:rPr lang="zh-CN" altLang="en-US" sz="20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本节课三种图的定位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1385004-A55F-48D5-A90C-9E2D502DA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5013422">
              <a:off x="391467" y="-369885"/>
              <a:ext cx="736994" cy="1536144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8AA023A9-3FB9-00A7-EDDC-8FA227DB7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16046210">
              <a:off x="2876695" y="256499"/>
              <a:ext cx="685336" cy="1428471"/>
            </a:xfrm>
            <a:prstGeom prst="rect">
              <a:avLst/>
            </a:prstGeom>
          </p:spPr>
        </p:pic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44D3A5CE-E507-0616-EF41-AFDFA46AFF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 rot="311904">
            <a:off x="1629088" y="1870779"/>
            <a:ext cx="1749458" cy="3646462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8B8D42D0-4126-E80C-1FC2-8C4CEF53D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727070"/>
              </p:ext>
            </p:extLst>
          </p:nvPr>
        </p:nvGraphicFramePr>
        <p:xfrm>
          <a:off x="3090993" y="2287784"/>
          <a:ext cx="8717872" cy="25184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433123384"/>
                    </a:ext>
                  </a:extLst>
                </a:gridCol>
                <a:gridCol w="3964858">
                  <a:extLst>
                    <a:ext uri="{9D8B030D-6E8A-4147-A177-3AD203B41FA5}">
                      <a16:colId xmlns:a16="http://schemas.microsoft.com/office/drawing/2014/main" val="4014762718"/>
                    </a:ext>
                  </a:extLst>
                </a:gridCol>
                <a:gridCol w="2924214">
                  <a:extLst>
                    <a:ext uri="{9D8B030D-6E8A-4147-A177-3AD203B41FA5}">
                      <a16:colId xmlns:a16="http://schemas.microsoft.com/office/drawing/2014/main" val="2983510067"/>
                    </a:ext>
                  </a:extLst>
                </a:gridCol>
              </a:tblGrid>
              <a:tr h="61249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effectLst/>
                        </a:rPr>
                        <a:t>图类型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effectLst/>
                        </a:rPr>
                        <a:t> 核心问题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effectLst/>
                        </a:rPr>
                        <a:t> 一句话定位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724326936"/>
                  </a:ext>
                </a:extLst>
              </a:tr>
              <a:tr h="63532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对象图</a:t>
                      </a:r>
                      <a:endParaRPr lang="zh-CN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此刻的对象状态是什么？</a:t>
                      </a:r>
                      <a:endParaRPr lang="zh-CN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运行时快照</a:t>
                      </a:r>
                      <a:endParaRPr lang="zh-CN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174639979"/>
                  </a:ext>
                </a:extLst>
              </a:tr>
              <a:tr h="63532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构件图</a:t>
                      </a:r>
                      <a:endParaRPr lang="zh-CN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代码如何打包部署？</a:t>
                      </a:r>
                      <a:endParaRPr lang="zh-CN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物理实现单元</a:t>
                      </a:r>
                      <a:endParaRPr lang="zh-CN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211126914"/>
                  </a:ext>
                </a:extLst>
              </a:tr>
              <a:tr h="63532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包图</a:t>
                      </a:r>
                      <a:endParaRPr lang="zh-CN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逻辑结构如何组织管理？</a:t>
                      </a:r>
                      <a:endParaRPr lang="zh-CN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 文件夹式分组</a:t>
                      </a:r>
                      <a:endParaRPr lang="zh-CN" altLang="en-US" sz="20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1033517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66258663"/>
      </p:ext>
    </p:extLst>
  </p:cSld>
  <p:clrMapOvr>
    <a:masterClrMapping/>
  </p:clrMapOvr>
  <p:transition spd="slow" advClick="0" advTm="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ļíḑè"/>
          <p:cNvSpPr/>
          <p:nvPr/>
        </p:nvSpPr>
        <p:spPr>
          <a:xfrm>
            <a:off x="1061155" y="189308"/>
            <a:ext cx="2427112" cy="3186289"/>
          </a:xfrm>
          <a:prstGeom prst="rect">
            <a:avLst/>
          </a:prstGeom>
          <a:blipFill>
            <a:blip r:embed="rId3"/>
            <a:stretch>
              <a:fillRect t="-7158" b="-7102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îsľíḋê"/>
          <p:cNvSpPr/>
          <p:nvPr/>
        </p:nvSpPr>
        <p:spPr>
          <a:xfrm>
            <a:off x="1061155" y="3482400"/>
            <a:ext cx="2427112" cy="3186289"/>
          </a:xfrm>
          <a:prstGeom prst="rect">
            <a:avLst/>
          </a:prstGeom>
          <a:blipFill>
            <a:blip r:embed="rId4"/>
            <a:stretch>
              <a:fillRect l="-81704" r="-80854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islîḑè"/>
          <p:cNvSpPr/>
          <p:nvPr/>
        </p:nvSpPr>
        <p:spPr>
          <a:xfrm>
            <a:off x="838199" y="1545759"/>
            <a:ext cx="445912" cy="3873281"/>
          </a:xfrm>
          <a:prstGeom prst="rect">
            <a:avLst/>
          </a:pr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5049877" y="468785"/>
            <a:ext cx="5081910" cy="1776854"/>
            <a:chOff x="-227605" y="36841"/>
            <a:chExt cx="4380419" cy="1314525"/>
          </a:xfrm>
        </p:grpSpPr>
        <p:sp>
          <p:nvSpPr>
            <p:cNvPr id="7" name="iṩļïḓè"/>
            <p:cNvSpPr txBox="1"/>
            <p:nvPr/>
          </p:nvSpPr>
          <p:spPr bwMode="auto">
            <a:xfrm>
              <a:off x="415604" y="409465"/>
              <a:ext cx="3068886" cy="630561"/>
            </a:xfrm>
            <a:prstGeom prst="rect">
              <a:avLst/>
            </a:prstGeom>
            <a:solidFill>
              <a:srgbClr val="E9939A"/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dist"/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三种图与类图的关系</a:t>
              </a: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5013422">
              <a:off x="171970" y="-362734"/>
              <a:ext cx="736994" cy="1536144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16046210">
              <a:off x="3095911" y="294462"/>
              <a:ext cx="685336" cy="1428471"/>
            </a:xfrm>
            <a:prstGeom prst="rect">
              <a:avLst/>
            </a:prstGeom>
          </p:spPr>
        </p:pic>
      </p:grpSp>
      <p:sp>
        <p:nvSpPr>
          <p:cNvPr id="23" name="文本框 22"/>
          <p:cNvSpPr txBox="1"/>
          <p:nvPr/>
        </p:nvSpPr>
        <p:spPr>
          <a:xfrm>
            <a:off x="5536150" y="2662758"/>
            <a:ext cx="2515481" cy="1027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单击此处添加文本，并调整颜色以及大小。单击此处添加文本。单击此处添加文本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8454674" y="2662758"/>
            <a:ext cx="2515481" cy="1027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单击此处添加文本，并调整颜色以及大小。单击此处添加文本。单击此处添加文本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5536150" y="4248490"/>
            <a:ext cx="2515481" cy="1027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单击此处添加文本，并调整颜色以及大小。单击此处添加文本。单击此处添加文本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8454674" y="4248490"/>
            <a:ext cx="2515481" cy="1027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单击此处添加文本，并调整颜色以及大小。单击此处添加文本。单击此处添加文本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CA53743-BA90-4C2A-5422-A204C81A27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9905" y="2198164"/>
            <a:ext cx="6758511" cy="3526621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4966907" y="2384598"/>
            <a:ext cx="587053" cy="592023"/>
            <a:chOff x="5960096" y="4639733"/>
            <a:chExt cx="1235037" cy="1174249"/>
          </a:xfrm>
        </p:grpSpPr>
        <p:sp>
          <p:nvSpPr>
            <p:cNvPr id="2" name="ísḻïḋè"/>
            <p:cNvSpPr/>
            <p:nvPr/>
          </p:nvSpPr>
          <p:spPr>
            <a:xfrm>
              <a:off x="5960096" y="4639733"/>
              <a:ext cx="1235037" cy="1174249"/>
            </a:xfrm>
            <a:prstGeom prst="rect">
              <a:avLst/>
            </a:prstGeom>
            <a:solidFill>
              <a:srgbClr val="E993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ïşļîḑê"/>
            <p:cNvSpPr/>
            <p:nvPr/>
          </p:nvSpPr>
          <p:spPr>
            <a:xfrm>
              <a:off x="6408841" y="5001826"/>
              <a:ext cx="337547" cy="450062"/>
            </a:xfrm>
            <a:custGeom>
              <a:avLst/>
              <a:gdLst>
                <a:gd name="connsiteX0" fmla="*/ 296523 w 400050"/>
                <a:gd name="connsiteY0" fmla="*/ 621 h 533400"/>
                <a:gd name="connsiteX1" fmla="*/ 296523 w 400050"/>
                <a:gd name="connsiteY1" fmla="*/ 38721 h 533400"/>
                <a:gd name="connsiteX2" fmla="*/ 401298 w 400050"/>
                <a:gd name="connsiteY2" fmla="*/ 38721 h 533400"/>
                <a:gd name="connsiteX3" fmla="*/ 401298 w 400050"/>
                <a:gd name="connsiteY3" fmla="*/ 534021 h 533400"/>
                <a:gd name="connsiteX4" fmla="*/ 1248 w 400050"/>
                <a:gd name="connsiteY4" fmla="*/ 534021 h 533400"/>
                <a:gd name="connsiteX5" fmla="*/ 1248 w 400050"/>
                <a:gd name="connsiteY5" fmla="*/ 38721 h 533400"/>
                <a:gd name="connsiteX6" fmla="*/ 106023 w 400050"/>
                <a:gd name="connsiteY6" fmla="*/ 38721 h 533400"/>
                <a:gd name="connsiteX7" fmla="*/ 106023 w 400050"/>
                <a:gd name="connsiteY7" fmla="*/ 621 h 533400"/>
                <a:gd name="connsiteX8" fmla="*/ 296523 w 400050"/>
                <a:gd name="connsiteY8" fmla="*/ 621 h 533400"/>
                <a:gd name="connsiteX9" fmla="*/ 106023 w 400050"/>
                <a:gd name="connsiteY9" fmla="*/ 57771 h 533400"/>
                <a:gd name="connsiteX10" fmla="*/ 20298 w 400050"/>
                <a:gd name="connsiteY10" fmla="*/ 57771 h 533400"/>
                <a:gd name="connsiteX11" fmla="*/ 20298 w 400050"/>
                <a:gd name="connsiteY11" fmla="*/ 514971 h 533400"/>
                <a:gd name="connsiteX12" fmla="*/ 382248 w 400050"/>
                <a:gd name="connsiteY12" fmla="*/ 514971 h 533400"/>
                <a:gd name="connsiteX13" fmla="*/ 382248 w 400050"/>
                <a:gd name="connsiteY13" fmla="*/ 57771 h 533400"/>
                <a:gd name="connsiteX14" fmla="*/ 296523 w 400050"/>
                <a:gd name="connsiteY14" fmla="*/ 57771 h 533400"/>
                <a:gd name="connsiteX15" fmla="*/ 296523 w 400050"/>
                <a:gd name="connsiteY15" fmla="*/ 95871 h 533400"/>
                <a:gd name="connsiteX16" fmla="*/ 106023 w 400050"/>
                <a:gd name="connsiteY16" fmla="*/ 95871 h 533400"/>
                <a:gd name="connsiteX17" fmla="*/ 106023 w 400050"/>
                <a:gd name="connsiteY17" fmla="*/ 57771 h 533400"/>
                <a:gd name="connsiteX18" fmla="*/ 201273 w 400050"/>
                <a:gd name="connsiteY18" fmla="*/ 343521 h 533400"/>
                <a:gd name="connsiteX19" fmla="*/ 201273 w 400050"/>
                <a:gd name="connsiteY19" fmla="*/ 362571 h 533400"/>
                <a:gd name="connsiteX20" fmla="*/ 86973 w 400050"/>
                <a:gd name="connsiteY20" fmla="*/ 362571 h 533400"/>
                <a:gd name="connsiteX21" fmla="*/ 86973 w 400050"/>
                <a:gd name="connsiteY21" fmla="*/ 343521 h 533400"/>
                <a:gd name="connsiteX22" fmla="*/ 201273 w 400050"/>
                <a:gd name="connsiteY22" fmla="*/ 343521 h 533400"/>
                <a:gd name="connsiteX23" fmla="*/ 315573 w 400050"/>
                <a:gd name="connsiteY23" fmla="*/ 267321 h 533400"/>
                <a:gd name="connsiteX24" fmla="*/ 315573 w 400050"/>
                <a:gd name="connsiteY24" fmla="*/ 286371 h 533400"/>
                <a:gd name="connsiteX25" fmla="*/ 86973 w 400050"/>
                <a:gd name="connsiteY25" fmla="*/ 286371 h 533400"/>
                <a:gd name="connsiteX26" fmla="*/ 86973 w 400050"/>
                <a:gd name="connsiteY26" fmla="*/ 267321 h 533400"/>
                <a:gd name="connsiteX27" fmla="*/ 315573 w 400050"/>
                <a:gd name="connsiteY27" fmla="*/ 267321 h 533400"/>
                <a:gd name="connsiteX28" fmla="*/ 315573 w 400050"/>
                <a:gd name="connsiteY28" fmla="*/ 191121 h 533400"/>
                <a:gd name="connsiteX29" fmla="*/ 315573 w 400050"/>
                <a:gd name="connsiteY29" fmla="*/ 210171 h 533400"/>
                <a:gd name="connsiteX30" fmla="*/ 86973 w 400050"/>
                <a:gd name="connsiteY30" fmla="*/ 210171 h 533400"/>
                <a:gd name="connsiteX31" fmla="*/ 86973 w 400050"/>
                <a:gd name="connsiteY31" fmla="*/ 191121 h 533400"/>
                <a:gd name="connsiteX32" fmla="*/ 315573 w 400050"/>
                <a:gd name="connsiteY32" fmla="*/ 191121 h 533400"/>
                <a:gd name="connsiteX33" fmla="*/ 277473 w 400050"/>
                <a:gd name="connsiteY33" fmla="*/ 19671 h 533400"/>
                <a:gd name="connsiteX34" fmla="*/ 125073 w 400050"/>
                <a:gd name="connsiteY34" fmla="*/ 19671 h 533400"/>
                <a:gd name="connsiteX35" fmla="*/ 125073 w 400050"/>
                <a:gd name="connsiteY35" fmla="*/ 76821 h 533400"/>
                <a:gd name="connsiteX36" fmla="*/ 277473 w 400050"/>
                <a:gd name="connsiteY36" fmla="*/ 76821 h 533400"/>
                <a:gd name="connsiteX37" fmla="*/ 277473 w 400050"/>
                <a:gd name="connsiteY37" fmla="*/ 19671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00050" h="533400">
                  <a:moveTo>
                    <a:pt x="296523" y="621"/>
                  </a:moveTo>
                  <a:lnTo>
                    <a:pt x="296523" y="38721"/>
                  </a:lnTo>
                  <a:lnTo>
                    <a:pt x="401298" y="38721"/>
                  </a:lnTo>
                  <a:lnTo>
                    <a:pt x="401298" y="534021"/>
                  </a:lnTo>
                  <a:lnTo>
                    <a:pt x="1248" y="534021"/>
                  </a:lnTo>
                  <a:lnTo>
                    <a:pt x="1248" y="38721"/>
                  </a:lnTo>
                  <a:lnTo>
                    <a:pt x="106023" y="38721"/>
                  </a:lnTo>
                  <a:lnTo>
                    <a:pt x="106023" y="621"/>
                  </a:lnTo>
                  <a:lnTo>
                    <a:pt x="296523" y="621"/>
                  </a:lnTo>
                  <a:close/>
                  <a:moveTo>
                    <a:pt x="106023" y="57771"/>
                  </a:moveTo>
                  <a:lnTo>
                    <a:pt x="20298" y="57771"/>
                  </a:lnTo>
                  <a:lnTo>
                    <a:pt x="20298" y="514971"/>
                  </a:lnTo>
                  <a:lnTo>
                    <a:pt x="382248" y="514971"/>
                  </a:lnTo>
                  <a:lnTo>
                    <a:pt x="382248" y="57771"/>
                  </a:lnTo>
                  <a:lnTo>
                    <a:pt x="296523" y="57771"/>
                  </a:lnTo>
                  <a:lnTo>
                    <a:pt x="296523" y="95871"/>
                  </a:lnTo>
                  <a:lnTo>
                    <a:pt x="106023" y="95871"/>
                  </a:lnTo>
                  <a:lnTo>
                    <a:pt x="106023" y="57771"/>
                  </a:lnTo>
                  <a:close/>
                  <a:moveTo>
                    <a:pt x="201273" y="343521"/>
                  </a:moveTo>
                  <a:lnTo>
                    <a:pt x="201273" y="362571"/>
                  </a:lnTo>
                  <a:lnTo>
                    <a:pt x="86973" y="362571"/>
                  </a:lnTo>
                  <a:lnTo>
                    <a:pt x="86973" y="343521"/>
                  </a:lnTo>
                  <a:lnTo>
                    <a:pt x="201273" y="343521"/>
                  </a:lnTo>
                  <a:close/>
                  <a:moveTo>
                    <a:pt x="315573" y="267321"/>
                  </a:moveTo>
                  <a:lnTo>
                    <a:pt x="315573" y="286371"/>
                  </a:lnTo>
                  <a:lnTo>
                    <a:pt x="86973" y="286371"/>
                  </a:lnTo>
                  <a:lnTo>
                    <a:pt x="86973" y="267321"/>
                  </a:lnTo>
                  <a:lnTo>
                    <a:pt x="315573" y="267321"/>
                  </a:lnTo>
                  <a:close/>
                  <a:moveTo>
                    <a:pt x="315573" y="191121"/>
                  </a:moveTo>
                  <a:lnTo>
                    <a:pt x="315573" y="210171"/>
                  </a:lnTo>
                  <a:lnTo>
                    <a:pt x="86973" y="210171"/>
                  </a:lnTo>
                  <a:lnTo>
                    <a:pt x="86973" y="191121"/>
                  </a:lnTo>
                  <a:lnTo>
                    <a:pt x="315573" y="191121"/>
                  </a:lnTo>
                  <a:close/>
                  <a:moveTo>
                    <a:pt x="277473" y="19671"/>
                  </a:moveTo>
                  <a:lnTo>
                    <a:pt x="125073" y="19671"/>
                  </a:lnTo>
                  <a:lnTo>
                    <a:pt x="125073" y="76821"/>
                  </a:lnTo>
                  <a:lnTo>
                    <a:pt x="277473" y="76821"/>
                  </a:lnTo>
                  <a:lnTo>
                    <a:pt x="277473" y="1967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966907" y="3369451"/>
            <a:ext cx="587053" cy="592023"/>
            <a:chOff x="5960096" y="4639733"/>
            <a:chExt cx="1235037" cy="1174249"/>
          </a:xfrm>
        </p:grpSpPr>
        <p:sp>
          <p:nvSpPr>
            <p:cNvPr id="26" name="ísḻïḋè"/>
            <p:cNvSpPr/>
            <p:nvPr/>
          </p:nvSpPr>
          <p:spPr>
            <a:xfrm>
              <a:off x="5960096" y="4639733"/>
              <a:ext cx="1235037" cy="1174249"/>
            </a:xfrm>
            <a:prstGeom prst="rect">
              <a:avLst/>
            </a:prstGeom>
            <a:solidFill>
              <a:srgbClr val="E993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ïşļîḑê"/>
            <p:cNvSpPr/>
            <p:nvPr/>
          </p:nvSpPr>
          <p:spPr>
            <a:xfrm>
              <a:off x="6408841" y="5001826"/>
              <a:ext cx="337547" cy="450062"/>
            </a:xfrm>
            <a:custGeom>
              <a:avLst/>
              <a:gdLst>
                <a:gd name="connsiteX0" fmla="*/ 296523 w 400050"/>
                <a:gd name="connsiteY0" fmla="*/ 621 h 533400"/>
                <a:gd name="connsiteX1" fmla="*/ 296523 w 400050"/>
                <a:gd name="connsiteY1" fmla="*/ 38721 h 533400"/>
                <a:gd name="connsiteX2" fmla="*/ 401298 w 400050"/>
                <a:gd name="connsiteY2" fmla="*/ 38721 h 533400"/>
                <a:gd name="connsiteX3" fmla="*/ 401298 w 400050"/>
                <a:gd name="connsiteY3" fmla="*/ 534021 h 533400"/>
                <a:gd name="connsiteX4" fmla="*/ 1248 w 400050"/>
                <a:gd name="connsiteY4" fmla="*/ 534021 h 533400"/>
                <a:gd name="connsiteX5" fmla="*/ 1248 w 400050"/>
                <a:gd name="connsiteY5" fmla="*/ 38721 h 533400"/>
                <a:gd name="connsiteX6" fmla="*/ 106023 w 400050"/>
                <a:gd name="connsiteY6" fmla="*/ 38721 h 533400"/>
                <a:gd name="connsiteX7" fmla="*/ 106023 w 400050"/>
                <a:gd name="connsiteY7" fmla="*/ 621 h 533400"/>
                <a:gd name="connsiteX8" fmla="*/ 296523 w 400050"/>
                <a:gd name="connsiteY8" fmla="*/ 621 h 533400"/>
                <a:gd name="connsiteX9" fmla="*/ 106023 w 400050"/>
                <a:gd name="connsiteY9" fmla="*/ 57771 h 533400"/>
                <a:gd name="connsiteX10" fmla="*/ 20298 w 400050"/>
                <a:gd name="connsiteY10" fmla="*/ 57771 h 533400"/>
                <a:gd name="connsiteX11" fmla="*/ 20298 w 400050"/>
                <a:gd name="connsiteY11" fmla="*/ 514971 h 533400"/>
                <a:gd name="connsiteX12" fmla="*/ 382248 w 400050"/>
                <a:gd name="connsiteY12" fmla="*/ 514971 h 533400"/>
                <a:gd name="connsiteX13" fmla="*/ 382248 w 400050"/>
                <a:gd name="connsiteY13" fmla="*/ 57771 h 533400"/>
                <a:gd name="connsiteX14" fmla="*/ 296523 w 400050"/>
                <a:gd name="connsiteY14" fmla="*/ 57771 h 533400"/>
                <a:gd name="connsiteX15" fmla="*/ 296523 w 400050"/>
                <a:gd name="connsiteY15" fmla="*/ 95871 h 533400"/>
                <a:gd name="connsiteX16" fmla="*/ 106023 w 400050"/>
                <a:gd name="connsiteY16" fmla="*/ 95871 h 533400"/>
                <a:gd name="connsiteX17" fmla="*/ 106023 w 400050"/>
                <a:gd name="connsiteY17" fmla="*/ 57771 h 533400"/>
                <a:gd name="connsiteX18" fmla="*/ 201273 w 400050"/>
                <a:gd name="connsiteY18" fmla="*/ 343521 h 533400"/>
                <a:gd name="connsiteX19" fmla="*/ 201273 w 400050"/>
                <a:gd name="connsiteY19" fmla="*/ 362571 h 533400"/>
                <a:gd name="connsiteX20" fmla="*/ 86973 w 400050"/>
                <a:gd name="connsiteY20" fmla="*/ 362571 h 533400"/>
                <a:gd name="connsiteX21" fmla="*/ 86973 w 400050"/>
                <a:gd name="connsiteY21" fmla="*/ 343521 h 533400"/>
                <a:gd name="connsiteX22" fmla="*/ 201273 w 400050"/>
                <a:gd name="connsiteY22" fmla="*/ 343521 h 533400"/>
                <a:gd name="connsiteX23" fmla="*/ 315573 w 400050"/>
                <a:gd name="connsiteY23" fmla="*/ 267321 h 533400"/>
                <a:gd name="connsiteX24" fmla="*/ 315573 w 400050"/>
                <a:gd name="connsiteY24" fmla="*/ 286371 h 533400"/>
                <a:gd name="connsiteX25" fmla="*/ 86973 w 400050"/>
                <a:gd name="connsiteY25" fmla="*/ 286371 h 533400"/>
                <a:gd name="connsiteX26" fmla="*/ 86973 w 400050"/>
                <a:gd name="connsiteY26" fmla="*/ 267321 h 533400"/>
                <a:gd name="connsiteX27" fmla="*/ 315573 w 400050"/>
                <a:gd name="connsiteY27" fmla="*/ 267321 h 533400"/>
                <a:gd name="connsiteX28" fmla="*/ 315573 w 400050"/>
                <a:gd name="connsiteY28" fmla="*/ 191121 h 533400"/>
                <a:gd name="connsiteX29" fmla="*/ 315573 w 400050"/>
                <a:gd name="connsiteY29" fmla="*/ 210171 h 533400"/>
                <a:gd name="connsiteX30" fmla="*/ 86973 w 400050"/>
                <a:gd name="connsiteY30" fmla="*/ 210171 h 533400"/>
                <a:gd name="connsiteX31" fmla="*/ 86973 w 400050"/>
                <a:gd name="connsiteY31" fmla="*/ 191121 h 533400"/>
                <a:gd name="connsiteX32" fmla="*/ 315573 w 400050"/>
                <a:gd name="connsiteY32" fmla="*/ 191121 h 533400"/>
                <a:gd name="connsiteX33" fmla="*/ 277473 w 400050"/>
                <a:gd name="connsiteY33" fmla="*/ 19671 h 533400"/>
                <a:gd name="connsiteX34" fmla="*/ 125073 w 400050"/>
                <a:gd name="connsiteY34" fmla="*/ 19671 h 533400"/>
                <a:gd name="connsiteX35" fmla="*/ 125073 w 400050"/>
                <a:gd name="connsiteY35" fmla="*/ 76821 h 533400"/>
                <a:gd name="connsiteX36" fmla="*/ 277473 w 400050"/>
                <a:gd name="connsiteY36" fmla="*/ 76821 h 533400"/>
                <a:gd name="connsiteX37" fmla="*/ 277473 w 400050"/>
                <a:gd name="connsiteY37" fmla="*/ 19671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00050" h="533400">
                  <a:moveTo>
                    <a:pt x="296523" y="621"/>
                  </a:moveTo>
                  <a:lnTo>
                    <a:pt x="296523" y="38721"/>
                  </a:lnTo>
                  <a:lnTo>
                    <a:pt x="401298" y="38721"/>
                  </a:lnTo>
                  <a:lnTo>
                    <a:pt x="401298" y="534021"/>
                  </a:lnTo>
                  <a:lnTo>
                    <a:pt x="1248" y="534021"/>
                  </a:lnTo>
                  <a:lnTo>
                    <a:pt x="1248" y="38721"/>
                  </a:lnTo>
                  <a:lnTo>
                    <a:pt x="106023" y="38721"/>
                  </a:lnTo>
                  <a:lnTo>
                    <a:pt x="106023" y="621"/>
                  </a:lnTo>
                  <a:lnTo>
                    <a:pt x="296523" y="621"/>
                  </a:lnTo>
                  <a:close/>
                  <a:moveTo>
                    <a:pt x="106023" y="57771"/>
                  </a:moveTo>
                  <a:lnTo>
                    <a:pt x="20298" y="57771"/>
                  </a:lnTo>
                  <a:lnTo>
                    <a:pt x="20298" y="514971"/>
                  </a:lnTo>
                  <a:lnTo>
                    <a:pt x="382248" y="514971"/>
                  </a:lnTo>
                  <a:lnTo>
                    <a:pt x="382248" y="57771"/>
                  </a:lnTo>
                  <a:lnTo>
                    <a:pt x="296523" y="57771"/>
                  </a:lnTo>
                  <a:lnTo>
                    <a:pt x="296523" y="95871"/>
                  </a:lnTo>
                  <a:lnTo>
                    <a:pt x="106023" y="95871"/>
                  </a:lnTo>
                  <a:lnTo>
                    <a:pt x="106023" y="57771"/>
                  </a:lnTo>
                  <a:close/>
                  <a:moveTo>
                    <a:pt x="201273" y="343521"/>
                  </a:moveTo>
                  <a:lnTo>
                    <a:pt x="201273" y="362571"/>
                  </a:lnTo>
                  <a:lnTo>
                    <a:pt x="86973" y="362571"/>
                  </a:lnTo>
                  <a:lnTo>
                    <a:pt x="86973" y="343521"/>
                  </a:lnTo>
                  <a:lnTo>
                    <a:pt x="201273" y="343521"/>
                  </a:lnTo>
                  <a:close/>
                  <a:moveTo>
                    <a:pt x="315573" y="267321"/>
                  </a:moveTo>
                  <a:lnTo>
                    <a:pt x="315573" y="286371"/>
                  </a:lnTo>
                  <a:lnTo>
                    <a:pt x="86973" y="286371"/>
                  </a:lnTo>
                  <a:lnTo>
                    <a:pt x="86973" y="267321"/>
                  </a:lnTo>
                  <a:lnTo>
                    <a:pt x="315573" y="267321"/>
                  </a:lnTo>
                  <a:close/>
                  <a:moveTo>
                    <a:pt x="315573" y="191121"/>
                  </a:moveTo>
                  <a:lnTo>
                    <a:pt x="315573" y="210171"/>
                  </a:lnTo>
                  <a:lnTo>
                    <a:pt x="86973" y="210171"/>
                  </a:lnTo>
                  <a:lnTo>
                    <a:pt x="86973" y="191121"/>
                  </a:lnTo>
                  <a:lnTo>
                    <a:pt x="315573" y="191121"/>
                  </a:lnTo>
                  <a:close/>
                  <a:moveTo>
                    <a:pt x="277473" y="19671"/>
                  </a:moveTo>
                  <a:lnTo>
                    <a:pt x="125073" y="19671"/>
                  </a:lnTo>
                  <a:lnTo>
                    <a:pt x="125073" y="76821"/>
                  </a:lnTo>
                  <a:lnTo>
                    <a:pt x="277473" y="76821"/>
                  </a:lnTo>
                  <a:lnTo>
                    <a:pt x="277473" y="1967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B376924-0FAA-882F-1892-7697029F6B9F}"/>
              </a:ext>
            </a:extLst>
          </p:cNvPr>
          <p:cNvGrpSpPr/>
          <p:nvPr/>
        </p:nvGrpSpPr>
        <p:grpSpPr>
          <a:xfrm>
            <a:off x="4966907" y="4483520"/>
            <a:ext cx="587053" cy="592023"/>
            <a:chOff x="5960096" y="4639733"/>
            <a:chExt cx="1235037" cy="1174249"/>
          </a:xfrm>
        </p:grpSpPr>
        <p:sp>
          <p:nvSpPr>
            <p:cNvPr id="15" name="ísḻïḋè">
              <a:extLst>
                <a:ext uri="{FF2B5EF4-FFF2-40B4-BE49-F238E27FC236}">
                  <a16:creationId xmlns:a16="http://schemas.microsoft.com/office/drawing/2014/main" id="{354F6E70-B7D4-AD45-D66F-24CD106709CF}"/>
                </a:ext>
              </a:extLst>
            </p:cNvPr>
            <p:cNvSpPr/>
            <p:nvPr/>
          </p:nvSpPr>
          <p:spPr>
            <a:xfrm>
              <a:off x="5960096" y="4639733"/>
              <a:ext cx="1235037" cy="1174249"/>
            </a:xfrm>
            <a:prstGeom prst="rect">
              <a:avLst/>
            </a:prstGeom>
            <a:solidFill>
              <a:srgbClr val="E993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ïşļîḑê">
              <a:extLst>
                <a:ext uri="{FF2B5EF4-FFF2-40B4-BE49-F238E27FC236}">
                  <a16:creationId xmlns:a16="http://schemas.microsoft.com/office/drawing/2014/main" id="{1232BBDE-5808-2812-B002-8FE8436326CD}"/>
                </a:ext>
              </a:extLst>
            </p:cNvPr>
            <p:cNvSpPr/>
            <p:nvPr/>
          </p:nvSpPr>
          <p:spPr>
            <a:xfrm>
              <a:off x="6408841" y="5001826"/>
              <a:ext cx="337547" cy="450062"/>
            </a:xfrm>
            <a:custGeom>
              <a:avLst/>
              <a:gdLst>
                <a:gd name="connsiteX0" fmla="*/ 296523 w 400050"/>
                <a:gd name="connsiteY0" fmla="*/ 621 h 533400"/>
                <a:gd name="connsiteX1" fmla="*/ 296523 w 400050"/>
                <a:gd name="connsiteY1" fmla="*/ 38721 h 533400"/>
                <a:gd name="connsiteX2" fmla="*/ 401298 w 400050"/>
                <a:gd name="connsiteY2" fmla="*/ 38721 h 533400"/>
                <a:gd name="connsiteX3" fmla="*/ 401298 w 400050"/>
                <a:gd name="connsiteY3" fmla="*/ 534021 h 533400"/>
                <a:gd name="connsiteX4" fmla="*/ 1248 w 400050"/>
                <a:gd name="connsiteY4" fmla="*/ 534021 h 533400"/>
                <a:gd name="connsiteX5" fmla="*/ 1248 w 400050"/>
                <a:gd name="connsiteY5" fmla="*/ 38721 h 533400"/>
                <a:gd name="connsiteX6" fmla="*/ 106023 w 400050"/>
                <a:gd name="connsiteY6" fmla="*/ 38721 h 533400"/>
                <a:gd name="connsiteX7" fmla="*/ 106023 w 400050"/>
                <a:gd name="connsiteY7" fmla="*/ 621 h 533400"/>
                <a:gd name="connsiteX8" fmla="*/ 296523 w 400050"/>
                <a:gd name="connsiteY8" fmla="*/ 621 h 533400"/>
                <a:gd name="connsiteX9" fmla="*/ 106023 w 400050"/>
                <a:gd name="connsiteY9" fmla="*/ 57771 h 533400"/>
                <a:gd name="connsiteX10" fmla="*/ 20298 w 400050"/>
                <a:gd name="connsiteY10" fmla="*/ 57771 h 533400"/>
                <a:gd name="connsiteX11" fmla="*/ 20298 w 400050"/>
                <a:gd name="connsiteY11" fmla="*/ 514971 h 533400"/>
                <a:gd name="connsiteX12" fmla="*/ 382248 w 400050"/>
                <a:gd name="connsiteY12" fmla="*/ 514971 h 533400"/>
                <a:gd name="connsiteX13" fmla="*/ 382248 w 400050"/>
                <a:gd name="connsiteY13" fmla="*/ 57771 h 533400"/>
                <a:gd name="connsiteX14" fmla="*/ 296523 w 400050"/>
                <a:gd name="connsiteY14" fmla="*/ 57771 h 533400"/>
                <a:gd name="connsiteX15" fmla="*/ 296523 w 400050"/>
                <a:gd name="connsiteY15" fmla="*/ 95871 h 533400"/>
                <a:gd name="connsiteX16" fmla="*/ 106023 w 400050"/>
                <a:gd name="connsiteY16" fmla="*/ 95871 h 533400"/>
                <a:gd name="connsiteX17" fmla="*/ 106023 w 400050"/>
                <a:gd name="connsiteY17" fmla="*/ 57771 h 533400"/>
                <a:gd name="connsiteX18" fmla="*/ 201273 w 400050"/>
                <a:gd name="connsiteY18" fmla="*/ 343521 h 533400"/>
                <a:gd name="connsiteX19" fmla="*/ 201273 w 400050"/>
                <a:gd name="connsiteY19" fmla="*/ 362571 h 533400"/>
                <a:gd name="connsiteX20" fmla="*/ 86973 w 400050"/>
                <a:gd name="connsiteY20" fmla="*/ 362571 h 533400"/>
                <a:gd name="connsiteX21" fmla="*/ 86973 w 400050"/>
                <a:gd name="connsiteY21" fmla="*/ 343521 h 533400"/>
                <a:gd name="connsiteX22" fmla="*/ 201273 w 400050"/>
                <a:gd name="connsiteY22" fmla="*/ 343521 h 533400"/>
                <a:gd name="connsiteX23" fmla="*/ 315573 w 400050"/>
                <a:gd name="connsiteY23" fmla="*/ 267321 h 533400"/>
                <a:gd name="connsiteX24" fmla="*/ 315573 w 400050"/>
                <a:gd name="connsiteY24" fmla="*/ 286371 h 533400"/>
                <a:gd name="connsiteX25" fmla="*/ 86973 w 400050"/>
                <a:gd name="connsiteY25" fmla="*/ 286371 h 533400"/>
                <a:gd name="connsiteX26" fmla="*/ 86973 w 400050"/>
                <a:gd name="connsiteY26" fmla="*/ 267321 h 533400"/>
                <a:gd name="connsiteX27" fmla="*/ 315573 w 400050"/>
                <a:gd name="connsiteY27" fmla="*/ 267321 h 533400"/>
                <a:gd name="connsiteX28" fmla="*/ 315573 w 400050"/>
                <a:gd name="connsiteY28" fmla="*/ 191121 h 533400"/>
                <a:gd name="connsiteX29" fmla="*/ 315573 w 400050"/>
                <a:gd name="connsiteY29" fmla="*/ 210171 h 533400"/>
                <a:gd name="connsiteX30" fmla="*/ 86973 w 400050"/>
                <a:gd name="connsiteY30" fmla="*/ 210171 h 533400"/>
                <a:gd name="connsiteX31" fmla="*/ 86973 w 400050"/>
                <a:gd name="connsiteY31" fmla="*/ 191121 h 533400"/>
                <a:gd name="connsiteX32" fmla="*/ 315573 w 400050"/>
                <a:gd name="connsiteY32" fmla="*/ 191121 h 533400"/>
                <a:gd name="connsiteX33" fmla="*/ 277473 w 400050"/>
                <a:gd name="connsiteY33" fmla="*/ 19671 h 533400"/>
                <a:gd name="connsiteX34" fmla="*/ 125073 w 400050"/>
                <a:gd name="connsiteY34" fmla="*/ 19671 h 533400"/>
                <a:gd name="connsiteX35" fmla="*/ 125073 w 400050"/>
                <a:gd name="connsiteY35" fmla="*/ 76821 h 533400"/>
                <a:gd name="connsiteX36" fmla="*/ 277473 w 400050"/>
                <a:gd name="connsiteY36" fmla="*/ 76821 h 533400"/>
                <a:gd name="connsiteX37" fmla="*/ 277473 w 400050"/>
                <a:gd name="connsiteY37" fmla="*/ 19671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00050" h="533400">
                  <a:moveTo>
                    <a:pt x="296523" y="621"/>
                  </a:moveTo>
                  <a:lnTo>
                    <a:pt x="296523" y="38721"/>
                  </a:lnTo>
                  <a:lnTo>
                    <a:pt x="401298" y="38721"/>
                  </a:lnTo>
                  <a:lnTo>
                    <a:pt x="401298" y="534021"/>
                  </a:lnTo>
                  <a:lnTo>
                    <a:pt x="1248" y="534021"/>
                  </a:lnTo>
                  <a:lnTo>
                    <a:pt x="1248" y="38721"/>
                  </a:lnTo>
                  <a:lnTo>
                    <a:pt x="106023" y="38721"/>
                  </a:lnTo>
                  <a:lnTo>
                    <a:pt x="106023" y="621"/>
                  </a:lnTo>
                  <a:lnTo>
                    <a:pt x="296523" y="621"/>
                  </a:lnTo>
                  <a:close/>
                  <a:moveTo>
                    <a:pt x="106023" y="57771"/>
                  </a:moveTo>
                  <a:lnTo>
                    <a:pt x="20298" y="57771"/>
                  </a:lnTo>
                  <a:lnTo>
                    <a:pt x="20298" y="514971"/>
                  </a:lnTo>
                  <a:lnTo>
                    <a:pt x="382248" y="514971"/>
                  </a:lnTo>
                  <a:lnTo>
                    <a:pt x="382248" y="57771"/>
                  </a:lnTo>
                  <a:lnTo>
                    <a:pt x="296523" y="57771"/>
                  </a:lnTo>
                  <a:lnTo>
                    <a:pt x="296523" y="95871"/>
                  </a:lnTo>
                  <a:lnTo>
                    <a:pt x="106023" y="95871"/>
                  </a:lnTo>
                  <a:lnTo>
                    <a:pt x="106023" y="57771"/>
                  </a:lnTo>
                  <a:close/>
                  <a:moveTo>
                    <a:pt x="201273" y="343521"/>
                  </a:moveTo>
                  <a:lnTo>
                    <a:pt x="201273" y="362571"/>
                  </a:lnTo>
                  <a:lnTo>
                    <a:pt x="86973" y="362571"/>
                  </a:lnTo>
                  <a:lnTo>
                    <a:pt x="86973" y="343521"/>
                  </a:lnTo>
                  <a:lnTo>
                    <a:pt x="201273" y="343521"/>
                  </a:lnTo>
                  <a:close/>
                  <a:moveTo>
                    <a:pt x="315573" y="267321"/>
                  </a:moveTo>
                  <a:lnTo>
                    <a:pt x="315573" y="286371"/>
                  </a:lnTo>
                  <a:lnTo>
                    <a:pt x="86973" y="286371"/>
                  </a:lnTo>
                  <a:lnTo>
                    <a:pt x="86973" y="267321"/>
                  </a:lnTo>
                  <a:lnTo>
                    <a:pt x="315573" y="267321"/>
                  </a:lnTo>
                  <a:close/>
                  <a:moveTo>
                    <a:pt x="315573" y="191121"/>
                  </a:moveTo>
                  <a:lnTo>
                    <a:pt x="315573" y="210171"/>
                  </a:lnTo>
                  <a:lnTo>
                    <a:pt x="86973" y="210171"/>
                  </a:lnTo>
                  <a:lnTo>
                    <a:pt x="86973" y="191121"/>
                  </a:lnTo>
                  <a:lnTo>
                    <a:pt x="315573" y="191121"/>
                  </a:lnTo>
                  <a:close/>
                  <a:moveTo>
                    <a:pt x="277473" y="19671"/>
                  </a:moveTo>
                  <a:lnTo>
                    <a:pt x="125073" y="19671"/>
                  </a:lnTo>
                  <a:lnTo>
                    <a:pt x="125073" y="76821"/>
                  </a:lnTo>
                  <a:lnTo>
                    <a:pt x="277473" y="76821"/>
                  </a:lnTo>
                  <a:lnTo>
                    <a:pt x="277473" y="1967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8" grpId="0"/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1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2263742" y="-2263739"/>
            <a:ext cx="6858000" cy="11385479"/>
          </a:xfrm>
          <a:prstGeom prst="rect">
            <a:avLst/>
          </a:prstGeom>
          <a:ln>
            <a:noFill/>
          </a:ln>
        </p:spPr>
      </p:pic>
      <p:sp>
        <p:nvSpPr>
          <p:cNvPr id="9" name="íş1íďé"/>
          <p:cNvSpPr/>
          <p:nvPr/>
        </p:nvSpPr>
        <p:spPr>
          <a:xfrm>
            <a:off x="4712302" y="1961195"/>
            <a:ext cx="6047138" cy="29356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6400" dist="355600" dir="2880000" sx="92000" sy="92000" algn="ctr" rotWithShape="0">
              <a:srgbClr val="000000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îṣ1iďe"/>
          <p:cNvSpPr/>
          <p:nvPr/>
        </p:nvSpPr>
        <p:spPr>
          <a:xfrm flipH="1">
            <a:off x="5112898" y="3263900"/>
            <a:ext cx="330200" cy="330200"/>
          </a:xfrm>
          <a:prstGeom prst="ellipse">
            <a:avLst/>
          </a:prstGeom>
          <a:solidFill>
            <a:srgbClr val="ECA1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îsliḍe"/>
          <p:cNvSpPr/>
          <p:nvPr/>
        </p:nvSpPr>
        <p:spPr>
          <a:xfrm rot="5400000">
            <a:off x="5232072" y="3391823"/>
            <a:ext cx="115661" cy="7436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î$ḷíḋè"/>
          <p:cNvSpPr/>
          <p:nvPr/>
        </p:nvSpPr>
        <p:spPr>
          <a:xfrm>
            <a:off x="9990298" y="3263900"/>
            <a:ext cx="330200" cy="330200"/>
          </a:xfrm>
          <a:prstGeom prst="ellipse">
            <a:avLst/>
          </a:prstGeom>
          <a:solidFill>
            <a:srgbClr val="ECA1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ïṥḻiḍê"/>
          <p:cNvSpPr/>
          <p:nvPr/>
        </p:nvSpPr>
        <p:spPr>
          <a:xfrm rot="16200000" flipH="1">
            <a:off x="10085663" y="3391823"/>
            <a:ext cx="115661" cy="7436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846195" y="2824662"/>
            <a:ext cx="4034800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6600">
                <a:solidFill>
                  <a:schemeClr val="tx1">
                    <a:lumMod val="50000"/>
                    <a:lumOff val="50000"/>
                  </a:schemeClr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defRPr>
            </a:lvl1pPr>
          </a:lstStyle>
          <a:p>
            <a:r>
              <a:rPr lang="zh-CN" altLang="en-US" dirty="0">
                <a:latin typeface="思源宋体 CN Heavy" pitchFamily="18" charset="-122"/>
                <a:ea typeface="思源宋体 CN Heavy" pitchFamily="18" charset="-122"/>
              </a:rPr>
              <a:t>对象图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7" grpId="0" animBg="1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05F57-8CFB-6200-3CEF-3EF3F1A00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ïŝḷïďè">
            <a:extLst>
              <a:ext uri="{FF2B5EF4-FFF2-40B4-BE49-F238E27FC236}">
                <a16:creationId xmlns:a16="http://schemas.microsoft.com/office/drawing/2014/main" id="{72173418-D8A9-13F3-1AE2-322B954FFA91}"/>
              </a:ext>
            </a:extLst>
          </p:cNvPr>
          <p:cNvSpPr/>
          <p:nvPr/>
        </p:nvSpPr>
        <p:spPr>
          <a:xfrm>
            <a:off x="4871597" y="1591968"/>
            <a:ext cx="1095572" cy="1027269"/>
          </a:xfrm>
          <a:prstGeom prst="rect">
            <a:avLst/>
          </a:pr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íšḷïḑé">
            <a:extLst>
              <a:ext uri="{FF2B5EF4-FFF2-40B4-BE49-F238E27FC236}">
                <a16:creationId xmlns:a16="http://schemas.microsoft.com/office/drawing/2014/main" id="{F3F61368-909E-C793-7120-E78DEB3A4735}"/>
              </a:ext>
            </a:extLst>
          </p:cNvPr>
          <p:cNvSpPr/>
          <p:nvPr/>
        </p:nvSpPr>
        <p:spPr>
          <a:xfrm>
            <a:off x="5269218" y="1962166"/>
            <a:ext cx="390129" cy="379550"/>
          </a:xfrm>
          <a:custGeom>
            <a:avLst/>
            <a:gdLst>
              <a:gd name="connsiteX0" fmla="*/ 381864 w 533400"/>
              <a:gd name="connsiteY0" fmla="*/ 621 h 533400"/>
              <a:gd name="connsiteX1" fmla="*/ 381864 w 533400"/>
              <a:gd name="connsiteY1" fmla="*/ 114921 h 533400"/>
              <a:gd name="connsiteX2" fmla="*/ 534264 w 533400"/>
              <a:gd name="connsiteY2" fmla="*/ 114921 h 533400"/>
              <a:gd name="connsiteX3" fmla="*/ 534264 w 533400"/>
              <a:gd name="connsiteY3" fmla="*/ 419721 h 533400"/>
              <a:gd name="connsiteX4" fmla="*/ 381864 w 533400"/>
              <a:gd name="connsiteY4" fmla="*/ 419721 h 533400"/>
              <a:gd name="connsiteX5" fmla="*/ 381864 w 533400"/>
              <a:gd name="connsiteY5" fmla="*/ 534021 h 533400"/>
              <a:gd name="connsiteX6" fmla="*/ 153264 w 533400"/>
              <a:gd name="connsiteY6" fmla="*/ 534021 h 533400"/>
              <a:gd name="connsiteX7" fmla="*/ 153264 w 533400"/>
              <a:gd name="connsiteY7" fmla="*/ 419721 h 533400"/>
              <a:gd name="connsiteX8" fmla="*/ 864 w 533400"/>
              <a:gd name="connsiteY8" fmla="*/ 419721 h 533400"/>
              <a:gd name="connsiteX9" fmla="*/ 864 w 533400"/>
              <a:gd name="connsiteY9" fmla="*/ 182549 h 533400"/>
              <a:gd name="connsiteX10" fmla="*/ 63729 w 533400"/>
              <a:gd name="connsiteY10" fmla="*/ 114921 h 533400"/>
              <a:gd name="connsiteX11" fmla="*/ 153264 w 533400"/>
              <a:gd name="connsiteY11" fmla="*/ 114921 h 533400"/>
              <a:gd name="connsiteX12" fmla="*/ 153264 w 533400"/>
              <a:gd name="connsiteY12" fmla="*/ 621 h 533400"/>
              <a:gd name="connsiteX13" fmla="*/ 381864 w 533400"/>
              <a:gd name="connsiteY13" fmla="*/ 621 h 533400"/>
              <a:gd name="connsiteX14" fmla="*/ 362814 w 533400"/>
              <a:gd name="connsiteY14" fmla="*/ 286371 h 533400"/>
              <a:gd name="connsiteX15" fmla="*/ 172314 w 533400"/>
              <a:gd name="connsiteY15" fmla="*/ 286371 h 533400"/>
              <a:gd name="connsiteX16" fmla="*/ 172314 w 533400"/>
              <a:gd name="connsiteY16" fmla="*/ 514971 h 533400"/>
              <a:gd name="connsiteX17" fmla="*/ 362814 w 533400"/>
              <a:gd name="connsiteY17" fmla="*/ 514971 h 533400"/>
              <a:gd name="connsiteX18" fmla="*/ 362814 w 533400"/>
              <a:gd name="connsiteY18" fmla="*/ 286371 h 533400"/>
              <a:gd name="connsiteX19" fmla="*/ 515214 w 533400"/>
              <a:gd name="connsiteY19" fmla="*/ 133971 h 533400"/>
              <a:gd name="connsiteX20" fmla="*/ 71349 w 533400"/>
              <a:gd name="connsiteY20" fmla="*/ 133971 h 533400"/>
              <a:gd name="connsiteX21" fmla="*/ 19914 w 533400"/>
              <a:gd name="connsiteY21" fmla="*/ 190169 h 533400"/>
              <a:gd name="connsiteX22" fmla="*/ 19914 w 533400"/>
              <a:gd name="connsiteY22" fmla="*/ 400671 h 533400"/>
              <a:gd name="connsiteX23" fmla="*/ 153264 w 533400"/>
              <a:gd name="connsiteY23" fmla="*/ 400671 h 533400"/>
              <a:gd name="connsiteX24" fmla="*/ 153264 w 533400"/>
              <a:gd name="connsiteY24" fmla="*/ 267321 h 533400"/>
              <a:gd name="connsiteX25" fmla="*/ 381864 w 533400"/>
              <a:gd name="connsiteY25" fmla="*/ 267321 h 533400"/>
              <a:gd name="connsiteX26" fmla="*/ 381864 w 533400"/>
              <a:gd name="connsiteY26" fmla="*/ 400671 h 533400"/>
              <a:gd name="connsiteX27" fmla="*/ 515214 w 533400"/>
              <a:gd name="connsiteY27" fmla="*/ 400671 h 533400"/>
              <a:gd name="connsiteX28" fmla="*/ 515214 w 533400"/>
              <a:gd name="connsiteY28" fmla="*/ 133971 h 533400"/>
              <a:gd name="connsiteX29" fmla="*/ 462827 w 533400"/>
              <a:gd name="connsiteY29" fmla="*/ 172071 h 533400"/>
              <a:gd name="connsiteX30" fmla="*/ 477114 w 533400"/>
              <a:gd name="connsiteY30" fmla="*/ 186359 h 533400"/>
              <a:gd name="connsiteX31" fmla="*/ 462827 w 533400"/>
              <a:gd name="connsiteY31" fmla="*/ 200646 h 533400"/>
              <a:gd name="connsiteX32" fmla="*/ 448539 w 533400"/>
              <a:gd name="connsiteY32" fmla="*/ 186359 h 533400"/>
              <a:gd name="connsiteX33" fmla="*/ 462827 w 533400"/>
              <a:gd name="connsiteY33" fmla="*/ 172071 h 533400"/>
              <a:gd name="connsiteX34" fmla="*/ 362814 w 533400"/>
              <a:gd name="connsiteY34" fmla="*/ 19671 h 533400"/>
              <a:gd name="connsiteX35" fmla="*/ 172314 w 533400"/>
              <a:gd name="connsiteY35" fmla="*/ 19671 h 533400"/>
              <a:gd name="connsiteX36" fmla="*/ 172314 w 533400"/>
              <a:gd name="connsiteY36" fmla="*/ 114921 h 533400"/>
              <a:gd name="connsiteX37" fmla="*/ 362814 w 533400"/>
              <a:gd name="connsiteY37" fmla="*/ 114921 h 533400"/>
              <a:gd name="connsiteX38" fmla="*/ 362814 w 533400"/>
              <a:gd name="connsiteY38" fmla="*/ 19671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33400" h="533400">
                <a:moveTo>
                  <a:pt x="381864" y="621"/>
                </a:moveTo>
                <a:lnTo>
                  <a:pt x="381864" y="114921"/>
                </a:lnTo>
                <a:lnTo>
                  <a:pt x="534264" y="114921"/>
                </a:lnTo>
                <a:lnTo>
                  <a:pt x="534264" y="419721"/>
                </a:lnTo>
                <a:lnTo>
                  <a:pt x="381864" y="419721"/>
                </a:lnTo>
                <a:lnTo>
                  <a:pt x="381864" y="534021"/>
                </a:lnTo>
                <a:lnTo>
                  <a:pt x="153264" y="534021"/>
                </a:lnTo>
                <a:lnTo>
                  <a:pt x="153264" y="419721"/>
                </a:lnTo>
                <a:lnTo>
                  <a:pt x="864" y="419721"/>
                </a:lnTo>
                <a:lnTo>
                  <a:pt x="864" y="182549"/>
                </a:lnTo>
                <a:lnTo>
                  <a:pt x="63729" y="114921"/>
                </a:lnTo>
                <a:lnTo>
                  <a:pt x="153264" y="114921"/>
                </a:lnTo>
                <a:lnTo>
                  <a:pt x="153264" y="621"/>
                </a:lnTo>
                <a:lnTo>
                  <a:pt x="381864" y="621"/>
                </a:lnTo>
                <a:close/>
                <a:moveTo>
                  <a:pt x="362814" y="286371"/>
                </a:moveTo>
                <a:lnTo>
                  <a:pt x="172314" y="286371"/>
                </a:lnTo>
                <a:lnTo>
                  <a:pt x="172314" y="514971"/>
                </a:lnTo>
                <a:lnTo>
                  <a:pt x="362814" y="514971"/>
                </a:lnTo>
                <a:lnTo>
                  <a:pt x="362814" y="286371"/>
                </a:lnTo>
                <a:close/>
                <a:moveTo>
                  <a:pt x="515214" y="133971"/>
                </a:moveTo>
                <a:lnTo>
                  <a:pt x="71349" y="133971"/>
                </a:lnTo>
                <a:lnTo>
                  <a:pt x="19914" y="190169"/>
                </a:lnTo>
                <a:lnTo>
                  <a:pt x="19914" y="400671"/>
                </a:lnTo>
                <a:lnTo>
                  <a:pt x="153264" y="400671"/>
                </a:lnTo>
                <a:lnTo>
                  <a:pt x="153264" y="267321"/>
                </a:lnTo>
                <a:lnTo>
                  <a:pt x="381864" y="267321"/>
                </a:lnTo>
                <a:lnTo>
                  <a:pt x="381864" y="400671"/>
                </a:lnTo>
                <a:lnTo>
                  <a:pt x="515214" y="400671"/>
                </a:lnTo>
                <a:lnTo>
                  <a:pt x="515214" y="133971"/>
                </a:lnTo>
                <a:close/>
                <a:moveTo>
                  <a:pt x="462827" y="172071"/>
                </a:moveTo>
                <a:cubicBezTo>
                  <a:pt x="470446" y="172071"/>
                  <a:pt x="477114" y="178739"/>
                  <a:pt x="477114" y="186359"/>
                </a:cubicBezTo>
                <a:cubicBezTo>
                  <a:pt x="477114" y="193979"/>
                  <a:pt x="470446" y="200646"/>
                  <a:pt x="462827" y="200646"/>
                </a:cubicBezTo>
                <a:cubicBezTo>
                  <a:pt x="455207" y="200646"/>
                  <a:pt x="448539" y="193979"/>
                  <a:pt x="448539" y="186359"/>
                </a:cubicBezTo>
                <a:cubicBezTo>
                  <a:pt x="448539" y="178739"/>
                  <a:pt x="455207" y="172071"/>
                  <a:pt x="462827" y="172071"/>
                </a:cubicBezTo>
                <a:close/>
                <a:moveTo>
                  <a:pt x="362814" y="19671"/>
                </a:moveTo>
                <a:lnTo>
                  <a:pt x="172314" y="19671"/>
                </a:lnTo>
                <a:lnTo>
                  <a:pt x="172314" y="114921"/>
                </a:lnTo>
                <a:lnTo>
                  <a:pt x="362814" y="114921"/>
                </a:lnTo>
                <a:lnTo>
                  <a:pt x="362814" y="19671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" name="íSľíḋe">
            <a:extLst>
              <a:ext uri="{FF2B5EF4-FFF2-40B4-BE49-F238E27FC236}">
                <a16:creationId xmlns:a16="http://schemas.microsoft.com/office/drawing/2014/main" id="{E07B532B-53F7-AF75-8710-F4C33068FC64}"/>
              </a:ext>
            </a:extLst>
          </p:cNvPr>
          <p:cNvSpPr/>
          <p:nvPr/>
        </p:nvSpPr>
        <p:spPr>
          <a:xfrm>
            <a:off x="4871597" y="3115850"/>
            <a:ext cx="1095572" cy="1027269"/>
          </a:xfrm>
          <a:prstGeom prst="rect">
            <a:avLst/>
          </a:pr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ísḻïḋè">
            <a:extLst>
              <a:ext uri="{FF2B5EF4-FFF2-40B4-BE49-F238E27FC236}">
                <a16:creationId xmlns:a16="http://schemas.microsoft.com/office/drawing/2014/main" id="{8D17F0AF-AE01-34A2-4B3F-02D01619FE1B}"/>
              </a:ext>
            </a:extLst>
          </p:cNvPr>
          <p:cNvSpPr/>
          <p:nvPr/>
        </p:nvSpPr>
        <p:spPr>
          <a:xfrm>
            <a:off x="4915916" y="4881919"/>
            <a:ext cx="1095572" cy="1027269"/>
          </a:xfrm>
          <a:prstGeom prst="rect">
            <a:avLst/>
          </a:pr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iśḻíḓé">
            <a:extLst>
              <a:ext uri="{FF2B5EF4-FFF2-40B4-BE49-F238E27FC236}">
                <a16:creationId xmlns:a16="http://schemas.microsoft.com/office/drawing/2014/main" id="{B5A6EEB7-7D2E-1FDD-CE51-9D18D9DEDC47}"/>
              </a:ext>
            </a:extLst>
          </p:cNvPr>
          <p:cNvSpPr/>
          <p:nvPr/>
        </p:nvSpPr>
        <p:spPr>
          <a:xfrm>
            <a:off x="505368" y="2766217"/>
            <a:ext cx="1596958" cy="79788"/>
          </a:xfrm>
          <a:prstGeom prst="rect">
            <a:avLst/>
          </a:pr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ïṣḷiḍé">
            <a:extLst>
              <a:ext uri="{FF2B5EF4-FFF2-40B4-BE49-F238E27FC236}">
                <a16:creationId xmlns:a16="http://schemas.microsoft.com/office/drawing/2014/main" id="{1BC3D652-F38B-7604-B7A2-87A14EE92C88}"/>
              </a:ext>
            </a:extLst>
          </p:cNvPr>
          <p:cNvSpPr/>
          <p:nvPr/>
        </p:nvSpPr>
        <p:spPr>
          <a:xfrm>
            <a:off x="5264083" y="3518127"/>
            <a:ext cx="399239" cy="323420"/>
          </a:xfrm>
          <a:custGeom>
            <a:avLst/>
            <a:gdLst>
              <a:gd name="connsiteX0" fmla="*/ 534392 w 533400"/>
              <a:gd name="connsiteY0" fmla="*/ 621 h 438150"/>
              <a:gd name="connsiteX1" fmla="*/ 534392 w 533400"/>
              <a:gd name="connsiteY1" fmla="*/ 372096 h 438150"/>
              <a:gd name="connsiteX2" fmla="*/ 204827 w 533400"/>
              <a:gd name="connsiteY2" fmla="*/ 372096 h 438150"/>
              <a:gd name="connsiteX3" fmla="*/ 115292 w 533400"/>
              <a:gd name="connsiteY3" fmla="*/ 438771 h 438150"/>
              <a:gd name="connsiteX4" fmla="*/ 115292 w 533400"/>
              <a:gd name="connsiteY4" fmla="*/ 372096 h 438150"/>
              <a:gd name="connsiteX5" fmla="*/ 992 w 533400"/>
              <a:gd name="connsiteY5" fmla="*/ 372096 h 438150"/>
              <a:gd name="connsiteX6" fmla="*/ 992 w 533400"/>
              <a:gd name="connsiteY6" fmla="*/ 621 h 438150"/>
              <a:gd name="connsiteX7" fmla="*/ 534392 w 533400"/>
              <a:gd name="connsiteY7" fmla="*/ 621 h 438150"/>
              <a:gd name="connsiteX8" fmla="*/ 515342 w 533400"/>
              <a:gd name="connsiteY8" fmla="*/ 19671 h 438150"/>
              <a:gd name="connsiteX9" fmla="*/ 20042 w 533400"/>
              <a:gd name="connsiteY9" fmla="*/ 19671 h 438150"/>
              <a:gd name="connsiteX10" fmla="*/ 20042 w 533400"/>
              <a:gd name="connsiteY10" fmla="*/ 353046 h 438150"/>
              <a:gd name="connsiteX11" fmla="*/ 134342 w 533400"/>
              <a:gd name="connsiteY11" fmla="*/ 353046 h 438150"/>
              <a:gd name="connsiteX12" fmla="*/ 134342 w 533400"/>
              <a:gd name="connsiteY12" fmla="*/ 400671 h 438150"/>
              <a:gd name="connsiteX13" fmla="*/ 198160 w 533400"/>
              <a:gd name="connsiteY13" fmla="*/ 353046 h 438150"/>
              <a:gd name="connsiteX14" fmla="*/ 515342 w 533400"/>
              <a:gd name="connsiteY14" fmla="*/ 353046 h 438150"/>
              <a:gd name="connsiteX15" fmla="*/ 515342 w 533400"/>
              <a:gd name="connsiteY15" fmla="*/ 19671 h 438150"/>
              <a:gd name="connsiteX16" fmla="*/ 134342 w 533400"/>
              <a:gd name="connsiteY16" fmla="*/ 143496 h 438150"/>
              <a:gd name="connsiteX17" fmla="*/ 177205 w 533400"/>
              <a:gd name="connsiteY17" fmla="*/ 186359 h 438150"/>
              <a:gd name="connsiteX18" fmla="*/ 134342 w 533400"/>
              <a:gd name="connsiteY18" fmla="*/ 229221 h 438150"/>
              <a:gd name="connsiteX19" fmla="*/ 91480 w 533400"/>
              <a:gd name="connsiteY19" fmla="*/ 186359 h 438150"/>
              <a:gd name="connsiteX20" fmla="*/ 134342 w 533400"/>
              <a:gd name="connsiteY20" fmla="*/ 143496 h 438150"/>
              <a:gd name="connsiteX21" fmla="*/ 267692 w 533400"/>
              <a:gd name="connsiteY21" fmla="*/ 143496 h 438150"/>
              <a:gd name="connsiteX22" fmla="*/ 310555 w 533400"/>
              <a:gd name="connsiteY22" fmla="*/ 186359 h 438150"/>
              <a:gd name="connsiteX23" fmla="*/ 267692 w 533400"/>
              <a:gd name="connsiteY23" fmla="*/ 229221 h 438150"/>
              <a:gd name="connsiteX24" fmla="*/ 224830 w 533400"/>
              <a:gd name="connsiteY24" fmla="*/ 186359 h 438150"/>
              <a:gd name="connsiteX25" fmla="*/ 267692 w 533400"/>
              <a:gd name="connsiteY25" fmla="*/ 143496 h 438150"/>
              <a:gd name="connsiteX26" fmla="*/ 401042 w 533400"/>
              <a:gd name="connsiteY26" fmla="*/ 143496 h 438150"/>
              <a:gd name="connsiteX27" fmla="*/ 443905 w 533400"/>
              <a:gd name="connsiteY27" fmla="*/ 186359 h 438150"/>
              <a:gd name="connsiteX28" fmla="*/ 401042 w 533400"/>
              <a:gd name="connsiteY28" fmla="*/ 229221 h 438150"/>
              <a:gd name="connsiteX29" fmla="*/ 358180 w 533400"/>
              <a:gd name="connsiteY29" fmla="*/ 186359 h 438150"/>
              <a:gd name="connsiteX30" fmla="*/ 401042 w 533400"/>
              <a:gd name="connsiteY30" fmla="*/ 143496 h 438150"/>
              <a:gd name="connsiteX31" fmla="*/ 134342 w 533400"/>
              <a:gd name="connsiteY31" fmla="*/ 162546 h 438150"/>
              <a:gd name="connsiteX32" fmla="*/ 110530 w 533400"/>
              <a:gd name="connsiteY32" fmla="*/ 186359 h 438150"/>
              <a:gd name="connsiteX33" fmla="*/ 134342 w 533400"/>
              <a:gd name="connsiteY33" fmla="*/ 210171 h 438150"/>
              <a:gd name="connsiteX34" fmla="*/ 158155 w 533400"/>
              <a:gd name="connsiteY34" fmla="*/ 186359 h 438150"/>
              <a:gd name="connsiteX35" fmla="*/ 134342 w 533400"/>
              <a:gd name="connsiteY35" fmla="*/ 162546 h 438150"/>
              <a:gd name="connsiteX36" fmla="*/ 267692 w 533400"/>
              <a:gd name="connsiteY36" fmla="*/ 162546 h 438150"/>
              <a:gd name="connsiteX37" fmla="*/ 243880 w 533400"/>
              <a:gd name="connsiteY37" fmla="*/ 186359 h 438150"/>
              <a:gd name="connsiteX38" fmla="*/ 267692 w 533400"/>
              <a:gd name="connsiteY38" fmla="*/ 210171 h 438150"/>
              <a:gd name="connsiteX39" fmla="*/ 291505 w 533400"/>
              <a:gd name="connsiteY39" fmla="*/ 186359 h 438150"/>
              <a:gd name="connsiteX40" fmla="*/ 267692 w 533400"/>
              <a:gd name="connsiteY40" fmla="*/ 162546 h 438150"/>
              <a:gd name="connsiteX41" fmla="*/ 401042 w 533400"/>
              <a:gd name="connsiteY41" fmla="*/ 162546 h 438150"/>
              <a:gd name="connsiteX42" fmla="*/ 377230 w 533400"/>
              <a:gd name="connsiteY42" fmla="*/ 186359 h 438150"/>
              <a:gd name="connsiteX43" fmla="*/ 401042 w 533400"/>
              <a:gd name="connsiteY43" fmla="*/ 210171 h 438150"/>
              <a:gd name="connsiteX44" fmla="*/ 424855 w 533400"/>
              <a:gd name="connsiteY44" fmla="*/ 186359 h 438150"/>
              <a:gd name="connsiteX45" fmla="*/ 401042 w 533400"/>
              <a:gd name="connsiteY45" fmla="*/ 162546 h 43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33400" h="438150">
                <a:moveTo>
                  <a:pt x="534392" y="621"/>
                </a:moveTo>
                <a:lnTo>
                  <a:pt x="534392" y="372096"/>
                </a:lnTo>
                <a:lnTo>
                  <a:pt x="204827" y="372096"/>
                </a:lnTo>
                <a:lnTo>
                  <a:pt x="115292" y="438771"/>
                </a:lnTo>
                <a:lnTo>
                  <a:pt x="115292" y="372096"/>
                </a:lnTo>
                <a:lnTo>
                  <a:pt x="992" y="372096"/>
                </a:lnTo>
                <a:lnTo>
                  <a:pt x="992" y="621"/>
                </a:lnTo>
                <a:lnTo>
                  <a:pt x="534392" y="621"/>
                </a:lnTo>
                <a:close/>
                <a:moveTo>
                  <a:pt x="515342" y="19671"/>
                </a:moveTo>
                <a:lnTo>
                  <a:pt x="20042" y="19671"/>
                </a:lnTo>
                <a:lnTo>
                  <a:pt x="20042" y="353046"/>
                </a:lnTo>
                <a:lnTo>
                  <a:pt x="134342" y="353046"/>
                </a:lnTo>
                <a:lnTo>
                  <a:pt x="134342" y="400671"/>
                </a:lnTo>
                <a:lnTo>
                  <a:pt x="198160" y="353046"/>
                </a:lnTo>
                <a:lnTo>
                  <a:pt x="515342" y="353046"/>
                </a:lnTo>
                <a:lnTo>
                  <a:pt x="515342" y="19671"/>
                </a:lnTo>
                <a:close/>
                <a:moveTo>
                  <a:pt x="134342" y="143496"/>
                </a:moveTo>
                <a:cubicBezTo>
                  <a:pt x="158155" y="143496"/>
                  <a:pt x="177205" y="162546"/>
                  <a:pt x="177205" y="186359"/>
                </a:cubicBezTo>
                <a:cubicBezTo>
                  <a:pt x="177205" y="210171"/>
                  <a:pt x="158155" y="229221"/>
                  <a:pt x="134342" y="229221"/>
                </a:cubicBezTo>
                <a:cubicBezTo>
                  <a:pt x="110530" y="229221"/>
                  <a:pt x="91480" y="210171"/>
                  <a:pt x="91480" y="186359"/>
                </a:cubicBezTo>
                <a:cubicBezTo>
                  <a:pt x="91480" y="162546"/>
                  <a:pt x="110530" y="143496"/>
                  <a:pt x="134342" y="143496"/>
                </a:cubicBezTo>
                <a:close/>
                <a:moveTo>
                  <a:pt x="267692" y="143496"/>
                </a:moveTo>
                <a:cubicBezTo>
                  <a:pt x="291505" y="143496"/>
                  <a:pt x="310555" y="162546"/>
                  <a:pt x="310555" y="186359"/>
                </a:cubicBezTo>
                <a:cubicBezTo>
                  <a:pt x="310555" y="210171"/>
                  <a:pt x="291505" y="229221"/>
                  <a:pt x="267692" y="229221"/>
                </a:cubicBezTo>
                <a:cubicBezTo>
                  <a:pt x="243880" y="229221"/>
                  <a:pt x="224830" y="210171"/>
                  <a:pt x="224830" y="186359"/>
                </a:cubicBezTo>
                <a:cubicBezTo>
                  <a:pt x="224830" y="162546"/>
                  <a:pt x="243880" y="143496"/>
                  <a:pt x="267692" y="143496"/>
                </a:cubicBezTo>
                <a:close/>
                <a:moveTo>
                  <a:pt x="401042" y="143496"/>
                </a:moveTo>
                <a:cubicBezTo>
                  <a:pt x="424855" y="143496"/>
                  <a:pt x="443905" y="162546"/>
                  <a:pt x="443905" y="186359"/>
                </a:cubicBezTo>
                <a:cubicBezTo>
                  <a:pt x="443905" y="210171"/>
                  <a:pt x="424855" y="229221"/>
                  <a:pt x="401042" y="229221"/>
                </a:cubicBezTo>
                <a:cubicBezTo>
                  <a:pt x="377230" y="229221"/>
                  <a:pt x="358180" y="210171"/>
                  <a:pt x="358180" y="186359"/>
                </a:cubicBezTo>
                <a:cubicBezTo>
                  <a:pt x="358180" y="162546"/>
                  <a:pt x="377230" y="143496"/>
                  <a:pt x="401042" y="143496"/>
                </a:cubicBezTo>
                <a:close/>
                <a:moveTo>
                  <a:pt x="134342" y="162546"/>
                </a:moveTo>
                <a:cubicBezTo>
                  <a:pt x="121007" y="162546"/>
                  <a:pt x="110530" y="173024"/>
                  <a:pt x="110530" y="186359"/>
                </a:cubicBezTo>
                <a:cubicBezTo>
                  <a:pt x="110530" y="199694"/>
                  <a:pt x="121007" y="210171"/>
                  <a:pt x="134342" y="210171"/>
                </a:cubicBezTo>
                <a:cubicBezTo>
                  <a:pt x="147677" y="210171"/>
                  <a:pt x="158155" y="199694"/>
                  <a:pt x="158155" y="186359"/>
                </a:cubicBezTo>
                <a:cubicBezTo>
                  <a:pt x="158155" y="173024"/>
                  <a:pt x="147677" y="162546"/>
                  <a:pt x="134342" y="162546"/>
                </a:cubicBezTo>
                <a:close/>
                <a:moveTo>
                  <a:pt x="267692" y="162546"/>
                </a:moveTo>
                <a:cubicBezTo>
                  <a:pt x="254357" y="162546"/>
                  <a:pt x="243880" y="173024"/>
                  <a:pt x="243880" y="186359"/>
                </a:cubicBezTo>
                <a:cubicBezTo>
                  <a:pt x="243880" y="199694"/>
                  <a:pt x="254357" y="210171"/>
                  <a:pt x="267692" y="210171"/>
                </a:cubicBezTo>
                <a:cubicBezTo>
                  <a:pt x="281027" y="210171"/>
                  <a:pt x="291505" y="199694"/>
                  <a:pt x="291505" y="186359"/>
                </a:cubicBezTo>
                <a:cubicBezTo>
                  <a:pt x="291505" y="173024"/>
                  <a:pt x="281027" y="162546"/>
                  <a:pt x="267692" y="162546"/>
                </a:cubicBezTo>
                <a:close/>
                <a:moveTo>
                  <a:pt x="401042" y="162546"/>
                </a:moveTo>
                <a:cubicBezTo>
                  <a:pt x="387707" y="162546"/>
                  <a:pt x="377230" y="173024"/>
                  <a:pt x="377230" y="186359"/>
                </a:cubicBezTo>
                <a:cubicBezTo>
                  <a:pt x="377230" y="199694"/>
                  <a:pt x="387707" y="210171"/>
                  <a:pt x="401042" y="210171"/>
                </a:cubicBezTo>
                <a:cubicBezTo>
                  <a:pt x="414377" y="210171"/>
                  <a:pt x="424855" y="199694"/>
                  <a:pt x="424855" y="186359"/>
                </a:cubicBezTo>
                <a:cubicBezTo>
                  <a:pt x="424855" y="173024"/>
                  <a:pt x="414377" y="162546"/>
                  <a:pt x="401042" y="16254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ïşļîḑê">
            <a:extLst>
              <a:ext uri="{FF2B5EF4-FFF2-40B4-BE49-F238E27FC236}">
                <a16:creationId xmlns:a16="http://schemas.microsoft.com/office/drawing/2014/main" id="{C5FF23F8-834F-D698-80F8-9DB07B31B4DD}"/>
              </a:ext>
            </a:extLst>
          </p:cNvPr>
          <p:cNvSpPr/>
          <p:nvPr/>
        </p:nvSpPr>
        <p:spPr>
          <a:xfrm>
            <a:off x="5313987" y="5198689"/>
            <a:ext cx="299430" cy="393728"/>
          </a:xfrm>
          <a:custGeom>
            <a:avLst/>
            <a:gdLst>
              <a:gd name="connsiteX0" fmla="*/ 296523 w 400050"/>
              <a:gd name="connsiteY0" fmla="*/ 621 h 533400"/>
              <a:gd name="connsiteX1" fmla="*/ 296523 w 400050"/>
              <a:gd name="connsiteY1" fmla="*/ 38721 h 533400"/>
              <a:gd name="connsiteX2" fmla="*/ 401298 w 400050"/>
              <a:gd name="connsiteY2" fmla="*/ 38721 h 533400"/>
              <a:gd name="connsiteX3" fmla="*/ 401298 w 400050"/>
              <a:gd name="connsiteY3" fmla="*/ 534021 h 533400"/>
              <a:gd name="connsiteX4" fmla="*/ 1248 w 400050"/>
              <a:gd name="connsiteY4" fmla="*/ 534021 h 533400"/>
              <a:gd name="connsiteX5" fmla="*/ 1248 w 400050"/>
              <a:gd name="connsiteY5" fmla="*/ 38721 h 533400"/>
              <a:gd name="connsiteX6" fmla="*/ 106023 w 400050"/>
              <a:gd name="connsiteY6" fmla="*/ 38721 h 533400"/>
              <a:gd name="connsiteX7" fmla="*/ 106023 w 400050"/>
              <a:gd name="connsiteY7" fmla="*/ 621 h 533400"/>
              <a:gd name="connsiteX8" fmla="*/ 296523 w 400050"/>
              <a:gd name="connsiteY8" fmla="*/ 621 h 533400"/>
              <a:gd name="connsiteX9" fmla="*/ 106023 w 400050"/>
              <a:gd name="connsiteY9" fmla="*/ 57771 h 533400"/>
              <a:gd name="connsiteX10" fmla="*/ 20298 w 400050"/>
              <a:gd name="connsiteY10" fmla="*/ 57771 h 533400"/>
              <a:gd name="connsiteX11" fmla="*/ 20298 w 400050"/>
              <a:gd name="connsiteY11" fmla="*/ 514971 h 533400"/>
              <a:gd name="connsiteX12" fmla="*/ 382248 w 400050"/>
              <a:gd name="connsiteY12" fmla="*/ 514971 h 533400"/>
              <a:gd name="connsiteX13" fmla="*/ 382248 w 400050"/>
              <a:gd name="connsiteY13" fmla="*/ 57771 h 533400"/>
              <a:gd name="connsiteX14" fmla="*/ 296523 w 400050"/>
              <a:gd name="connsiteY14" fmla="*/ 57771 h 533400"/>
              <a:gd name="connsiteX15" fmla="*/ 296523 w 400050"/>
              <a:gd name="connsiteY15" fmla="*/ 95871 h 533400"/>
              <a:gd name="connsiteX16" fmla="*/ 106023 w 400050"/>
              <a:gd name="connsiteY16" fmla="*/ 95871 h 533400"/>
              <a:gd name="connsiteX17" fmla="*/ 106023 w 400050"/>
              <a:gd name="connsiteY17" fmla="*/ 57771 h 533400"/>
              <a:gd name="connsiteX18" fmla="*/ 201273 w 400050"/>
              <a:gd name="connsiteY18" fmla="*/ 343521 h 533400"/>
              <a:gd name="connsiteX19" fmla="*/ 201273 w 400050"/>
              <a:gd name="connsiteY19" fmla="*/ 362571 h 533400"/>
              <a:gd name="connsiteX20" fmla="*/ 86973 w 400050"/>
              <a:gd name="connsiteY20" fmla="*/ 362571 h 533400"/>
              <a:gd name="connsiteX21" fmla="*/ 86973 w 400050"/>
              <a:gd name="connsiteY21" fmla="*/ 343521 h 533400"/>
              <a:gd name="connsiteX22" fmla="*/ 201273 w 400050"/>
              <a:gd name="connsiteY22" fmla="*/ 343521 h 533400"/>
              <a:gd name="connsiteX23" fmla="*/ 315573 w 400050"/>
              <a:gd name="connsiteY23" fmla="*/ 267321 h 533400"/>
              <a:gd name="connsiteX24" fmla="*/ 315573 w 400050"/>
              <a:gd name="connsiteY24" fmla="*/ 286371 h 533400"/>
              <a:gd name="connsiteX25" fmla="*/ 86973 w 400050"/>
              <a:gd name="connsiteY25" fmla="*/ 286371 h 533400"/>
              <a:gd name="connsiteX26" fmla="*/ 86973 w 400050"/>
              <a:gd name="connsiteY26" fmla="*/ 267321 h 533400"/>
              <a:gd name="connsiteX27" fmla="*/ 315573 w 400050"/>
              <a:gd name="connsiteY27" fmla="*/ 267321 h 533400"/>
              <a:gd name="connsiteX28" fmla="*/ 315573 w 400050"/>
              <a:gd name="connsiteY28" fmla="*/ 191121 h 533400"/>
              <a:gd name="connsiteX29" fmla="*/ 315573 w 400050"/>
              <a:gd name="connsiteY29" fmla="*/ 210171 h 533400"/>
              <a:gd name="connsiteX30" fmla="*/ 86973 w 400050"/>
              <a:gd name="connsiteY30" fmla="*/ 210171 h 533400"/>
              <a:gd name="connsiteX31" fmla="*/ 86973 w 400050"/>
              <a:gd name="connsiteY31" fmla="*/ 191121 h 533400"/>
              <a:gd name="connsiteX32" fmla="*/ 315573 w 400050"/>
              <a:gd name="connsiteY32" fmla="*/ 191121 h 533400"/>
              <a:gd name="connsiteX33" fmla="*/ 277473 w 400050"/>
              <a:gd name="connsiteY33" fmla="*/ 19671 h 533400"/>
              <a:gd name="connsiteX34" fmla="*/ 125073 w 400050"/>
              <a:gd name="connsiteY34" fmla="*/ 19671 h 533400"/>
              <a:gd name="connsiteX35" fmla="*/ 125073 w 400050"/>
              <a:gd name="connsiteY35" fmla="*/ 76821 h 533400"/>
              <a:gd name="connsiteX36" fmla="*/ 277473 w 400050"/>
              <a:gd name="connsiteY36" fmla="*/ 76821 h 533400"/>
              <a:gd name="connsiteX37" fmla="*/ 277473 w 400050"/>
              <a:gd name="connsiteY37" fmla="*/ 19671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00050" h="533400">
                <a:moveTo>
                  <a:pt x="296523" y="621"/>
                </a:moveTo>
                <a:lnTo>
                  <a:pt x="296523" y="38721"/>
                </a:lnTo>
                <a:lnTo>
                  <a:pt x="401298" y="38721"/>
                </a:lnTo>
                <a:lnTo>
                  <a:pt x="401298" y="534021"/>
                </a:lnTo>
                <a:lnTo>
                  <a:pt x="1248" y="534021"/>
                </a:lnTo>
                <a:lnTo>
                  <a:pt x="1248" y="38721"/>
                </a:lnTo>
                <a:lnTo>
                  <a:pt x="106023" y="38721"/>
                </a:lnTo>
                <a:lnTo>
                  <a:pt x="106023" y="621"/>
                </a:lnTo>
                <a:lnTo>
                  <a:pt x="296523" y="621"/>
                </a:lnTo>
                <a:close/>
                <a:moveTo>
                  <a:pt x="106023" y="57771"/>
                </a:moveTo>
                <a:lnTo>
                  <a:pt x="20298" y="57771"/>
                </a:lnTo>
                <a:lnTo>
                  <a:pt x="20298" y="514971"/>
                </a:lnTo>
                <a:lnTo>
                  <a:pt x="382248" y="514971"/>
                </a:lnTo>
                <a:lnTo>
                  <a:pt x="382248" y="57771"/>
                </a:lnTo>
                <a:lnTo>
                  <a:pt x="296523" y="57771"/>
                </a:lnTo>
                <a:lnTo>
                  <a:pt x="296523" y="95871"/>
                </a:lnTo>
                <a:lnTo>
                  <a:pt x="106023" y="95871"/>
                </a:lnTo>
                <a:lnTo>
                  <a:pt x="106023" y="57771"/>
                </a:lnTo>
                <a:close/>
                <a:moveTo>
                  <a:pt x="201273" y="343521"/>
                </a:moveTo>
                <a:lnTo>
                  <a:pt x="201273" y="362571"/>
                </a:lnTo>
                <a:lnTo>
                  <a:pt x="86973" y="362571"/>
                </a:lnTo>
                <a:lnTo>
                  <a:pt x="86973" y="343521"/>
                </a:lnTo>
                <a:lnTo>
                  <a:pt x="201273" y="343521"/>
                </a:lnTo>
                <a:close/>
                <a:moveTo>
                  <a:pt x="315573" y="267321"/>
                </a:moveTo>
                <a:lnTo>
                  <a:pt x="315573" y="286371"/>
                </a:lnTo>
                <a:lnTo>
                  <a:pt x="86973" y="286371"/>
                </a:lnTo>
                <a:lnTo>
                  <a:pt x="86973" y="267321"/>
                </a:lnTo>
                <a:lnTo>
                  <a:pt x="315573" y="267321"/>
                </a:lnTo>
                <a:close/>
                <a:moveTo>
                  <a:pt x="315573" y="191121"/>
                </a:moveTo>
                <a:lnTo>
                  <a:pt x="315573" y="210171"/>
                </a:lnTo>
                <a:lnTo>
                  <a:pt x="86973" y="210171"/>
                </a:lnTo>
                <a:lnTo>
                  <a:pt x="86973" y="191121"/>
                </a:lnTo>
                <a:lnTo>
                  <a:pt x="315573" y="191121"/>
                </a:lnTo>
                <a:close/>
                <a:moveTo>
                  <a:pt x="277473" y="19671"/>
                </a:moveTo>
                <a:lnTo>
                  <a:pt x="125073" y="19671"/>
                </a:lnTo>
                <a:lnTo>
                  <a:pt x="125073" y="76821"/>
                </a:lnTo>
                <a:lnTo>
                  <a:pt x="277473" y="76821"/>
                </a:lnTo>
                <a:lnTo>
                  <a:pt x="277473" y="19671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íSḷîďè">
            <a:extLst>
              <a:ext uri="{FF2B5EF4-FFF2-40B4-BE49-F238E27FC236}">
                <a16:creationId xmlns:a16="http://schemas.microsoft.com/office/drawing/2014/main" id="{3C930467-E0ED-355D-D032-681373003F9C}"/>
              </a:ext>
            </a:extLst>
          </p:cNvPr>
          <p:cNvSpPr/>
          <p:nvPr/>
        </p:nvSpPr>
        <p:spPr>
          <a:xfrm>
            <a:off x="505367" y="3115850"/>
            <a:ext cx="3906771" cy="2360409"/>
          </a:xfrm>
          <a:prstGeom prst="rect">
            <a:avLst/>
          </a:prstGeom>
          <a:blipFill>
            <a:blip r:embed="rId3"/>
            <a:stretch>
              <a:fillRect l="-11296" r="-11232"/>
            </a:stretch>
          </a:blip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>
              <a:solidFill>
                <a:schemeClr val="bg1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7B73946-895B-78BC-A811-31B73FA5988D}"/>
              </a:ext>
            </a:extLst>
          </p:cNvPr>
          <p:cNvGrpSpPr/>
          <p:nvPr/>
        </p:nvGrpSpPr>
        <p:grpSpPr>
          <a:xfrm>
            <a:off x="0" y="-77357"/>
            <a:ext cx="3846136" cy="1425389"/>
            <a:chOff x="-46113" y="5185"/>
            <a:chExt cx="3513942" cy="1241614"/>
          </a:xfrm>
        </p:grpSpPr>
        <p:sp>
          <p:nvSpPr>
            <p:cNvPr id="14" name="iṩļïḓè">
              <a:extLst>
                <a:ext uri="{FF2B5EF4-FFF2-40B4-BE49-F238E27FC236}">
                  <a16:creationId xmlns:a16="http://schemas.microsoft.com/office/drawing/2014/main" id="{B301247B-6CE9-95F7-E1C6-B47C4CCB1764}"/>
                </a:ext>
              </a:extLst>
            </p:cNvPr>
            <p:cNvSpPr txBox="1"/>
            <p:nvPr/>
          </p:nvSpPr>
          <p:spPr bwMode="auto">
            <a:xfrm>
              <a:off x="415605" y="409465"/>
              <a:ext cx="2475194" cy="421718"/>
            </a:xfrm>
            <a:prstGeom prst="rect">
              <a:avLst/>
            </a:prstGeom>
            <a:solidFill>
              <a:srgbClr val="E9939A"/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对象图 </a:t>
              </a: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CEF3173D-6E25-A589-203B-9DEB2B90C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5013422">
              <a:off x="353462" y="-394390"/>
              <a:ext cx="736994" cy="1536144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8EDCAF9B-07DF-DB10-A125-51F4833F5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16046210">
              <a:off x="2410926" y="189895"/>
              <a:ext cx="685336" cy="1428471"/>
            </a:xfrm>
            <a:prstGeom prst="rect">
              <a:avLst/>
            </a:prstGeom>
          </p:spPr>
        </p:pic>
      </p:grpSp>
      <p:sp>
        <p:nvSpPr>
          <p:cNvPr id="17" name="iṩļïḓè">
            <a:extLst>
              <a:ext uri="{FF2B5EF4-FFF2-40B4-BE49-F238E27FC236}">
                <a16:creationId xmlns:a16="http://schemas.microsoft.com/office/drawing/2014/main" id="{03481D2E-BC01-B051-C776-A34A0F15980D}"/>
              </a:ext>
            </a:extLst>
          </p:cNvPr>
          <p:cNvSpPr txBox="1"/>
          <p:nvPr/>
        </p:nvSpPr>
        <p:spPr bwMode="auto">
          <a:xfrm>
            <a:off x="505367" y="2103001"/>
            <a:ext cx="2195686" cy="368932"/>
          </a:xfrm>
          <a:prstGeom prst="rect">
            <a:avLst/>
          </a:prstGeom>
          <a:solidFill>
            <a:srgbClr val="E9939A"/>
          </a:solidFill>
          <a:ln w="9525">
            <a:noFill/>
            <a:miter lim="800000"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概念简介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281E45-D6AA-5946-E3CD-081FC622C61A}"/>
              </a:ext>
            </a:extLst>
          </p:cNvPr>
          <p:cNvSpPr txBox="1"/>
          <p:nvPr/>
        </p:nvSpPr>
        <p:spPr>
          <a:xfrm>
            <a:off x="6224833" y="1466063"/>
            <a:ext cx="5465849" cy="1273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定义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：展示系统在</a:t>
            </a: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某一特定时刻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的一组对象实例、它们之间的链接关系以及这些对象属性的具体值，是系统的</a:t>
            </a: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运行时快照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>
              <a:solidFill>
                <a:schemeClr val="accent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C1751E0-16D3-5D43-C73C-376708BE09B0}"/>
              </a:ext>
            </a:extLst>
          </p:cNvPr>
          <p:cNvSpPr txBox="1"/>
          <p:nvPr/>
        </p:nvSpPr>
        <p:spPr>
          <a:xfrm>
            <a:off x="6224832" y="3025043"/>
            <a:ext cx="5304149" cy="442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本质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：对象图是类图在特定时刻的</a:t>
            </a: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实例化投影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>
              <a:solidFill>
                <a:schemeClr val="accent2">
                  <a:lumMod val="7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CAC58C-64B6-4B08-D956-416EF176C53F}"/>
              </a:ext>
            </a:extLst>
          </p:cNvPr>
          <p:cNvSpPr txBox="1"/>
          <p:nvPr/>
        </p:nvSpPr>
        <p:spPr>
          <a:xfrm>
            <a:off x="6224831" y="4881919"/>
            <a:ext cx="4830225" cy="858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用途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：验证类图设计的合理性，帮助理解复杂系统结构。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EE021B2-6072-B283-D2AF-6176E6BCA6B9}"/>
              </a:ext>
            </a:extLst>
          </p:cNvPr>
          <p:cNvSpPr txBox="1"/>
          <p:nvPr/>
        </p:nvSpPr>
        <p:spPr>
          <a:xfrm>
            <a:off x="6224831" y="3429000"/>
            <a:ext cx="4672553" cy="1273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类比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类图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 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建筑蓝图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对象图 </a:t>
            </a: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 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按蓝图建好房子后拍的照片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5165895"/>
      </p:ext>
    </p:ext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/>
      <p:bldP spid="21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46B2D-61A8-8566-A764-BBDC4D123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ṧ1ïḋe">
            <a:extLst>
              <a:ext uri="{FF2B5EF4-FFF2-40B4-BE49-F238E27FC236}">
                <a16:creationId xmlns:a16="http://schemas.microsoft.com/office/drawing/2014/main" id="{735319B6-4549-0F4A-BB3F-79B1883D0112}"/>
              </a:ext>
            </a:extLst>
          </p:cNvPr>
          <p:cNvSpPr/>
          <p:nvPr/>
        </p:nvSpPr>
        <p:spPr>
          <a:xfrm>
            <a:off x="0" y="0"/>
            <a:ext cx="12192000" cy="3302000"/>
          </a:xfrm>
          <a:prstGeom prst="rect">
            <a:avLst/>
          </a:pr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îSḷíḋè">
            <a:extLst>
              <a:ext uri="{FF2B5EF4-FFF2-40B4-BE49-F238E27FC236}">
                <a16:creationId xmlns:a16="http://schemas.microsoft.com/office/drawing/2014/main" id="{ACE18487-64CF-6739-0377-F07AAFF2B90C}"/>
              </a:ext>
            </a:extLst>
          </p:cNvPr>
          <p:cNvSpPr/>
          <p:nvPr/>
        </p:nvSpPr>
        <p:spPr>
          <a:xfrm>
            <a:off x="800389" y="1338263"/>
            <a:ext cx="1803249" cy="1645082"/>
          </a:xfrm>
          <a:prstGeom prst="rect">
            <a:avLst/>
          </a:prstGeom>
          <a:blipFill>
            <a:blip r:embed="rId3"/>
            <a:stretch>
              <a:fillRect l="-18994" r="-18784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îś1iḍé">
            <a:extLst>
              <a:ext uri="{FF2B5EF4-FFF2-40B4-BE49-F238E27FC236}">
                <a16:creationId xmlns:a16="http://schemas.microsoft.com/office/drawing/2014/main" id="{32EE61F9-978B-5E1F-21D7-53051C851B31}"/>
              </a:ext>
            </a:extLst>
          </p:cNvPr>
          <p:cNvSpPr/>
          <p:nvPr/>
        </p:nvSpPr>
        <p:spPr>
          <a:xfrm>
            <a:off x="789733" y="3128640"/>
            <a:ext cx="1795173" cy="2849299"/>
          </a:xfrm>
          <a:prstGeom prst="rect">
            <a:avLst/>
          </a:prstGeom>
          <a:blipFill>
            <a:blip r:embed="rId4"/>
            <a:stretch>
              <a:fillRect t="-8576" b="-8501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" name="íšļïdê">
            <a:extLst>
              <a:ext uri="{FF2B5EF4-FFF2-40B4-BE49-F238E27FC236}">
                <a16:creationId xmlns:a16="http://schemas.microsoft.com/office/drawing/2014/main" id="{CE71D7FF-AC52-6E54-02F9-54F7C12E9978}"/>
              </a:ext>
            </a:extLst>
          </p:cNvPr>
          <p:cNvSpPr/>
          <p:nvPr/>
        </p:nvSpPr>
        <p:spPr>
          <a:xfrm>
            <a:off x="2900219" y="1338263"/>
            <a:ext cx="8608290" cy="4771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434BDEA-99BE-91D2-0227-DA7F8F46F8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30" b="24000"/>
          <a:stretch>
            <a:fillRect/>
          </a:stretch>
        </p:blipFill>
        <p:spPr>
          <a:xfrm flipH="1">
            <a:off x="2900219" y="1318322"/>
            <a:ext cx="1210754" cy="171116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B3549F9-3C81-E83E-C472-EC409E34EB5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30" b="24000"/>
          <a:stretch>
            <a:fillRect/>
          </a:stretch>
        </p:blipFill>
        <p:spPr>
          <a:xfrm rot="10800000" flipH="1">
            <a:off x="10387991" y="4523177"/>
            <a:ext cx="1120517" cy="1583632"/>
          </a:xfrm>
          <a:prstGeom prst="rect">
            <a:avLst/>
          </a:prstGeom>
        </p:spPr>
      </p:pic>
      <p:sp>
        <p:nvSpPr>
          <p:cNvPr id="12" name="iṩļïḓè">
            <a:extLst>
              <a:ext uri="{FF2B5EF4-FFF2-40B4-BE49-F238E27FC236}">
                <a16:creationId xmlns:a16="http://schemas.microsoft.com/office/drawing/2014/main" id="{D342FA1E-34BC-B969-B870-BCE282C43050}"/>
              </a:ext>
            </a:extLst>
          </p:cNvPr>
          <p:cNvSpPr txBox="1"/>
          <p:nvPr/>
        </p:nvSpPr>
        <p:spPr bwMode="auto">
          <a:xfrm>
            <a:off x="2724727" y="439678"/>
            <a:ext cx="6520873" cy="6502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dist"/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对象图核心元语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— 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对象实例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08797CE-41D6-A5C7-2821-B0C8ACB88BB9}"/>
              </a:ext>
            </a:extLst>
          </p:cNvPr>
          <p:cNvSpPr txBox="1"/>
          <p:nvPr/>
        </p:nvSpPr>
        <p:spPr>
          <a:xfrm>
            <a:off x="3575642" y="2060015"/>
            <a:ext cx="72574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     每个对象代表一个类的具体实例，通常用矩形框表示。对象的命名规则为“类名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: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实例名”。这种表示方式不仅清晰明了，还能直观地反映对象的类归属。如：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E65BC20-90A1-EA85-3774-4BB2887E527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542" t="4656" r="3608" b="7753"/>
          <a:stretch>
            <a:fillRect/>
          </a:stretch>
        </p:blipFill>
        <p:spPr>
          <a:xfrm>
            <a:off x="5655075" y="2818348"/>
            <a:ext cx="2539013" cy="92333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631BF5B1-081E-654C-6849-44F5FCDB6853}"/>
              </a:ext>
            </a:extLst>
          </p:cNvPr>
          <p:cNvSpPr txBox="1"/>
          <p:nvPr/>
        </p:nvSpPr>
        <p:spPr>
          <a:xfrm>
            <a:off x="3575641" y="3857106"/>
            <a:ext cx="72574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        另外，还可以用属性来表示对象的状态，通常在对象框内列出。属性的显示方式可以根据需要调整，例如可以使用“属性名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: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属性值”的格式。通过属性，</a:t>
            </a:r>
            <a:r>
              <a:rPr lang="zh-CN" altLang="en-US" b="0" i="0" dirty="0">
                <a:effectLst/>
                <a:latin typeface="-apple-system"/>
              </a:rPr>
              <a:t>开发人员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可以快速了解对象的当前状态信息。如：</a:t>
            </a:r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7F21F726-C25A-7612-BF31-8CD2F38412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0361" y="4919437"/>
            <a:ext cx="2907500" cy="7789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00106162"/>
      </p:ext>
    </p:ext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8768D-21D4-9AAC-22F7-30BDA9E57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ṧ1ïḋe">
            <a:extLst>
              <a:ext uri="{FF2B5EF4-FFF2-40B4-BE49-F238E27FC236}">
                <a16:creationId xmlns:a16="http://schemas.microsoft.com/office/drawing/2014/main" id="{7AC792F9-227A-8F32-2442-9B6BE6473DA4}"/>
              </a:ext>
            </a:extLst>
          </p:cNvPr>
          <p:cNvSpPr/>
          <p:nvPr/>
        </p:nvSpPr>
        <p:spPr>
          <a:xfrm>
            <a:off x="0" y="0"/>
            <a:ext cx="12192000" cy="3302000"/>
          </a:xfrm>
          <a:prstGeom prst="rect">
            <a:avLst/>
          </a:pr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îSḷíḋè">
            <a:extLst>
              <a:ext uri="{FF2B5EF4-FFF2-40B4-BE49-F238E27FC236}">
                <a16:creationId xmlns:a16="http://schemas.microsoft.com/office/drawing/2014/main" id="{0A611AE7-777F-44DB-BE53-E4ABCFADA725}"/>
              </a:ext>
            </a:extLst>
          </p:cNvPr>
          <p:cNvSpPr/>
          <p:nvPr/>
        </p:nvSpPr>
        <p:spPr>
          <a:xfrm>
            <a:off x="800389" y="1338263"/>
            <a:ext cx="1803249" cy="1645082"/>
          </a:xfrm>
          <a:prstGeom prst="rect">
            <a:avLst/>
          </a:prstGeom>
          <a:blipFill>
            <a:blip r:embed="rId3"/>
            <a:stretch>
              <a:fillRect l="-18994" r="-18784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îś1iḍé">
            <a:extLst>
              <a:ext uri="{FF2B5EF4-FFF2-40B4-BE49-F238E27FC236}">
                <a16:creationId xmlns:a16="http://schemas.microsoft.com/office/drawing/2014/main" id="{E8298E9D-824E-2301-304A-FA927CBF93F6}"/>
              </a:ext>
            </a:extLst>
          </p:cNvPr>
          <p:cNvSpPr/>
          <p:nvPr/>
        </p:nvSpPr>
        <p:spPr>
          <a:xfrm>
            <a:off x="789733" y="3128640"/>
            <a:ext cx="1795173" cy="2849299"/>
          </a:xfrm>
          <a:prstGeom prst="rect">
            <a:avLst/>
          </a:prstGeom>
          <a:blipFill>
            <a:blip r:embed="rId4"/>
            <a:stretch>
              <a:fillRect t="-8576" b="-8501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" name="íšļïdê">
            <a:extLst>
              <a:ext uri="{FF2B5EF4-FFF2-40B4-BE49-F238E27FC236}">
                <a16:creationId xmlns:a16="http://schemas.microsoft.com/office/drawing/2014/main" id="{98CC67D0-BC1B-208F-F19B-DF8629212C3F}"/>
              </a:ext>
            </a:extLst>
          </p:cNvPr>
          <p:cNvSpPr/>
          <p:nvPr/>
        </p:nvSpPr>
        <p:spPr>
          <a:xfrm>
            <a:off x="2900219" y="1318322"/>
            <a:ext cx="8608290" cy="4771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883F70C-742D-E85C-4069-608B32BA74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30" b="24000"/>
          <a:stretch>
            <a:fillRect/>
          </a:stretch>
        </p:blipFill>
        <p:spPr>
          <a:xfrm flipH="1">
            <a:off x="2900219" y="1318322"/>
            <a:ext cx="1690254" cy="238884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8C8894C-69FA-E91E-6EFF-41B67D0C9BE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30" b="24000"/>
          <a:stretch>
            <a:fillRect/>
          </a:stretch>
        </p:blipFill>
        <p:spPr>
          <a:xfrm rot="10800000" flipH="1">
            <a:off x="9679709" y="3522159"/>
            <a:ext cx="1828799" cy="2584650"/>
          </a:xfrm>
          <a:prstGeom prst="rect">
            <a:avLst/>
          </a:prstGeom>
        </p:spPr>
      </p:pic>
      <p:sp>
        <p:nvSpPr>
          <p:cNvPr id="12" name="iṩļïḓè">
            <a:extLst>
              <a:ext uri="{FF2B5EF4-FFF2-40B4-BE49-F238E27FC236}">
                <a16:creationId xmlns:a16="http://schemas.microsoft.com/office/drawing/2014/main" id="{275467D1-F26A-B708-7F51-996C9FA9498D}"/>
              </a:ext>
            </a:extLst>
          </p:cNvPr>
          <p:cNvSpPr txBox="1"/>
          <p:nvPr/>
        </p:nvSpPr>
        <p:spPr bwMode="auto">
          <a:xfrm>
            <a:off x="2900219" y="443292"/>
            <a:ext cx="7167418" cy="6502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dist"/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对象图核心元语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— 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链接（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Link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EC06A65-24A1-6806-8E2C-64C6720869AD}"/>
              </a:ext>
            </a:extLst>
          </p:cNvPr>
          <p:cNvSpPr txBox="1"/>
          <p:nvPr/>
        </p:nvSpPr>
        <p:spPr>
          <a:xfrm>
            <a:off x="3468961" y="2288864"/>
            <a:ext cx="8043461" cy="1711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         链接表示对象之间的关系，用直线连接两个对象。链接的表示方式可以是简单的直线，也可以添加角色名称和多重性。角色名称用于说明对象之间的关系性质，比如“借阅者”和“被借阅书籍”，而多重性则描述了对象之间的数量关系，例如一个读者可以借阅多本书。</a:t>
            </a:r>
            <a:endParaRPr lang="zh-CN" altLang="en-US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E757D9F-ABB7-F831-7413-D367C1D32F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9630" y="4272542"/>
            <a:ext cx="5292740" cy="9193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84424942"/>
      </p:ext>
    </p:ext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A6275-16C4-3947-D813-92866A090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F5F179A-7074-9569-0690-D74F399AFC89}"/>
              </a:ext>
            </a:extLst>
          </p:cNvPr>
          <p:cNvGrpSpPr/>
          <p:nvPr/>
        </p:nvGrpSpPr>
        <p:grpSpPr>
          <a:xfrm>
            <a:off x="-260094" y="-125884"/>
            <a:ext cx="8036992" cy="1966904"/>
            <a:chOff x="-437762" y="-173478"/>
            <a:chExt cx="8036992" cy="1966904"/>
          </a:xfrm>
        </p:grpSpPr>
        <p:sp>
          <p:nvSpPr>
            <p:cNvPr id="3" name="iṩļïḓè">
              <a:extLst>
                <a:ext uri="{FF2B5EF4-FFF2-40B4-BE49-F238E27FC236}">
                  <a16:creationId xmlns:a16="http://schemas.microsoft.com/office/drawing/2014/main" id="{42A0A281-2A38-4AC9-BB52-665027D1C0D5}"/>
                </a:ext>
              </a:extLst>
            </p:cNvPr>
            <p:cNvSpPr txBox="1"/>
            <p:nvPr/>
          </p:nvSpPr>
          <p:spPr bwMode="auto">
            <a:xfrm>
              <a:off x="415604" y="409464"/>
              <a:ext cx="6113604" cy="899068"/>
            </a:xfrm>
            <a:prstGeom prst="rect">
              <a:avLst/>
            </a:prstGeom>
            <a:solidFill>
              <a:srgbClr val="E9939A"/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dist"/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对象图核心元语</a:t>
              </a:r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 — 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属性插槽（</a:t>
              </a:r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Slot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）</a:t>
              </a: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42FF949F-CAFD-46B5-579F-5E98005B6F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5013422">
              <a:off x="179416" y="-790656"/>
              <a:ext cx="1138350" cy="2372706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CF58C704-1317-E045-6BE9-68885D702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16046210">
              <a:off x="6015844" y="210040"/>
              <a:ext cx="1026727" cy="2140045"/>
            </a:xfrm>
            <a:prstGeom prst="rect">
              <a:avLst/>
            </a:prstGeom>
          </p:spPr>
        </p:pic>
      </p:grpSp>
      <p:sp>
        <p:nvSpPr>
          <p:cNvPr id="47" name="ïsľïḑê">
            <a:extLst>
              <a:ext uri="{FF2B5EF4-FFF2-40B4-BE49-F238E27FC236}">
                <a16:creationId xmlns:a16="http://schemas.microsoft.com/office/drawing/2014/main" id="{04A8AF20-E270-AA49-39CB-818BAB6D4FCF}"/>
              </a:ext>
            </a:extLst>
          </p:cNvPr>
          <p:cNvSpPr txBox="1"/>
          <p:nvPr/>
        </p:nvSpPr>
        <p:spPr bwMode="auto">
          <a:xfrm>
            <a:off x="926260" y="2116960"/>
            <a:ext cx="755335" cy="707886"/>
          </a:xfrm>
          <a:prstGeom prst="rect">
            <a:avLst/>
          </a:prstGeom>
          <a:solidFill>
            <a:srgbClr val="E9939A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algn="ctr" defTabSz="914400"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2000" spc="-150"/>
              <a:t>0</a:t>
            </a:r>
            <a:r>
              <a:rPr lang="en-US" altLang="zh-CN" sz="100" spc="-150"/>
              <a:t> </a:t>
            </a:r>
            <a:r>
              <a:rPr lang="en-US" altLang="zh-CN" sz="2000" spc="-150"/>
              <a:t> 1</a:t>
            </a:r>
          </a:p>
        </p:txBody>
      </p:sp>
      <p:sp>
        <p:nvSpPr>
          <p:cNvPr id="44" name="ïṣḷïḑê">
            <a:extLst>
              <a:ext uri="{FF2B5EF4-FFF2-40B4-BE49-F238E27FC236}">
                <a16:creationId xmlns:a16="http://schemas.microsoft.com/office/drawing/2014/main" id="{FE7DC586-92C9-80F2-4123-11A7EBE0B77C}"/>
              </a:ext>
            </a:extLst>
          </p:cNvPr>
          <p:cNvSpPr/>
          <p:nvPr/>
        </p:nvSpPr>
        <p:spPr>
          <a:xfrm flipH="1">
            <a:off x="725501" y="3312208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42" name="îš1íḓê">
            <a:extLst>
              <a:ext uri="{FF2B5EF4-FFF2-40B4-BE49-F238E27FC236}">
                <a16:creationId xmlns:a16="http://schemas.microsoft.com/office/drawing/2014/main" id="{DE0E45D1-7589-3495-57F5-7E0EEC95E4B8}"/>
              </a:ext>
            </a:extLst>
          </p:cNvPr>
          <p:cNvSpPr/>
          <p:nvPr/>
        </p:nvSpPr>
        <p:spPr>
          <a:xfrm flipH="1">
            <a:off x="725501" y="3897393"/>
            <a:ext cx="180000" cy="180000"/>
          </a:xfrm>
          <a:prstGeom prst="roundRect">
            <a:avLst>
              <a:gd name="adj" fmla="val 0"/>
            </a:avLst>
          </a:prstGeom>
          <a:solidFill>
            <a:srgbClr val="E9939A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4400"/>
            <a:endParaRPr lang="zh-CN" altLang="en-US" sz="2000" b="1" spc="-150">
              <a:solidFill>
                <a:schemeClr val="bg1"/>
              </a:solidFill>
            </a:endParaRPr>
          </a:p>
        </p:txBody>
      </p:sp>
      <p:sp>
        <p:nvSpPr>
          <p:cNvPr id="29" name="iśľíḓe">
            <a:extLst>
              <a:ext uri="{FF2B5EF4-FFF2-40B4-BE49-F238E27FC236}">
                <a16:creationId xmlns:a16="http://schemas.microsoft.com/office/drawing/2014/main" id="{53969144-3506-78F6-12B7-06501DCB7FE8}"/>
              </a:ext>
            </a:extLst>
          </p:cNvPr>
          <p:cNvSpPr txBox="1"/>
          <p:nvPr/>
        </p:nvSpPr>
        <p:spPr bwMode="auto">
          <a:xfrm>
            <a:off x="6514260" y="2116960"/>
            <a:ext cx="755335" cy="707886"/>
          </a:xfrm>
          <a:prstGeom prst="rect">
            <a:avLst/>
          </a:prstGeom>
          <a:solidFill>
            <a:srgbClr val="E9939A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en-US"/>
            </a:defPPr>
            <a:lvl1pPr algn="ctr" defTabSz="914400">
              <a:defRPr sz="2000" b="1" spc="-15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/>
              <a:t>0 2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88A7ACD-F6C1-88B7-BE57-B3ACD8DC51A9}"/>
              </a:ext>
            </a:extLst>
          </p:cNvPr>
          <p:cNvCxnSpPr/>
          <p:nvPr/>
        </p:nvCxnSpPr>
        <p:spPr>
          <a:xfrm>
            <a:off x="926260" y="2818743"/>
            <a:ext cx="5122863" cy="0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6226E00-F2DF-34AE-DEEF-42A7FDAD1BD9}"/>
              </a:ext>
            </a:extLst>
          </p:cNvPr>
          <p:cNvCxnSpPr/>
          <p:nvPr/>
        </p:nvCxnSpPr>
        <p:spPr>
          <a:xfrm>
            <a:off x="6514260" y="2818743"/>
            <a:ext cx="4786055" cy="0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iṩļïḓè">
            <a:extLst>
              <a:ext uri="{FF2B5EF4-FFF2-40B4-BE49-F238E27FC236}">
                <a16:creationId xmlns:a16="http://schemas.microsoft.com/office/drawing/2014/main" id="{AED6942D-8AF5-7F52-A8BF-1665839DA72D}"/>
              </a:ext>
            </a:extLst>
          </p:cNvPr>
          <p:cNvSpPr txBox="1"/>
          <p:nvPr/>
        </p:nvSpPr>
        <p:spPr bwMode="auto">
          <a:xfrm>
            <a:off x="2084961" y="2259942"/>
            <a:ext cx="2012966" cy="374569"/>
          </a:xfrm>
          <a:prstGeom prst="roundRect">
            <a:avLst>
              <a:gd name="adj" fmla="val 50000"/>
            </a:avLst>
          </a:prstGeom>
          <a:solidFill>
            <a:srgbClr val="E9939A"/>
          </a:solidFill>
          <a:ln w="9525">
            <a:solidFill>
              <a:srgbClr val="E9939A"/>
            </a:solidFill>
            <a:miter lim="800000"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defTabSz="457200">
              <a:spcBef>
                <a:spcPct val="0"/>
              </a:spcBef>
            </a:pPr>
            <a:r>
              <a:rPr lang="zh-CN" altLang="en-US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基本介绍</a:t>
            </a:r>
            <a:endParaRPr lang="en-US" altLang="zh-CN" b="1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3" name="ïṣḷïḑê">
            <a:extLst>
              <a:ext uri="{FF2B5EF4-FFF2-40B4-BE49-F238E27FC236}">
                <a16:creationId xmlns:a16="http://schemas.microsoft.com/office/drawing/2014/main" id="{0C1CF540-DBBA-38C4-24B1-0F8837F78F27}"/>
              </a:ext>
            </a:extLst>
          </p:cNvPr>
          <p:cNvSpPr/>
          <p:nvPr/>
        </p:nvSpPr>
        <p:spPr>
          <a:xfrm flipH="1">
            <a:off x="724697" y="5012805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55" name="iṩļïḓè">
            <a:extLst>
              <a:ext uri="{FF2B5EF4-FFF2-40B4-BE49-F238E27FC236}">
                <a16:creationId xmlns:a16="http://schemas.microsoft.com/office/drawing/2014/main" id="{E5657815-AD03-E4F2-9F7E-DA5BCFCCAE4B}"/>
              </a:ext>
            </a:extLst>
          </p:cNvPr>
          <p:cNvSpPr txBox="1"/>
          <p:nvPr/>
        </p:nvSpPr>
        <p:spPr bwMode="auto">
          <a:xfrm>
            <a:off x="7734732" y="2259942"/>
            <a:ext cx="2012966" cy="374569"/>
          </a:xfrm>
          <a:prstGeom prst="roundRect">
            <a:avLst>
              <a:gd name="adj" fmla="val 50000"/>
            </a:avLst>
          </a:prstGeom>
          <a:solidFill>
            <a:srgbClr val="E9939A"/>
          </a:solidFill>
          <a:ln w="9525">
            <a:solidFill>
              <a:srgbClr val="E9939A"/>
            </a:solidFill>
            <a:miter lim="800000"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defTabSz="457200">
              <a:spcBef>
                <a:spcPct val="0"/>
              </a:spcBef>
            </a:pPr>
            <a:r>
              <a:rPr lang="zh-CN" altLang="en-US" sz="16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示例</a:t>
            </a:r>
            <a:endParaRPr lang="en-US" altLang="zh-CN" sz="1600" b="1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6" name="ïṣḷïḑê">
            <a:extLst>
              <a:ext uri="{FF2B5EF4-FFF2-40B4-BE49-F238E27FC236}">
                <a16:creationId xmlns:a16="http://schemas.microsoft.com/office/drawing/2014/main" id="{1381C81C-E180-128A-0667-3EE7805CC583}"/>
              </a:ext>
            </a:extLst>
          </p:cNvPr>
          <p:cNvSpPr/>
          <p:nvPr/>
        </p:nvSpPr>
        <p:spPr>
          <a:xfrm flipH="1">
            <a:off x="7015413" y="3315619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57" name="îš1íḓê">
            <a:extLst>
              <a:ext uri="{FF2B5EF4-FFF2-40B4-BE49-F238E27FC236}">
                <a16:creationId xmlns:a16="http://schemas.microsoft.com/office/drawing/2014/main" id="{5C516E17-EF98-D7EE-F204-1C19F8774236}"/>
              </a:ext>
            </a:extLst>
          </p:cNvPr>
          <p:cNvSpPr/>
          <p:nvPr/>
        </p:nvSpPr>
        <p:spPr>
          <a:xfrm flipH="1">
            <a:off x="7005950" y="4296620"/>
            <a:ext cx="180000" cy="180000"/>
          </a:xfrm>
          <a:prstGeom prst="roundRect">
            <a:avLst>
              <a:gd name="adj" fmla="val 0"/>
            </a:avLst>
          </a:prstGeom>
          <a:solidFill>
            <a:srgbClr val="E9939A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4400"/>
            <a:endParaRPr lang="zh-CN" altLang="en-US" sz="2000" b="1" spc="-150">
              <a:solidFill>
                <a:schemeClr val="bg1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09A3A67-A360-5DE1-ABF0-587BDE263BAA}"/>
              </a:ext>
            </a:extLst>
          </p:cNvPr>
          <p:cNvSpPr txBox="1"/>
          <p:nvPr/>
        </p:nvSpPr>
        <p:spPr>
          <a:xfrm>
            <a:off x="7418779" y="3178327"/>
            <a:ext cx="3258556" cy="704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单击此处添加文本，并调整颜色以及大小。单击此处添加文本。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64CF3F6-20CA-F455-99F7-E0BCD22B45CC}"/>
              </a:ext>
            </a:extLst>
          </p:cNvPr>
          <p:cNvSpPr txBox="1"/>
          <p:nvPr/>
        </p:nvSpPr>
        <p:spPr>
          <a:xfrm>
            <a:off x="7418779" y="4047711"/>
            <a:ext cx="3258556" cy="704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单击此处添加文本，并调整颜色以及大小。单击此处添加文本。</a:t>
            </a:r>
          </a:p>
        </p:txBody>
      </p:sp>
      <p:sp>
        <p:nvSpPr>
          <p:cNvPr id="60" name="ïṣḷïḑê">
            <a:extLst>
              <a:ext uri="{FF2B5EF4-FFF2-40B4-BE49-F238E27FC236}">
                <a16:creationId xmlns:a16="http://schemas.microsoft.com/office/drawing/2014/main" id="{212F1271-A209-3A64-5AE0-20418706CECC}"/>
              </a:ext>
            </a:extLst>
          </p:cNvPr>
          <p:cNvSpPr/>
          <p:nvPr/>
        </p:nvSpPr>
        <p:spPr>
          <a:xfrm flipH="1">
            <a:off x="7015413" y="5075869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3BC5C0D-04BF-F909-96A2-55E34463E770}"/>
              </a:ext>
            </a:extLst>
          </p:cNvPr>
          <p:cNvSpPr txBox="1"/>
          <p:nvPr/>
        </p:nvSpPr>
        <p:spPr>
          <a:xfrm>
            <a:off x="7418779" y="4938577"/>
            <a:ext cx="3258556" cy="704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单击此处添加文本，并调整颜色以及大小。单击此处添加文本。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A2A2D5B-0BF3-6973-B444-0248A0FFC6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258" y="2907907"/>
            <a:ext cx="5004057" cy="331487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778E50B-00B0-165B-6775-08564C9A34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7095" y="3273551"/>
            <a:ext cx="4807568" cy="34401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F3BBFDC-7802-6A53-82DF-59A106F824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6587" y="3865234"/>
            <a:ext cx="977271" cy="24431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533371C-F2F2-DADE-71E5-F16043F513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4750" y="4233672"/>
            <a:ext cx="876345" cy="57788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67349B9-99DA-96C8-6140-DE32F48107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63858" y="4246373"/>
            <a:ext cx="781090" cy="56517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6D10CDC-E540-F9F3-95C9-AC47EE0AFE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6380" y="4935672"/>
            <a:ext cx="642144" cy="33426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5A4A5E98-4C78-1BCE-EA21-69306A3B48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9968" y="5440362"/>
            <a:ext cx="2387723" cy="6350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00088348"/>
      </p:ext>
    </p:ext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5" grpId="0" animBg="1"/>
      <p:bldP spid="58" grpId="0"/>
      <p:bldP spid="59" grpId="0"/>
      <p:bldP spid="6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šḷîďè"/>
          <p:cNvSpPr/>
          <p:nvPr/>
        </p:nvSpPr>
        <p:spPr>
          <a:xfrm>
            <a:off x="1414175" y="3359511"/>
            <a:ext cx="2822222" cy="575733"/>
          </a:xfrm>
          <a:prstGeom prst="rect">
            <a:avLst/>
          </a:prstGeom>
          <a:noFill/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iṥḻïḓê"/>
          <p:cNvSpPr/>
          <p:nvPr/>
        </p:nvSpPr>
        <p:spPr>
          <a:xfrm>
            <a:off x="2710469" y="2159085"/>
            <a:ext cx="2166975" cy="3270271"/>
          </a:xfrm>
          <a:prstGeom prst="roundRect">
            <a:avLst>
              <a:gd name="adj" fmla="val 2766"/>
            </a:avLst>
          </a:prstGeom>
          <a:solidFill>
            <a:schemeClr val="bg1"/>
          </a:solidFill>
          <a:ln>
            <a:noFill/>
          </a:ln>
          <a:effectLst>
            <a:outerShdw blurRad="431800" dist="50800" dir="5400000" algn="ctr" rotWithShape="0">
              <a:srgbClr val="000000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ïSḷïḑe"/>
          <p:cNvSpPr/>
          <p:nvPr/>
        </p:nvSpPr>
        <p:spPr bwMode="auto">
          <a:xfrm>
            <a:off x="3703482" y="2606708"/>
            <a:ext cx="336133" cy="409206"/>
          </a:xfrm>
          <a:custGeom>
            <a:avLst/>
            <a:gdLst>
              <a:gd name="connsiteX0" fmla="*/ 286102 w 438150"/>
              <a:gd name="connsiteY0" fmla="*/ 621 h 533400"/>
              <a:gd name="connsiteX1" fmla="*/ 286102 w 438150"/>
              <a:gd name="connsiteY1" fmla="*/ 153021 h 533400"/>
              <a:gd name="connsiteX2" fmla="*/ 438502 w 438150"/>
              <a:gd name="connsiteY2" fmla="*/ 153021 h 533400"/>
              <a:gd name="connsiteX3" fmla="*/ 438502 w 438150"/>
              <a:gd name="connsiteY3" fmla="*/ 534021 h 533400"/>
              <a:gd name="connsiteX4" fmla="*/ 352 w 438150"/>
              <a:gd name="connsiteY4" fmla="*/ 534021 h 533400"/>
              <a:gd name="connsiteX5" fmla="*/ 352 w 438150"/>
              <a:gd name="connsiteY5" fmla="*/ 621 h 533400"/>
              <a:gd name="connsiteX6" fmla="*/ 286102 w 438150"/>
              <a:gd name="connsiteY6" fmla="*/ 621 h 533400"/>
              <a:gd name="connsiteX7" fmla="*/ 248002 w 438150"/>
              <a:gd name="connsiteY7" fmla="*/ 200646 h 533400"/>
              <a:gd name="connsiteX8" fmla="*/ 152752 w 438150"/>
              <a:gd name="connsiteY8" fmla="*/ 200646 h 533400"/>
              <a:gd name="connsiteX9" fmla="*/ 152752 w 438150"/>
              <a:gd name="connsiteY9" fmla="*/ 410196 h 533400"/>
              <a:gd name="connsiteX10" fmla="*/ 171802 w 438150"/>
              <a:gd name="connsiteY10" fmla="*/ 410196 h 533400"/>
              <a:gd name="connsiteX11" fmla="*/ 171802 w 438150"/>
              <a:gd name="connsiteY11" fmla="*/ 314946 h 533400"/>
              <a:gd name="connsiteX12" fmla="*/ 248002 w 438150"/>
              <a:gd name="connsiteY12" fmla="*/ 314946 h 533400"/>
              <a:gd name="connsiteX13" fmla="*/ 250098 w 438150"/>
              <a:gd name="connsiteY13" fmla="*/ 314946 h 533400"/>
              <a:gd name="connsiteX14" fmla="*/ 305152 w 438150"/>
              <a:gd name="connsiteY14" fmla="*/ 257796 h 533400"/>
              <a:gd name="connsiteX15" fmla="*/ 248002 w 438150"/>
              <a:gd name="connsiteY15" fmla="*/ 200646 h 533400"/>
              <a:gd name="connsiteX16" fmla="*/ 248002 w 438150"/>
              <a:gd name="connsiteY16" fmla="*/ 200646 h 533400"/>
              <a:gd name="connsiteX17" fmla="*/ 248002 w 438150"/>
              <a:gd name="connsiteY17" fmla="*/ 219696 h 533400"/>
              <a:gd name="connsiteX18" fmla="*/ 286102 w 438150"/>
              <a:gd name="connsiteY18" fmla="*/ 257796 h 533400"/>
              <a:gd name="connsiteX19" fmla="*/ 248002 w 438150"/>
              <a:gd name="connsiteY19" fmla="*/ 295896 h 533400"/>
              <a:gd name="connsiteX20" fmla="*/ 248002 w 438150"/>
              <a:gd name="connsiteY20" fmla="*/ 295896 h 533400"/>
              <a:gd name="connsiteX21" fmla="*/ 171802 w 438150"/>
              <a:gd name="connsiteY21" fmla="*/ 295896 h 533400"/>
              <a:gd name="connsiteX22" fmla="*/ 171802 w 438150"/>
              <a:gd name="connsiteY22" fmla="*/ 219696 h 533400"/>
              <a:gd name="connsiteX23" fmla="*/ 248002 w 438150"/>
              <a:gd name="connsiteY23" fmla="*/ 219696 h 533400"/>
              <a:gd name="connsiteX24" fmla="*/ 428977 w 438150"/>
              <a:gd name="connsiteY24" fmla="*/ 133971 h 533400"/>
              <a:gd name="connsiteX25" fmla="*/ 305152 w 438150"/>
              <a:gd name="connsiteY25" fmla="*/ 133971 h 533400"/>
              <a:gd name="connsiteX26" fmla="*/ 305152 w 438150"/>
              <a:gd name="connsiteY26" fmla="*/ 10146 h 533400"/>
              <a:gd name="connsiteX27" fmla="*/ 428977 w 438150"/>
              <a:gd name="connsiteY27" fmla="*/ 133971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38150" h="533400">
                <a:moveTo>
                  <a:pt x="286102" y="621"/>
                </a:moveTo>
                <a:lnTo>
                  <a:pt x="286102" y="153021"/>
                </a:lnTo>
                <a:lnTo>
                  <a:pt x="438502" y="153021"/>
                </a:lnTo>
                <a:lnTo>
                  <a:pt x="438502" y="534021"/>
                </a:lnTo>
                <a:lnTo>
                  <a:pt x="352" y="534021"/>
                </a:lnTo>
                <a:lnTo>
                  <a:pt x="352" y="621"/>
                </a:lnTo>
                <a:lnTo>
                  <a:pt x="286102" y="621"/>
                </a:lnTo>
                <a:close/>
                <a:moveTo>
                  <a:pt x="248002" y="200646"/>
                </a:moveTo>
                <a:lnTo>
                  <a:pt x="152752" y="200646"/>
                </a:lnTo>
                <a:lnTo>
                  <a:pt x="152752" y="410196"/>
                </a:lnTo>
                <a:lnTo>
                  <a:pt x="171802" y="410196"/>
                </a:lnTo>
                <a:lnTo>
                  <a:pt x="171802" y="314946"/>
                </a:lnTo>
                <a:lnTo>
                  <a:pt x="248002" y="314946"/>
                </a:lnTo>
                <a:lnTo>
                  <a:pt x="250098" y="314946"/>
                </a:lnTo>
                <a:cubicBezTo>
                  <a:pt x="280673" y="313803"/>
                  <a:pt x="305152" y="288657"/>
                  <a:pt x="305152" y="257796"/>
                </a:cubicBezTo>
                <a:cubicBezTo>
                  <a:pt x="305152" y="226268"/>
                  <a:pt x="279530" y="200646"/>
                  <a:pt x="248002" y="200646"/>
                </a:cubicBezTo>
                <a:lnTo>
                  <a:pt x="248002" y="200646"/>
                </a:lnTo>
                <a:close/>
                <a:moveTo>
                  <a:pt x="248002" y="219696"/>
                </a:moveTo>
                <a:cubicBezTo>
                  <a:pt x="269052" y="219696"/>
                  <a:pt x="286102" y="236746"/>
                  <a:pt x="286102" y="257796"/>
                </a:cubicBezTo>
                <a:cubicBezTo>
                  <a:pt x="286102" y="278846"/>
                  <a:pt x="269052" y="295896"/>
                  <a:pt x="248002" y="295896"/>
                </a:cubicBezTo>
                <a:lnTo>
                  <a:pt x="248002" y="295896"/>
                </a:lnTo>
                <a:lnTo>
                  <a:pt x="171802" y="295896"/>
                </a:lnTo>
                <a:lnTo>
                  <a:pt x="171802" y="219696"/>
                </a:lnTo>
                <a:lnTo>
                  <a:pt x="248002" y="219696"/>
                </a:lnTo>
                <a:close/>
                <a:moveTo>
                  <a:pt x="428977" y="133971"/>
                </a:moveTo>
                <a:lnTo>
                  <a:pt x="305152" y="133971"/>
                </a:lnTo>
                <a:lnTo>
                  <a:pt x="305152" y="10146"/>
                </a:lnTo>
                <a:lnTo>
                  <a:pt x="428977" y="133971"/>
                </a:lnTo>
                <a:close/>
              </a:path>
            </a:pathLst>
          </a:cu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-46113" y="5184"/>
            <a:ext cx="4544222" cy="1668297"/>
            <a:chOff x="-46113" y="5185"/>
            <a:chExt cx="3513942" cy="1241614"/>
          </a:xfrm>
        </p:grpSpPr>
        <p:sp>
          <p:nvSpPr>
            <p:cNvPr id="18" name="iṩļïḓè"/>
            <p:cNvSpPr txBox="1"/>
            <p:nvPr/>
          </p:nvSpPr>
          <p:spPr bwMode="auto">
            <a:xfrm>
              <a:off x="415605" y="409465"/>
              <a:ext cx="2475194" cy="421718"/>
            </a:xfrm>
            <a:prstGeom prst="rect">
              <a:avLst/>
            </a:prstGeom>
            <a:solidFill>
              <a:srgbClr val="E9939A"/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rmAutofit fontScale="925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dist"/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对象图 </a:t>
              </a:r>
              <a:r>
                <a:rPr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— </a:t>
              </a: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典型应用场景</a:t>
              </a:r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5013422">
              <a:off x="353462" y="-394390"/>
              <a:ext cx="736994" cy="1536144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16046210">
              <a:off x="2410926" y="189895"/>
              <a:ext cx="685336" cy="1428471"/>
            </a:xfrm>
            <a:prstGeom prst="rect">
              <a:avLst/>
            </a:prstGeom>
          </p:spPr>
        </p:pic>
      </p:grpSp>
      <p:sp>
        <p:nvSpPr>
          <p:cNvPr id="27" name="iṩļïḓè"/>
          <p:cNvSpPr txBox="1"/>
          <p:nvPr/>
        </p:nvSpPr>
        <p:spPr bwMode="auto">
          <a:xfrm>
            <a:off x="307232" y="3672311"/>
            <a:ext cx="2213886" cy="499750"/>
          </a:xfrm>
          <a:prstGeom prst="rect">
            <a:avLst/>
          </a:prstGeom>
          <a:solidFill>
            <a:srgbClr val="E9939A"/>
          </a:solidFill>
          <a:ln w="9525">
            <a:noFill/>
            <a:miter lim="800000"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什么时候用对象图？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710470" y="3209818"/>
            <a:ext cx="2356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需求分析与设计验证</a:t>
            </a:r>
            <a:r>
              <a:rPr lang="zh-CN" altLang="en-US" dirty="0"/>
              <a:t> </a:t>
            </a:r>
            <a:endParaRPr lang="en-US" altLang="zh-CN" dirty="0"/>
          </a:p>
        </p:txBody>
      </p:sp>
      <p:sp>
        <p:nvSpPr>
          <p:cNvPr id="2" name="iṥḻïḓê">
            <a:extLst>
              <a:ext uri="{FF2B5EF4-FFF2-40B4-BE49-F238E27FC236}">
                <a16:creationId xmlns:a16="http://schemas.microsoft.com/office/drawing/2014/main" id="{6C6CC9DF-F96F-14AA-5F90-5CE74A7DCE76}"/>
              </a:ext>
            </a:extLst>
          </p:cNvPr>
          <p:cNvSpPr/>
          <p:nvPr/>
        </p:nvSpPr>
        <p:spPr>
          <a:xfrm>
            <a:off x="5085552" y="2131562"/>
            <a:ext cx="2219901" cy="3270271"/>
          </a:xfrm>
          <a:prstGeom prst="roundRect">
            <a:avLst>
              <a:gd name="adj" fmla="val 2766"/>
            </a:avLst>
          </a:prstGeom>
          <a:solidFill>
            <a:schemeClr val="bg1"/>
          </a:solidFill>
          <a:ln>
            <a:noFill/>
          </a:ln>
          <a:effectLst>
            <a:outerShdw blurRad="431800" dist="50800" dir="5400000" algn="ctr" rotWithShape="0">
              <a:srgbClr val="000000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iṥḻïḓê">
            <a:extLst>
              <a:ext uri="{FF2B5EF4-FFF2-40B4-BE49-F238E27FC236}">
                <a16:creationId xmlns:a16="http://schemas.microsoft.com/office/drawing/2014/main" id="{7164EA54-42D1-9FA0-A35C-61CB45EA6D5C}"/>
              </a:ext>
            </a:extLst>
          </p:cNvPr>
          <p:cNvSpPr/>
          <p:nvPr/>
        </p:nvSpPr>
        <p:spPr>
          <a:xfrm>
            <a:off x="7513561" y="2131561"/>
            <a:ext cx="1997530" cy="3270271"/>
          </a:xfrm>
          <a:prstGeom prst="roundRect">
            <a:avLst>
              <a:gd name="adj" fmla="val 2766"/>
            </a:avLst>
          </a:prstGeom>
          <a:solidFill>
            <a:schemeClr val="bg1"/>
          </a:solidFill>
          <a:ln>
            <a:noFill/>
          </a:ln>
          <a:effectLst>
            <a:outerShdw blurRad="431800" dist="50800" dir="5400000" algn="ctr" rotWithShape="0">
              <a:srgbClr val="000000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iṥḻïḓê">
            <a:extLst>
              <a:ext uri="{FF2B5EF4-FFF2-40B4-BE49-F238E27FC236}">
                <a16:creationId xmlns:a16="http://schemas.microsoft.com/office/drawing/2014/main" id="{34F42D7D-E088-78D3-77D4-7E18F24339EC}"/>
              </a:ext>
            </a:extLst>
          </p:cNvPr>
          <p:cNvSpPr/>
          <p:nvPr/>
        </p:nvSpPr>
        <p:spPr>
          <a:xfrm>
            <a:off x="9680536" y="2131563"/>
            <a:ext cx="1997530" cy="3270271"/>
          </a:xfrm>
          <a:prstGeom prst="roundRect">
            <a:avLst>
              <a:gd name="adj" fmla="val 2766"/>
            </a:avLst>
          </a:prstGeom>
          <a:solidFill>
            <a:schemeClr val="bg1"/>
          </a:solidFill>
          <a:ln>
            <a:noFill/>
          </a:ln>
          <a:effectLst>
            <a:outerShdw blurRad="431800" dist="50800" dir="5400000" algn="ctr" rotWithShape="0">
              <a:srgbClr val="000000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îṡlíḍè"/>
          <p:cNvSpPr/>
          <p:nvPr/>
        </p:nvSpPr>
        <p:spPr bwMode="auto">
          <a:xfrm>
            <a:off x="5947620" y="2511286"/>
            <a:ext cx="409206" cy="401898"/>
          </a:xfrm>
          <a:custGeom>
            <a:avLst/>
            <a:gdLst>
              <a:gd name="connsiteX0" fmla="*/ 372339 w 533400"/>
              <a:gd name="connsiteY0" fmla="*/ 276846 h 523875"/>
              <a:gd name="connsiteX1" fmla="*/ 372339 w 533400"/>
              <a:gd name="connsiteY1" fmla="*/ 524496 h 523875"/>
              <a:gd name="connsiteX2" fmla="*/ 162789 w 533400"/>
              <a:gd name="connsiteY2" fmla="*/ 524496 h 523875"/>
              <a:gd name="connsiteX3" fmla="*/ 162789 w 533400"/>
              <a:gd name="connsiteY3" fmla="*/ 276846 h 523875"/>
              <a:gd name="connsiteX4" fmla="*/ 372339 w 533400"/>
              <a:gd name="connsiteY4" fmla="*/ 276846 h 523875"/>
              <a:gd name="connsiteX5" fmla="*/ 143739 w 533400"/>
              <a:gd name="connsiteY5" fmla="*/ 114921 h 523875"/>
              <a:gd name="connsiteX6" fmla="*/ 143739 w 533400"/>
              <a:gd name="connsiteY6" fmla="*/ 153021 h 523875"/>
              <a:gd name="connsiteX7" fmla="*/ 391389 w 533400"/>
              <a:gd name="connsiteY7" fmla="*/ 153021 h 523875"/>
              <a:gd name="connsiteX8" fmla="*/ 391389 w 533400"/>
              <a:gd name="connsiteY8" fmla="*/ 114921 h 523875"/>
              <a:gd name="connsiteX9" fmla="*/ 534264 w 533400"/>
              <a:gd name="connsiteY9" fmla="*/ 114921 h 523875"/>
              <a:gd name="connsiteX10" fmla="*/ 534264 w 533400"/>
              <a:gd name="connsiteY10" fmla="*/ 410196 h 523875"/>
              <a:gd name="connsiteX11" fmla="*/ 391389 w 533400"/>
              <a:gd name="connsiteY11" fmla="*/ 410196 h 523875"/>
              <a:gd name="connsiteX12" fmla="*/ 391389 w 533400"/>
              <a:gd name="connsiteY12" fmla="*/ 257796 h 523875"/>
              <a:gd name="connsiteX13" fmla="*/ 143739 w 533400"/>
              <a:gd name="connsiteY13" fmla="*/ 257796 h 523875"/>
              <a:gd name="connsiteX14" fmla="*/ 143739 w 533400"/>
              <a:gd name="connsiteY14" fmla="*/ 410196 h 523875"/>
              <a:gd name="connsiteX15" fmla="*/ 864 w 533400"/>
              <a:gd name="connsiteY15" fmla="*/ 410196 h 523875"/>
              <a:gd name="connsiteX16" fmla="*/ 864 w 533400"/>
              <a:gd name="connsiteY16" fmla="*/ 186359 h 523875"/>
              <a:gd name="connsiteX17" fmla="*/ 67539 w 533400"/>
              <a:gd name="connsiteY17" fmla="*/ 114921 h 523875"/>
              <a:gd name="connsiteX18" fmla="*/ 143739 w 533400"/>
              <a:gd name="connsiteY18" fmla="*/ 114921 h 523875"/>
              <a:gd name="connsiteX19" fmla="*/ 462827 w 533400"/>
              <a:gd name="connsiteY19" fmla="*/ 172071 h 523875"/>
              <a:gd name="connsiteX20" fmla="*/ 448539 w 533400"/>
              <a:gd name="connsiteY20" fmla="*/ 186359 h 523875"/>
              <a:gd name="connsiteX21" fmla="*/ 462827 w 533400"/>
              <a:gd name="connsiteY21" fmla="*/ 200646 h 523875"/>
              <a:gd name="connsiteX22" fmla="*/ 477114 w 533400"/>
              <a:gd name="connsiteY22" fmla="*/ 186359 h 523875"/>
              <a:gd name="connsiteX23" fmla="*/ 462827 w 533400"/>
              <a:gd name="connsiteY23" fmla="*/ 172071 h 523875"/>
              <a:gd name="connsiteX24" fmla="*/ 372339 w 533400"/>
              <a:gd name="connsiteY24" fmla="*/ 621 h 523875"/>
              <a:gd name="connsiteX25" fmla="*/ 372339 w 533400"/>
              <a:gd name="connsiteY25" fmla="*/ 133971 h 523875"/>
              <a:gd name="connsiteX26" fmla="*/ 162789 w 533400"/>
              <a:gd name="connsiteY26" fmla="*/ 133971 h 523875"/>
              <a:gd name="connsiteX27" fmla="*/ 162789 w 533400"/>
              <a:gd name="connsiteY27" fmla="*/ 621 h 523875"/>
              <a:gd name="connsiteX28" fmla="*/ 372339 w 533400"/>
              <a:gd name="connsiteY28" fmla="*/ 621 h 5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533400" h="523875">
                <a:moveTo>
                  <a:pt x="372339" y="276846"/>
                </a:moveTo>
                <a:lnTo>
                  <a:pt x="372339" y="524496"/>
                </a:lnTo>
                <a:lnTo>
                  <a:pt x="162789" y="524496"/>
                </a:lnTo>
                <a:lnTo>
                  <a:pt x="162789" y="276846"/>
                </a:lnTo>
                <a:lnTo>
                  <a:pt x="372339" y="276846"/>
                </a:lnTo>
                <a:close/>
                <a:moveTo>
                  <a:pt x="143739" y="114921"/>
                </a:moveTo>
                <a:lnTo>
                  <a:pt x="143739" y="153021"/>
                </a:lnTo>
                <a:lnTo>
                  <a:pt x="391389" y="153021"/>
                </a:lnTo>
                <a:lnTo>
                  <a:pt x="391389" y="114921"/>
                </a:lnTo>
                <a:lnTo>
                  <a:pt x="534264" y="114921"/>
                </a:lnTo>
                <a:lnTo>
                  <a:pt x="534264" y="410196"/>
                </a:lnTo>
                <a:lnTo>
                  <a:pt x="391389" y="410196"/>
                </a:lnTo>
                <a:lnTo>
                  <a:pt x="391389" y="257796"/>
                </a:lnTo>
                <a:lnTo>
                  <a:pt x="143739" y="257796"/>
                </a:lnTo>
                <a:lnTo>
                  <a:pt x="143739" y="410196"/>
                </a:lnTo>
                <a:lnTo>
                  <a:pt x="864" y="410196"/>
                </a:lnTo>
                <a:lnTo>
                  <a:pt x="864" y="186359"/>
                </a:lnTo>
                <a:lnTo>
                  <a:pt x="67539" y="114921"/>
                </a:lnTo>
                <a:lnTo>
                  <a:pt x="143739" y="114921"/>
                </a:lnTo>
                <a:close/>
                <a:moveTo>
                  <a:pt x="462827" y="172071"/>
                </a:moveTo>
                <a:cubicBezTo>
                  <a:pt x="454921" y="172071"/>
                  <a:pt x="448539" y="178453"/>
                  <a:pt x="448539" y="186359"/>
                </a:cubicBezTo>
                <a:cubicBezTo>
                  <a:pt x="448539" y="194264"/>
                  <a:pt x="454921" y="200646"/>
                  <a:pt x="462827" y="200646"/>
                </a:cubicBezTo>
                <a:cubicBezTo>
                  <a:pt x="470732" y="200646"/>
                  <a:pt x="477114" y="194264"/>
                  <a:pt x="477114" y="186359"/>
                </a:cubicBezTo>
                <a:cubicBezTo>
                  <a:pt x="477114" y="178453"/>
                  <a:pt x="470732" y="172071"/>
                  <a:pt x="462827" y="172071"/>
                </a:cubicBezTo>
                <a:close/>
                <a:moveTo>
                  <a:pt x="372339" y="621"/>
                </a:moveTo>
                <a:lnTo>
                  <a:pt x="372339" y="133971"/>
                </a:lnTo>
                <a:lnTo>
                  <a:pt x="162789" y="133971"/>
                </a:lnTo>
                <a:lnTo>
                  <a:pt x="162789" y="621"/>
                </a:lnTo>
                <a:lnTo>
                  <a:pt x="372339" y="621"/>
                </a:lnTo>
                <a:close/>
              </a:path>
            </a:pathLst>
          </a:cu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ïṧľiḓê"/>
          <p:cNvSpPr/>
          <p:nvPr/>
        </p:nvSpPr>
        <p:spPr bwMode="auto">
          <a:xfrm>
            <a:off x="10564475" y="2596580"/>
            <a:ext cx="300451" cy="409206"/>
          </a:xfrm>
          <a:custGeom>
            <a:avLst/>
            <a:gdLst>
              <a:gd name="connsiteX0" fmla="*/ 86973 w 381000"/>
              <a:gd name="connsiteY0" fmla="*/ 38721 h 514350"/>
              <a:gd name="connsiteX1" fmla="*/ 86973 w 381000"/>
              <a:gd name="connsiteY1" fmla="*/ 95871 h 514350"/>
              <a:gd name="connsiteX2" fmla="*/ 296523 w 381000"/>
              <a:gd name="connsiteY2" fmla="*/ 95871 h 514350"/>
              <a:gd name="connsiteX3" fmla="*/ 296523 w 381000"/>
              <a:gd name="connsiteY3" fmla="*/ 38721 h 514350"/>
              <a:gd name="connsiteX4" fmla="*/ 382248 w 381000"/>
              <a:gd name="connsiteY4" fmla="*/ 38721 h 514350"/>
              <a:gd name="connsiteX5" fmla="*/ 382248 w 381000"/>
              <a:gd name="connsiteY5" fmla="*/ 514971 h 514350"/>
              <a:gd name="connsiteX6" fmla="*/ 1248 w 381000"/>
              <a:gd name="connsiteY6" fmla="*/ 514971 h 514350"/>
              <a:gd name="connsiteX7" fmla="*/ 1248 w 381000"/>
              <a:gd name="connsiteY7" fmla="*/ 38721 h 514350"/>
              <a:gd name="connsiteX8" fmla="*/ 86973 w 381000"/>
              <a:gd name="connsiteY8" fmla="*/ 38721 h 514350"/>
              <a:gd name="connsiteX9" fmla="*/ 191748 w 381000"/>
              <a:gd name="connsiteY9" fmla="*/ 333996 h 514350"/>
              <a:gd name="connsiteX10" fmla="*/ 77448 w 381000"/>
              <a:gd name="connsiteY10" fmla="*/ 333996 h 514350"/>
              <a:gd name="connsiteX11" fmla="*/ 77448 w 381000"/>
              <a:gd name="connsiteY11" fmla="*/ 353046 h 514350"/>
              <a:gd name="connsiteX12" fmla="*/ 191748 w 381000"/>
              <a:gd name="connsiteY12" fmla="*/ 353046 h 514350"/>
              <a:gd name="connsiteX13" fmla="*/ 191748 w 381000"/>
              <a:gd name="connsiteY13" fmla="*/ 333996 h 514350"/>
              <a:gd name="connsiteX14" fmla="*/ 306048 w 381000"/>
              <a:gd name="connsiteY14" fmla="*/ 257796 h 514350"/>
              <a:gd name="connsiteX15" fmla="*/ 77448 w 381000"/>
              <a:gd name="connsiteY15" fmla="*/ 257796 h 514350"/>
              <a:gd name="connsiteX16" fmla="*/ 77448 w 381000"/>
              <a:gd name="connsiteY16" fmla="*/ 276846 h 514350"/>
              <a:gd name="connsiteX17" fmla="*/ 306048 w 381000"/>
              <a:gd name="connsiteY17" fmla="*/ 276846 h 514350"/>
              <a:gd name="connsiteX18" fmla="*/ 306048 w 381000"/>
              <a:gd name="connsiteY18" fmla="*/ 257796 h 514350"/>
              <a:gd name="connsiteX19" fmla="*/ 306048 w 381000"/>
              <a:gd name="connsiteY19" fmla="*/ 181596 h 514350"/>
              <a:gd name="connsiteX20" fmla="*/ 77448 w 381000"/>
              <a:gd name="connsiteY20" fmla="*/ 181596 h 514350"/>
              <a:gd name="connsiteX21" fmla="*/ 77448 w 381000"/>
              <a:gd name="connsiteY21" fmla="*/ 200646 h 514350"/>
              <a:gd name="connsiteX22" fmla="*/ 306048 w 381000"/>
              <a:gd name="connsiteY22" fmla="*/ 200646 h 514350"/>
              <a:gd name="connsiteX23" fmla="*/ 306048 w 381000"/>
              <a:gd name="connsiteY23" fmla="*/ 181596 h 514350"/>
              <a:gd name="connsiteX24" fmla="*/ 277473 w 381000"/>
              <a:gd name="connsiteY24" fmla="*/ 621 h 514350"/>
              <a:gd name="connsiteX25" fmla="*/ 277473 w 381000"/>
              <a:gd name="connsiteY25" fmla="*/ 76821 h 514350"/>
              <a:gd name="connsiteX26" fmla="*/ 106023 w 381000"/>
              <a:gd name="connsiteY26" fmla="*/ 76821 h 514350"/>
              <a:gd name="connsiteX27" fmla="*/ 106023 w 381000"/>
              <a:gd name="connsiteY27" fmla="*/ 621 h 514350"/>
              <a:gd name="connsiteX28" fmla="*/ 277473 w 381000"/>
              <a:gd name="connsiteY28" fmla="*/ 621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381000" h="514350">
                <a:moveTo>
                  <a:pt x="86973" y="38721"/>
                </a:moveTo>
                <a:lnTo>
                  <a:pt x="86973" y="95871"/>
                </a:lnTo>
                <a:lnTo>
                  <a:pt x="296523" y="95871"/>
                </a:lnTo>
                <a:lnTo>
                  <a:pt x="296523" y="38721"/>
                </a:lnTo>
                <a:lnTo>
                  <a:pt x="382248" y="38721"/>
                </a:lnTo>
                <a:lnTo>
                  <a:pt x="382248" y="514971"/>
                </a:lnTo>
                <a:lnTo>
                  <a:pt x="1248" y="514971"/>
                </a:lnTo>
                <a:lnTo>
                  <a:pt x="1248" y="38721"/>
                </a:lnTo>
                <a:lnTo>
                  <a:pt x="86973" y="38721"/>
                </a:lnTo>
                <a:close/>
                <a:moveTo>
                  <a:pt x="191748" y="333996"/>
                </a:moveTo>
                <a:lnTo>
                  <a:pt x="77448" y="333996"/>
                </a:lnTo>
                <a:lnTo>
                  <a:pt x="77448" y="353046"/>
                </a:lnTo>
                <a:lnTo>
                  <a:pt x="191748" y="353046"/>
                </a:lnTo>
                <a:lnTo>
                  <a:pt x="191748" y="333996"/>
                </a:lnTo>
                <a:close/>
                <a:moveTo>
                  <a:pt x="306048" y="257796"/>
                </a:moveTo>
                <a:lnTo>
                  <a:pt x="77448" y="257796"/>
                </a:lnTo>
                <a:lnTo>
                  <a:pt x="77448" y="276846"/>
                </a:lnTo>
                <a:lnTo>
                  <a:pt x="306048" y="276846"/>
                </a:lnTo>
                <a:lnTo>
                  <a:pt x="306048" y="257796"/>
                </a:lnTo>
                <a:close/>
                <a:moveTo>
                  <a:pt x="306048" y="181596"/>
                </a:moveTo>
                <a:lnTo>
                  <a:pt x="77448" y="181596"/>
                </a:lnTo>
                <a:lnTo>
                  <a:pt x="77448" y="200646"/>
                </a:lnTo>
                <a:lnTo>
                  <a:pt x="306048" y="200646"/>
                </a:lnTo>
                <a:lnTo>
                  <a:pt x="306048" y="181596"/>
                </a:lnTo>
                <a:close/>
                <a:moveTo>
                  <a:pt x="277473" y="621"/>
                </a:moveTo>
                <a:lnTo>
                  <a:pt x="277473" y="76821"/>
                </a:lnTo>
                <a:lnTo>
                  <a:pt x="106023" y="76821"/>
                </a:lnTo>
                <a:lnTo>
                  <a:pt x="106023" y="621"/>
                </a:lnTo>
                <a:lnTo>
                  <a:pt x="277473" y="621"/>
                </a:lnTo>
                <a:close/>
              </a:path>
            </a:pathLst>
          </a:cu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104880" y="3209818"/>
            <a:ext cx="208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沟通与教学</a:t>
            </a:r>
            <a:r>
              <a:rPr lang="zh-CN" altLang="en-US" dirty="0"/>
              <a:t> </a:t>
            </a:r>
            <a:endParaRPr lang="en-US" altLang="zh-CN" dirty="0"/>
          </a:p>
        </p:txBody>
      </p:sp>
      <p:sp>
        <p:nvSpPr>
          <p:cNvPr id="29" name="文本框 28"/>
          <p:cNvSpPr txBox="1"/>
          <p:nvPr/>
        </p:nvSpPr>
        <p:spPr>
          <a:xfrm>
            <a:off x="5093008" y="3209818"/>
            <a:ext cx="236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系统调试与问题排查</a:t>
            </a:r>
            <a:r>
              <a:rPr lang="zh-CN" altLang="en-US" dirty="0"/>
              <a:t> </a:t>
            </a:r>
            <a:endParaRPr lang="en-US" altLang="zh-CN" dirty="0"/>
          </a:p>
        </p:txBody>
      </p:sp>
      <p:sp>
        <p:nvSpPr>
          <p:cNvPr id="6" name="îṡlíḍè">
            <a:extLst>
              <a:ext uri="{FF2B5EF4-FFF2-40B4-BE49-F238E27FC236}">
                <a16:creationId xmlns:a16="http://schemas.microsoft.com/office/drawing/2014/main" id="{2F7051D3-313B-A7DA-6FE2-5921C86A8570}"/>
              </a:ext>
            </a:extLst>
          </p:cNvPr>
          <p:cNvSpPr/>
          <p:nvPr/>
        </p:nvSpPr>
        <p:spPr bwMode="auto">
          <a:xfrm>
            <a:off x="6211598" y="2596580"/>
            <a:ext cx="409206" cy="401898"/>
          </a:xfrm>
          <a:custGeom>
            <a:avLst/>
            <a:gdLst>
              <a:gd name="connsiteX0" fmla="*/ 372339 w 533400"/>
              <a:gd name="connsiteY0" fmla="*/ 276846 h 523875"/>
              <a:gd name="connsiteX1" fmla="*/ 372339 w 533400"/>
              <a:gd name="connsiteY1" fmla="*/ 524496 h 523875"/>
              <a:gd name="connsiteX2" fmla="*/ 162789 w 533400"/>
              <a:gd name="connsiteY2" fmla="*/ 524496 h 523875"/>
              <a:gd name="connsiteX3" fmla="*/ 162789 w 533400"/>
              <a:gd name="connsiteY3" fmla="*/ 276846 h 523875"/>
              <a:gd name="connsiteX4" fmla="*/ 372339 w 533400"/>
              <a:gd name="connsiteY4" fmla="*/ 276846 h 523875"/>
              <a:gd name="connsiteX5" fmla="*/ 143739 w 533400"/>
              <a:gd name="connsiteY5" fmla="*/ 114921 h 523875"/>
              <a:gd name="connsiteX6" fmla="*/ 143739 w 533400"/>
              <a:gd name="connsiteY6" fmla="*/ 153021 h 523875"/>
              <a:gd name="connsiteX7" fmla="*/ 391389 w 533400"/>
              <a:gd name="connsiteY7" fmla="*/ 153021 h 523875"/>
              <a:gd name="connsiteX8" fmla="*/ 391389 w 533400"/>
              <a:gd name="connsiteY8" fmla="*/ 114921 h 523875"/>
              <a:gd name="connsiteX9" fmla="*/ 534264 w 533400"/>
              <a:gd name="connsiteY9" fmla="*/ 114921 h 523875"/>
              <a:gd name="connsiteX10" fmla="*/ 534264 w 533400"/>
              <a:gd name="connsiteY10" fmla="*/ 410196 h 523875"/>
              <a:gd name="connsiteX11" fmla="*/ 391389 w 533400"/>
              <a:gd name="connsiteY11" fmla="*/ 410196 h 523875"/>
              <a:gd name="connsiteX12" fmla="*/ 391389 w 533400"/>
              <a:gd name="connsiteY12" fmla="*/ 257796 h 523875"/>
              <a:gd name="connsiteX13" fmla="*/ 143739 w 533400"/>
              <a:gd name="connsiteY13" fmla="*/ 257796 h 523875"/>
              <a:gd name="connsiteX14" fmla="*/ 143739 w 533400"/>
              <a:gd name="connsiteY14" fmla="*/ 410196 h 523875"/>
              <a:gd name="connsiteX15" fmla="*/ 864 w 533400"/>
              <a:gd name="connsiteY15" fmla="*/ 410196 h 523875"/>
              <a:gd name="connsiteX16" fmla="*/ 864 w 533400"/>
              <a:gd name="connsiteY16" fmla="*/ 186359 h 523875"/>
              <a:gd name="connsiteX17" fmla="*/ 67539 w 533400"/>
              <a:gd name="connsiteY17" fmla="*/ 114921 h 523875"/>
              <a:gd name="connsiteX18" fmla="*/ 143739 w 533400"/>
              <a:gd name="connsiteY18" fmla="*/ 114921 h 523875"/>
              <a:gd name="connsiteX19" fmla="*/ 462827 w 533400"/>
              <a:gd name="connsiteY19" fmla="*/ 172071 h 523875"/>
              <a:gd name="connsiteX20" fmla="*/ 448539 w 533400"/>
              <a:gd name="connsiteY20" fmla="*/ 186359 h 523875"/>
              <a:gd name="connsiteX21" fmla="*/ 462827 w 533400"/>
              <a:gd name="connsiteY21" fmla="*/ 200646 h 523875"/>
              <a:gd name="connsiteX22" fmla="*/ 477114 w 533400"/>
              <a:gd name="connsiteY22" fmla="*/ 186359 h 523875"/>
              <a:gd name="connsiteX23" fmla="*/ 462827 w 533400"/>
              <a:gd name="connsiteY23" fmla="*/ 172071 h 523875"/>
              <a:gd name="connsiteX24" fmla="*/ 372339 w 533400"/>
              <a:gd name="connsiteY24" fmla="*/ 621 h 523875"/>
              <a:gd name="connsiteX25" fmla="*/ 372339 w 533400"/>
              <a:gd name="connsiteY25" fmla="*/ 133971 h 523875"/>
              <a:gd name="connsiteX26" fmla="*/ 162789 w 533400"/>
              <a:gd name="connsiteY26" fmla="*/ 133971 h 523875"/>
              <a:gd name="connsiteX27" fmla="*/ 162789 w 533400"/>
              <a:gd name="connsiteY27" fmla="*/ 621 h 523875"/>
              <a:gd name="connsiteX28" fmla="*/ 372339 w 533400"/>
              <a:gd name="connsiteY28" fmla="*/ 621 h 5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533400" h="523875">
                <a:moveTo>
                  <a:pt x="372339" y="276846"/>
                </a:moveTo>
                <a:lnTo>
                  <a:pt x="372339" y="524496"/>
                </a:lnTo>
                <a:lnTo>
                  <a:pt x="162789" y="524496"/>
                </a:lnTo>
                <a:lnTo>
                  <a:pt x="162789" y="276846"/>
                </a:lnTo>
                <a:lnTo>
                  <a:pt x="372339" y="276846"/>
                </a:lnTo>
                <a:close/>
                <a:moveTo>
                  <a:pt x="143739" y="114921"/>
                </a:moveTo>
                <a:lnTo>
                  <a:pt x="143739" y="153021"/>
                </a:lnTo>
                <a:lnTo>
                  <a:pt x="391389" y="153021"/>
                </a:lnTo>
                <a:lnTo>
                  <a:pt x="391389" y="114921"/>
                </a:lnTo>
                <a:lnTo>
                  <a:pt x="534264" y="114921"/>
                </a:lnTo>
                <a:lnTo>
                  <a:pt x="534264" y="410196"/>
                </a:lnTo>
                <a:lnTo>
                  <a:pt x="391389" y="410196"/>
                </a:lnTo>
                <a:lnTo>
                  <a:pt x="391389" y="257796"/>
                </a:lnTo>
                <a:lnTo>
                  <a:pt x="143739" y="257796"/>
                </a:lnTo>
                <a:lnTo>
                  <a:pt x="143739" y="410196"/>
                </a:lnTo>
                <a:lnTo>
                  <a:pt x="864" y="410196"/>
                </a:lnTo>
                <a:lnTo>
                  <a:pt x="864" y="186359"/>
                </a:lnTo>
                <a:lnTo>
                  <a:pt x="67539" y="114921"/>
                </a:lnTo>
                <a:lnTo>
                  <a:pt x="143739" y="114921"/>
                </a:lnTo>
                <a:close/>
                <a:moveTo>
                  <a:pt x="462827" y="172071"/>
                </a:moveTo>
                <a:cubicBezTo>
                  <a:pt x="454921" y="172071"/>
                  <a:pt x="448539" y="178453"/>
                  <a:pt x="448539" y="186359"/>
                </a:cubicBezTo>
                <a:cubicBezTo>
                  <a:pt x="448539" y="194264"/>
                  <a:pt x="454921" y="200646"/>
                  <a:pt x="462827" y="200646"/>
                </a:cubicBezTo>
                <a:cubicBezTo>
                  <a:pt x="470732" y="200646"/>
                  <a:pt x="477114" y="194264"/>
                  <a:pt x="477114" y="186359"/>
                </a:cubicBezTo>
                <a:cubicBezTo>
                  <a:pt x="477114" y="178453"/>
                  <a:pt x="470732" y="172071"/>
                  <a:pt x="462827" y="172071"/>
                </a:cubicBezTo>
                <a:close/>
                <a:moveTo>
                  <a:pt x="372339" y="621"/>
                </a:moveTo>
                <a:lnTo>
                  <a:pt x="372339" y="133971"/>
                </a:lnTo>
                <a:lnTo>
                  <a:pt x="162789" y="133971"/>
                </a:lnTo>
                <a:lnTo>
                  <a:pt x="162789" y="621"/>
                </a:lnTo>
                <a:lnTo>
                  <a:pt x="372339" y="621"/>
                </a:lnTo>
                <a:close/>
              </a:path>
            </a:pathLst>
          </a:cu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îṡlíḍè">
            <a:extLst>
              <a:ext uri="{FF2B5EF4-FFF2-40B4-BE49-F238E27FC236}">
                <a16:creationId xmlns:a16="http://schemas.microsoft.com/office/drawing/2014/main" id="{8F0FE07F-9682-E7B8-B3D2-E217CE70B799}"/>
              </a:ext>
            </a:extLst>
          </p:cNvPr>
          <p:cNvSpPr/>
          <p:nvPr/>
        </p:nvSpPr>
        <p:spPr bwMode="auto">
          <a:xfrm>
            <a:off x="8225393" y="2606708"/>
            <a:ext cx="409206" cy="401898"/>
          </a:xfrm>
          <a:custGeom>
            <a:avLst/>
            <a:gdLst>
              <a:gd name="connsiteX0" fmla="*/ 372339 w 533400"/>
              <a:gd name="connsiteY0" fmla="*/ 276846 h 523875"/>
              <a:gd name="connsiteX1" fmla="*/ 372339 w 533400"/>
              <a:gd name="connsiteY1" fmla="*/ 524496 h 523875"/>
              <a:gd name="connsiteX2" fmla="*/ 162789 w 533400"/>
              <a:gd name="connsiteY2" fmla="*/ 524496 h 523875"/>
              <a:gd name="connsiteX3" fmla="*/ 162789 w 533400"/>
              <a:gd name="connsiteY3" fmla="*/ 276846 h 523875"/>
              <a:gd name="connsiteX4" fmla="*/ 372339 w 533400"/>
              <a:gd name="connsiteY4" fmla="*/ 276846 h 523875"/>
              <a:gd name="connsiteX5" fmla="*/ 143739 w 533400"/>
              <a:gd name="connsiteY5" fmla="*/ 114921 h 523875"/>
              <a:gd name="connsiteX6" fmla="*/ 143739 w 533400"/>
              <a:gd name="connsiteY6" fmla="*/ 153021 h 523875"/>
              <a:gd name="connsiteX7" fmla="*/ 391389 w 533400"/>
              <a:gd name="connsiteY7" fmla="*/ 153021 h 523875"/>
              <a:gd name="connsiteX8" fmla="*/ 391389 w 533400"/>
              <a:gd name="connsiteY8" fmla="*/ 114921 h 523875"/>
              <a:gd name="connsiteX9" fmla="*/ 534264 w 533400"/>
              <a:gd name="connsiteY9" fmla="*/ 114921 h 523875"/>
              <a:gd name="connsiteX10" fmla="*/ 534264 w 533400"/>
              <a:gd name="connsiteY10" fmla="*/ 410196 h 523875"/>
              <a:gd name="connsiteX11" fmla="*/ 391389 w 533400"/>
              <a:gd name="connsiteY11" fmla="*/ 410196 h 523875"/>
              <a:gd name="connsiteX12" fmla="*/ 391389 w 533400"/>
              <a:gd name="connsiteY12" fmla="*/ 257796 h 523875"/>
              <a:gd name="connsiteX13" fmla="*/ 143739 w 533400"/>
              <a:gd name="connsiteY13" fmla="*/ 257796 h 523875"/>
              <a:gd name="connsiteX14" fmla="*/ 143739 w 533400"/>
              <a:gd name="connsiteY14" fmla="*/ 410196 h 523875"/>
              <a:gd name="connsiteX15" fmla="*/ 864 w 533400"/>
              <a:gd name="connsiteY15" fmla="*/ 410196 h 523875"/>
              <a:gd name="connsiteX16" fmla="*/ 864 w 533400"/>
              <a:gd name="connsiteY16" fmla="*/ 186359 h 523875"/>
              <a:gd name="connsiteX17" fmla="*/ 67539 w 533400"/>
              <a:gd name="connsiteY17" fmla="*/ 114921 h 523875"/>
              <a:gd name="connsiteX18" fmla="*/ 143739 w 533400"/>
              <a:gd name="connsiteY18" fmla="*/ 114921 h 523875"/>
              <a:gd name="connsiteX19" fmla="*/ 462827 w 533400"/>
              <a:gd name="connsiteY19" fmla="*/ 172071 h 523875"/>
              <a:gd name="connsiteX20" fmla="*/ 448539 w 533400"/>
              <a:gd name="connsiteY20" fmla="*/ 186359 h 523875"/>
              <a:gd name="connsiteX21" fmla="*/ 462827 w 533400"/>
              <a:gd name="connsiteY21" fmla="*/ 200646 h 523875"/>
              <a:gd name="connsiteX22" fmla="*/ 477114 w 533400"/>
              <a:gd name="connsiteY22" fmla="*/ 186359 h 523875"/>
              <a:gd name="connsiteX23" fmla="*/ 462827 w 533400"/>
              <a:gd name="connsiteY23" fmla="*/ 172071 h 523875"/>
              <a:gd name="connsiteX24" fmla="*/ 372339 w 533400"/>
              <a:gd name="connsiteY24" fmla="*/ 621 h 523875"/>
              <a:gd name="connsiteX25" fmla="*/ 372339 w 533400"/>
              <a:gd name="connsiteY25" fmla="*/ 133971 h 523875"/>
              <a:gd name="connsiteX26" fmla="*/ 162789 w 533400"/>
              <a:gd name="connsiteY26" fmla="*/ 133971 h 523875"/>
              <a:gd name="connsiteX27" fmla="*/ 162789 w 533400"/>
              <a:gd name="connsiteY27" fmla="*/ 621 h 523875"/>
              <a:gd name="connsiteX28" fmla="*/ 372339 w 533400"/>
              <a:gd name="connsiteY28" fmla="*/ 621 h 5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533400" h="523875">
                <a:moveTo>
                  <a:pt x="372339" y="276846"/>
                </a:moveTo>
                <a:lnTo>
                  <a:pt x="372339" y="524496"/>
                </a:lnTo>
                <a:lnTo>
                  <a:pt x="162789" y="524496"/>
                </a:lnTo>
                <a:lnTo>
                  <a:pt x="162789" y="276846"/>
                </a:lnTo>
                <a:lnTo>
                  <a:pt x="372339" y="276846"/>
                </a:lnTo>
                <a:close/>
                <a:moveTo>
                  <a:pt x="143739" y="114921"/>
                </a:moveTo>
                <a:lnTo>
                  <a:pt x="143739" y="153021"/>
                </a:lnTo>
                <a:lnTo>
                  <a:pt x="391389" y="153021"/>
                </a:lnTo>
                <a:lnTo>
                  <a:pt x="391389" y="114921"/>
                </a:lnTo>
                <a:lnTo>
                  <a:pt x="534264" y="114921"/>
                </a:lnTo>
                <a:lnTo>
                  <a:pt x="534264" y="410196"/>
                </a:lnTo>
                <a:lnTo>
                  <a:pt x="391389" y="410196"/>
                </a:lnTo>
                <a:lnTo>
                  <a:pt x="391389" y="257796"/>
                </a:lnTo>
                <a:lnTo>
                  <a:pt x="143739" y="257796"/>
                </a:lnTo>
                <a:lnTo>
                  <a:pt x="143739" y="410196"/>
                </a:lnTo>
                <a:lnTo>
                  <a:pt x="864" y="410196"/>
                </a:lnTo>
                <a:lnTo>
                  <a:pt x="864" y="186359"/>
                </a:lnTo>
                <a:lnTo>
                  <a:pt x="67539" y="114921"/>
                </a:lnTo>
                <a:lnTo>
                  <a:pt x="143739" y="114921"/>
                </a:lnTo>
                <a:close/>
                <a:moveTo>
                  <a:pt x="462827" y="172071"/>
                </a:moveTo>
                <a:cubicBezTo>
                  <a:pt x="454921" y="172071"/>
                  <a:pt x="448539" y="178453"/>
                  <a:pt x="448539" y="186359"/>
                </a:cubicBezTo>
                <a:cubicBezTo>
                  <a:pt x="448539" y="194264"/>
                  <a:pt x="454921" y="200646"/>
                  <a:pt x="462827" y="200646"/>
                </a:cubicBezTo>
                <a:cubicBezTo>
                  <a:pt x="470732" y="200646"/>
                  <a:pt x="477114" y="194264"/>
                  <a:pt x="477114" y="186359"/>
                </a:cubicBezTo>
                <a:cubicBezTo>
                  <a:pt x="477114" y="178453"/>
                  <a:pt x="470732" y="172071"/>
                  <a:pt x="462827" y="172071"/>
                </a:cubicBezTo>
                <a:close/>
                <a:moveTo>
                  <a:pt x="372339" y="621"/>
                </a:moveTo>
                <a:lnTo>
                  <a:pt x="372339" y="133971"/>
                </a:lnTo>
                <a:lnTo>
                  <a:pt x="162789" y="133971"/>
                </a:lnTo>
                <a:lnTo>
                  <a:pt x="162789" y="621"/>
                </a:lnTo>
                <a:lnTo>
                  <a:pt x="372339" y="621"/>
                </a:lnTo>
                <a:close/>
              </a:path>
            </a:pathLst>
          </a:cu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1982570-A154-387F-406D-DEE9C1976B77}"/>
              </a:ext>
            </a:extLst>
          </p:cNvPr>
          <p:cNvSpPr txBox="1"/>
          <p:nvPr/>
        </p:nvSpPr>
        <p:spPr>
          <a:xfrm>
            <a:off x="7593416" y="3209818"/>
            <a:ext cx="208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代码开发与测试</a:t>
            </a:r>
            <a:r>
              <a:rPr lang="zh-CN" altLang="en-US" dirty="0"/>
              <a:t> </a:t>
            </a:r>
            <a:endParaRPr lang="en-US" altLang="zh-CN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452667-4ED9-D0CE-E773-AC53661D0440}"/>
              </a:ext>
            </a:extLst>
          </p:cNvPr>
          <p:cNvSpPr txBox="1"/>
          <p:nvPr/>
        </p:nvSpPr>
        <p:spPr>
          <a:xfrm>
            <a:off x="2742727" y="3922184"/>
            <a:ext cx="2166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验证类图是否覆盖了所有业务场景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A2ABA4-422A-AEF0-AD01-2A2948CA0BF1}"/>
              </a:ext>
            </a:extLst>
          </p:cNvPr>
          <p:cNvSpPr txBox="1"/>
          <p:nvPr/>
        </p:nvSpPr>
        <p:spPr>
          <a:xfrm>
            <a:off x="5033388" y="3922186"/>
            <a:ext cx="2368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展示某个时刻的内存对象状态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CCD6B91-49DB-1D58-8C42-8EC771ADB8A6}"/>
              </a:ext>
            </a:extLst>
          </p:cNvPr>
          <p:cNvSpPr txBox="1"/>
          <p:nvPr/>
        </p:nvSpPr>
        <p:spPr>
          <a:xfrm>
            <a:off x="7609885" y="3922185"/>
            <a:ext cx="1763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帮助理解复杂数据结构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B4C015B-0951-133B-5DB0-ECE12F69CCB0}"/>
              </a:ext>
            </a:extLst>
          </p:cNvPr>
          <p:cNvSpPr txBox="1"/>
          <p:nvPr/>
        </p:nvSpPr>
        <p:spPr>
          <a:xfrm>
            <a:off x="9981735" y="3917839"/>
            <a:ext cx="1766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直观展示对象间的动态关系</a:t>
            </a:r>
          </a:p>
        </p:txBody>
      </p:sp>
    </p:spTree>
    <p:custDataLst>
      <p:tags r:id="rId1"/>
    </p:custData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  <p:bldP spid="30" grpId="0"/>
      <p:bldP spid="29" grpId="0"/>
      <p:bldP spid="8" grpId="0"/>
      <p:bldP spid="11" grpId="0"/>
      <p:bldP spid="12" grpId="0"/>
      <p:bldP spid="31" grpId="0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EE8F7-AE69-5FC9-F8D2-3F3473CA5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ïşḷíḑe">
            <a:extLst>
              <a:ext uri="{FF2B5EF4-FFF2-40B4-BE49-F238E27FC236}">
                <a16:creationId xmlns:a16="http://schemas.microsoft.com/office/drawing/2014/main" id="{39C41B95-4191-A837-3339-4103FED31F01}"/>
              </a:ext>
            </a:extLst>
          </p:cNvPr>
          <p:cNvSpPr/>
          <p:nvPr/>
        </p:nvSpPr>
        <p:spPr>
          <a:xfrm>
            <a:off x="-1" y="0"/>
            <a:ext cx="5553857" cy="6086007"/>
          </a:xfrm>
          <a:custGeom>
            <a:avLst/>
            <a:gdLst>
              <a:gd name="connsiteX0" fmla="*/ 3530905 w 5121840"/>
              <a:gd name="connsiteY0" fmla="*/ 0 h 6410120"/>
              <a:gd name="connsiteX1" fmla="*/ 4976487 w 5121840"/>
              <a:gd name="connsiteY1" fmla="*/ 0 h 6410120"/>
              <a:gd name="connsiteX2" fmla="*/ 5016343 w 5121840"/>
              <a:gd name="connsiteY2" fmla="*/ 172687 h 6410120"/>
              <a:gd name="connsiteX3" fmla="*/ 5121840 w 5121840"/>
              <a:gd name="connsiteY3" fmla="*/ 1219200 h 6410120"/>
              <a:gd name="connsiteX4" fmla="*/ 196344 w 5121840"/>
              <a:gd name="connsiteY4" fmla="*/ 6405155 h 6410120"/>
              <a:gd name="connsiteX5" fmla="*/ 0 w 5121840"/>
              <a:gd name="connsiteY5" fmla="*/ 6410120 h 6410120"/>
              <a:gd name="connsiteX6" fmla="*/ 0 w 5121840"/>
              <a:gd name="connsiteY6" fmla="*/ 5020059 h 6410120"/>
              <a:gd name="connsiteX7" fmla="*/ 124812 w 5121840"/>
              <a:gd name="connsiteY7" fmla="*/ 5016903 h 6410120"/>
              <a:gd name="connsiteX8" fmla="*/ 3731779 w 5121840"/>
              <a:gd name="connsiteY8" fmla="*/ 1219200 h 6410120"/>
              <a:gd name="connsiteX9" fmla="*/ 3560819 w 5121840"/>
              <a:gd name="connsiteY9" fmla="*/ 88408 h 6410120"/>
              <a:gd name="connsiteX10" fmla="*/ 3530905 w 5121840"/>
              <a:gd name="connsiteY10" fmla="*/ 0 h 641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21840" h="6410120">
                <a:moveTo>
                  <a:pt x="3530905" y="0"/>
                </a:moveTo>
                <a:lnTo>
                  <a:pt x="4976487" y="0"/>
                </a:lnTo>
                <a:lnTo>
                  <a:pt x="5016343" y="172687"/>
                </a:lnTo>
                <a:cubicBezTo>
                  <a:pt x="5085514" y="510720"/>
                  <a:pt x="5121840" y="860718"/>
                  <a:pt x="5121840" y="1219200"/>
                </a:cubicBezTo>
                <a:cubicBezTo>
                  <a:pt x="5121840" y="3997436"/>
                  <a:pt x="2940017" y="6266078"/>
                  <a:pt x="196344" y="6405155"/>
                </a:cubicBezTo>
                <a:lnTo>
                  <a:pt x="0" y="6410120"/>
                </a:lnTo>
                <a:lnTo>
                  <a:pt x="0" y="5020059"/>
                </a:lnTo>
                <a:lnTo>
                  <a:pt x="124812" y="5016903"/>
                </a:lnTo>
                <a:cubicBezTo>
                  <a:pt x="2134018" y="4915056"/>
                  <a:pt x="3731779" y="3253717"/>
                  <a:pt x="3731779" y="1219200"/>
                </a:cubicBezTo>
                <a:cubicBezTo>
                  <a:pt x="3731779" y="825423"/>
                  <a:pt x="3671925" y="445625"/>
                  <a:pt x="3560819" y="88408"/>
                </a:cubicBezTo>
                <a:lnTo>
                  <a:pt x="3530905" y="0"/>
                </a:lnTo>
                <a:close/>
              </a:path>
            </a:pathLst>
          </a:cu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íṥḷíďé">
            <a:extLst>
              <a:ext uri="{FF2B5EF4-FFF2-40B4-BE49-F238E27FC236}">
                <a16:creationId xmlns:a16="http://schemas.microsoft.com/office/drawing/2014/main" id="{D2248619-FEBD-AEFD-F485-490EE1A2AD35}"/>
              </a:ext>
            </a:extLst>
          </p:cNvPr>
          <p:cNvSpPr/>
          <p:nvPr/>
        </p:nvSpPr>
        <p:spPr>
          <a:xfrm>
            <a:off x="401098" y="719582"/>
            <a:ext cx="6581785" cy="565123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127000" dir="42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1453064-5120-6A1D-C03A-CFA62E273C84}"/>
              </a:ext>
            </a:extLst>
          </p:cNvPr>
          <p:cNvSpPr txBox="1"/>
          <p:nvPr/>
        </p:nvSpPr>
        <p:spPr>
          <a:xfrm>
            <a:off x="1850896" y="1008685"/>
            <a:ext cx="3258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图书馆借阅系统对象图</a:t>
            </a:r>
            <a:endParaRPr lang="en-US" altLang="zh-CN" sz="2000" b="1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7003737-664C-6AF2-A72A-06E59763D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 rot="2310958">
            <a:off x="211981" y="439394"/>
            <a:ext cx="783340" cy="163274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BBBA1CC-6A3C-C882-617C-34C7473A9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88" y="1615558"/>
            <a:ext cx="6296805" cy="224269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5661BFE-6057-5901-1A83-16A7872F56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693" y="1872913"/>
            <a:ext cx="5274310" cy="33695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B3C6D54-6BA4-212C-0573-B4E74E408C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6" y="3835404"/>
            <a:ext cx="6581785" cy="113672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AD08023-7613-2958-2A1E-0E8A0CA096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6" y="5110883"/>
            <a:ext cx="3422973" cy="110765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F2905EF-B79D-050A-A6CD-3C424FD87CDF}"/>
              </a:ext>
            </a:extLst>
          </p:cNvPr>
          <p:cNvSpPr txBox="1"/>
          <p:nvPr/>
        </p:nvSpPr>
        <p:spPr>
          <a:xfrm>
            <a:off x="221618" y="249216"/>
            <a:ext cx="3258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❓ 互动问题 </a:t>
            </a:r>
            <a:r>
              <a:rPr lang="en-US" altLang="zh-CN" sz="2000" b="1" dirty="0"/>
              <a:t>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9950677"/>
      </p:ext>
    </p:ext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A8A95-06F9-BD2E-C2E4-186B45C97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ïşḷíḑe">
            <a:extLst>
              <a:ext uri="{FF2B5EF4-FFF2-40B4-BE49-F238E27FC236}">
                <a16:creationId xmlns:a16="http://schemas.microsoft.com/office/drawing/2014/main" id="{8BD793BC-3229-1BA3-0905-FE954BAD9818}"/>
              </a:ext>
            </a:extLst>
          </p:cNvPr>
          <p:cNvSpPr/>
          <p:nvPr/>
        </p:nvSpPr>
        <p:spPr>
          <a:xfrm>
            <a:off x="0" y="0"/>
            <a:ext cx="5121840" cy="6410120"/>
          </a:xfrm>
          <a:custGeom>
            <a:avLst/>
            <a:gdLst>
              <a:gd name="connsiteX0" fmla="*/ 3530905 w 5121840"/>
              <a:gd name="connsiteY0" fmla="*/ 0 h 6410120"/>
              <a:gd name="connsiteX1" fmla="*/ 4976487 w 5121840"/>
              <a:gd name="connsiteY1" fmla="*/ 0 h 6410120"/>
              <a:gd name="connsiteX2" fmla="*/ 5016343 w 5121840"/>
              <a:gd name="connsiteY2" fmla="*/ 172687 h 6410120"/>
              <a:gd name="connsiteX3" fmla="*/ 5121840 w 5121840"/>
              <a:gd name="connsiteY3" fmla="*/ 1219200 h 6410120"/>
              <a:gd name="connsiteX4" fmla="*/ 196344 w 5121840"/>
              <a:gd name="connsiteY4" fmla="*/ 6405155 h 6410120"/>
              <a:gd name="connsiteX5" fmla="*/ 0 w 5121840"/>
              <a:gd name="connsiteY5" fmla="*/ 6410120 h 6410120"/>
              <a:gd name="connsiteX6" fmla="*/ 0 w 5121840"/>
              <a:gd name="connsiteY6" fmla="*/ 5020059 h 6410120"/>
              <a:gd name="connsiteX7" fmla="*/ 124812 w 5121840"/>
              <a:gd name="connsiteY7" fmla="*/ 5016903 h 6410120"/>
              <a:gd name="connsiteX8" fmla="*/ 3731779 w 5121840"/>
              <a:gd name="connsiteY8" fmla="*/ 1219200 h 6410120"/>
              <a:gd name="connsiteX9" fmla="*/ 3560819 w 5121840"/>
              <a:gd name="connsiteY9" fmla="*/ 88408 h 6410120"/>
              <a:gd name="connsiteX10" fmla="*/ 3530905 w 5121840"/>
              <a:gd name="connsiteY10" fmla="*/ 0 h 641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21840" h="6410120">
                <a:moveTo>
                  <a:pt x="3530905" y="0"/>
                </a:moveTo>
                <a:lnTo>
                  <a:pt x="4976487" y="0"/>
                </a:lnTo>
                <a:lnTo>
                  <a:pt x="5016343" y="172687"/>
                </a:lnTo>
                <a:cubicBezTo>
                  <a:pt x="5085514" y="510720"/>
                  <a:pt x="5121840" y="860718"/>
                  <a:pt x="5121840" y="1219200"/>
                </a:cubicBezTo>
                <a:cubicBezTo>
                  <a:pt x="5121840" y="3997436"/>
                  <a:pt x="2940017" y="6266078"/>
                  <a:pt x="196344" y="6405155"/>
                </a:cubicBezTo>
                <a:lnTo>
                  <a:pt x="0" y="6410120"/>
                </a:lnTo>
                <a:lnTo>
                  <a:pt x="0" y="5020059"/>
                </a:lnTo>
                <a:lnTo>
                  <a:pt x="124812" y="5016903"/>
                </a:lnTo>
                <a:cubicBezTo>
                  <a:pt x="2134018" y="4915056"/>
                  <a:pt x="3731779" y="3253717"/>
                  <a:pt x="3731779" y="1219200"/>
                </a:cubicBezTo>
                <a:cubicBezTo>
                  <a:pt x="3731779" y="825423"/>
                  <a:pt x="3671925" y="445625"/>
                  <a:pt x="3560819" y="88408"/>
                </a:cubicBezTo>
                <a:lnTo>
                  <a:pt x="3530905" y="0"/>
                </a:lnTo>
                <a:close/>
              </a:path>
            </a:pathLst>
          </a:cu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íṥḷíďé">
            <a:extLst>
              <a:ext uri="{FF2B5EF4-FFF2-40B4-BE49-F238E27FC236}">
                <a16:creationId xmlns:a16="http://schemas.microsoft.com/office/drawing/2014/main" id="{C30C4CEC-E5F8-C270-B059-A0A94D3288B9}"/>
              </a:ext>
            </a:extLst>
          </p:cNvPr>
          <p:cNvSpPr/>
          <p:nvPr/>
        </p:nvSpPr>
        <p:spPr>
          <a:xfrm>
            <a:off x="1581925" y="1069977"/>
            <a:ext cx="9842987" cy="53401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127000" dir="42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CBDCE93-DEB1-B6FA-FD7D-37DB4EA3862F}"/>
              </a:ext>
            </a:extLst>
          </p:cNvPr>
          <p:cNvSpPr txBox="1"/>
          <p:nvPr/>
        </p:nvSpPr>
        <p:spPr>
          <a:xfrm>
            <a:off x="1778064" y="1397358"/>
            <a:ext cx="325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参考答案：</a:t>
            </a:r>
            <a:endParaRPr lang="en-US" altLang="zh-CN" sz="28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3F04484-8105-8CBA-64A3-8D8781A183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 rot="2310958">
            <a:off x="1190256" y="514171"/>
            <a:ext cx="783340" cy="163274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EABB2B4-C4E2-1E05-7BAC-7CDF212F8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8050" y="1927391"/>
            <a:ext cx="9253118" cy="407748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5289451"/>
      </p:ext>
    </p:ext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64F79-237C-9DD0-7F45-F87330751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îSḷíḋè">
            <a:extLst>
              <a:ext uri="{FF2B5EF4-FFF2-40B4-BE49-F238E27FC236}">
                <a16:creationId xmlns:a16="http://schemas.microsoft.com/office/drawing/2014/main" id="{1BC266F3-DEA5-FC7A-486A-4B5ABF502409}"/>
              </a:ext>
            </a:extLst>
          </p:cNvPr>
          <p:cNvSpPr/>
          <p:nvPr/>
        </p:nvSpPr>
        <p:spPr>
          <a:xfrm>
            <a:off x="800389" y="1338263"/>
            <a:ext cx="1803249" cy="1645082"/>
          </a:xfrm>
          <a:prstGeom prst="rect">
            <a:avLst/>
          </a:prstGeom>
          <a:blipFill>
            <a:blip r:embed="rId3"/>
            <a:stretch>
              <a:fillRect l="-18994" r="-18784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îś1iḍé">
            <a:extLst>
              <a:ext uri="{FF2B5EF4-FFF2-40B4-BE49-F238E27FC236}">
                <a16:creationId xmlns:a16="http://schemas.microsoft.com/office/drawing/2014/main" id="{920B6A51-EF1B-2054-6B65-0948540DC087}"/>
              </a:ext>
            </a:extLst>
          </p:cNvPr>
          <p:cNvSpPr/>
          <p:nvPr/>
        </p:nvSpPr>
        <p:spPr>
          <a:xfrm>
            <a:off x="789733" y="3128640"/>
            <a:ext cx="1795173" cy="2849299"/>
          </a:xfrm>
          <a:prstGeom prst="rect">
            <a:avLst/>
          </a:prstGeom>
          <a:blipFill>
            <a:blip r:embed="rId4"/>
            <a:stretch>
              <a:fillRect t="-8576" b="-8501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2" name="iṩļïḓè">
            <a:extLst>
              <a:ext uri="{FF2B5EF4-FFF2-40B4-BE49-F238E27FC236}">
                <a16:creationId xmlns:a16="http://schemas.microsoft.com/office/drawing/2014/main" id="{957D8904-F410-21BF-151B-25386B6D1DDA}"/>
              </a:ext>
            </a:extLst>
          </p:cNvPr>
          <p:cNvSpPr txBox="1"/>
          <p:nvPr/>
        </p:nvSpPr>
        <p:spPr bwMode="auto">
          <a:xfrm>
            <a:off x="5381124" y="993181"/>
            <a:ext cx="3195781" cy="6502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dist"/>
            <a:r>
              <a:rPr lang="zh-CN" altLang="en-US" sz="3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对象图 </a:t>
            </a:r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vs </a:t>
            </a:r>
            <a:r>
              <a:rPr lang="zh-CN" altLang="en-US" sz="3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类图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015816A-6BE1-5FB2-3D27-BFC131E99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123697"/>
              </p:ext>
            </p:extLst>
          </p:nvPr>
        </p:nvGraphicFramePr>
        <p:xfrm>
          <a:off x="3315850" y="1878897"/>
          <a:ext cx="7721603" cy="366078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95055">
                  <a:extLst>
                    <a:ext uri="{9D8B030D-6E8A-4147-A177-3AD203B41FA5}">
                      <a16:colId xmlns:a16="http://schemas.microsoft.com/office/drawing/2014/main" val="2937327260"/>
                    </a:ext>
                  </a:extLst>
                </a:gridCol>
                <a:gridCol w="2789381">
                  <a:extLst>
                    <a:ext uri="{9D8B030D-6E8A-4147-A177-3AD203B41FA5}">
                      <a16:colId xmlns:a16="http://schemas.microsoft.com/office/drawing/2014/main" val="2044261594"/>
                    </a:ext>
                  </a:extLst>
                </a:gridCol>
                <a:gridCol w="2937167">
                  <a:extLst>
                    <a:ext uri="{9D8B030D-6E8A-4147-A177-3AD203B41FA5}">
                      <a16:colId xmlns:a16="http://schemas.microsoft.com/office/drawing/2014/main" val="3824719719"/>
                    </a:ext>
                  </a:extLst>
                </a:gridCol>
              </a:tblGrid>
              <a:tr h="593126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effectLst/>
                        </a:rPr>
                        <a:t>对比维度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effectLst/>
                        </a:rPr>
                        <a:t>类图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effectLst/>
                        </a:rPr>
                        <a:t>对象图</a:t>
                      </a:r>
                      <a:endParaRPr lang="zh-CN" altLang="en-US" sz="2400" b="1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1490071586"/>
                  </a:ext>
                </a:extLst>
              </a:tr>
              <a:tr h="59629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本质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设计蓝图，通用抽象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运行时快照，具体瞬态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779584758"/>
                  </a:ext>
                </a:extLst>
              </a:tr>
              <a:tr h="68249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核心元素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类、接口、多种关系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对象实例、链接（仅实线）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814055903"/>
                  </a:ext>
                </a:extLst>
              </a:tr>
              <a:tr h="59629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多重度含义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设计约束（如</a:t>
                      </a:r>
                      <a:r>
                        <a:rPr lang="en-US" altLang="zh-CN" b="0" dirty="0">
                          <a:effectLst/>
                        </a:rPr>
                        <a:t>1..*</a:t>
                      </a:r>
                      <a:r>
                        <a:rPr lang="zh-CN" altLang="en-US" b="0" dirty="0">
                          <a:effectLst/>
                        </a:rPr>
                        <a:t>）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运行时实际数量（如</a:t>
                      </a:r>
                      <a:r>
                        <a:rPr lang="en-US" altLang="zh-CN" b="0" dirty="0">
                          <a:effectLst/>
                        </a:rPr>
                        <a:t>5</a:t>
                      </a:r>
                      <a:r>
                        <a:rPr lang="zh-CN" altLang="en-US" b="0" dirty="0">
                          <a:effectLst/>
                        </a:rPr>
                        <a:t>）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126467733"/>
                  </a:ext>
                </a:extLst>
              </a:tr>
              <a:tr h="59629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属性特点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仅定义结构，无具体值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必须有具体赋值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957860107"/>
                  </a:ext>
                </a:extLst>
              </a:tr>
              <a:tr h="59629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时间视角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永久有效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仅代表某一时刻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12272076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238252884"/>
      </p:ext>
    </p:ext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1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2263742" y="-2263739"/>
            <a:ext cx="6858000" cy="11385479"/>
          </a:xfrm>
          <a:prstGeom prst="rect">
            <a:avLst/>
          </a:prstGeom>
          <a:ln>
            <a:noFill/>
          </a:ln>
        </p:spPr>
      </p:pic>
      <p:sp>
        <p:nvSpPr>
          <p:cNvPr id="9" name="íş1íďé"/>
          <p:cNvSpPr/>
          <p:nvPr/>
        </p:nvSpPr>
        <p:spPr>
          <a:xfrm>
            <a:off x="4712302" y="1961195"/>
            <a:ext cx="6047138" cy="29356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6400" dist="355600" dir="2880000" sx="92000" sy="92000" algn="ctr" rotWithShape="0">
              <a:srgbClr val="000000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îṣ1iďe"/>
          <p:cNvSpPr/>
          <p:nvPr/>
        </p:nvSpPr>
        <p:spPr>
          <a:xfrm flipH="1">
            <a:off x="5112898" y="3263900"/>
            <a:ext cx="330200" cy="330200"/>
          </a:xfrm>
          <a:prstGeom prst="ellipse">
            <a:avLst/>
          </a:prstGeom>
          <a:solidFill>
            <a:srgbClr val="ECA1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îsliḍe"/>
          <p:cNvSpPr/>
          <p:nvPr/>
        </p:nvSpPr>
        <p:spPr>
          <a:xfrm rot="5400000">
            <a:off x="5232072" y="3391823"/>
            <a:ext cx="115661" cy="7436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î$ḷíḋè"/>
          <p:cNvSpPr/>
          <p:nvPr/>
        </p:nvSpPr>
        <p:spPr>
          <a:xfrm>
            <a:off x="9990298" y="3263900"/>
            <a:ext cx="330200" cy="330200"/>
          </a:xfrm>
          <a:prstGeom prst="ellipse">
            <a:avLst/>
          </a:prstGeom>
          <a:solidFill>
            <a:srgbClr val="ECA1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ïṥḻiḍê"/>
          <p:cNvSpPr/>
          <p:nvPr/>
        </p:nvSpPr>
        <p:spPr>
          <a:xfrm rot="16200000" flipH="1">
            <a:off x="10085663" y="3391823"/>
            <a:ext cx="115661" cy="7436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846195" y="2796090"/>
            <a:ext cx="4034800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6600">
                <a:solidFill>
                  <a:schemeClr val="tx1">
                    <a:lumMod val="50000"/>
                    <a:lumOff val="50000"/>
                  </a:schemeClr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defRPr>
            </a:lvl1pPr>
          </a:lstStyle>
          <a:p>
            <a:r>
              <a:rPr lang="zh-CN" altLang="en-US" dirty="0">
                <a:latin typeface="思源宋体 CN Heavy" pitchFamily="18" charset="-122"/>
                <a:ea typeface="思源宋体 CN Heavy" pitchFamily="18" charset="-122"/>
              </a:rPr>
              <a:t>构建图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7" grpId="0" animBg="1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íşľíďe"/>
          <p:cNvSpPr/>
          <p:nvPr/>
        </p:nvSpPr>
        <p:spPr>
          <a:xfrm>
            <a:off x="0" y="-1310124"/>
            <a:ext cx="12192000" cy="3081079"/>
          </a:xfrm>
          <a:prstGeom prst="rect">
            <a:avLst/>
          </a:prstGeom>
          <a:blipFill>
            <a:blip r:embed="rId3"/>
            <a:stretch>
              <a:fillRect t="-49129" b="-48724"/>
            </a:stretch>
          </a:blipFill>
          <a:ln w="762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íšľíde"/>
          <p:cNvSpPr/>
          <p:nvPr/>
        </p:nvSpPr>
        <p:spPr>
          <a:xfrm>
            <a:off x="11169122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iş1ïďê"/>
          <p:cNvSpPr/>
          <p:nvPr/>
        </p:nvSpPr>
        <p:spPr>
          <a:xfrm>
            <a:off x="11362274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" name="iśḻíḋe"/>
          <p:cNvSpPr/>
          <p:nvPr/>
        </p:nvSpPr>
        <p:spPr>
          <a:xfrm>
            <a:off x="11265698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îṡḻîdê"/>
          <p:cNvSpPr/>
          <p:nvPr/>
        </p:nvSpPr>
        <p:spPr>
          <a:xfrm>
            <a:off x="11458849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iślîdé"/>
          <p:cNvSpPr/>
          <p:nvPr/>
        </p:nvSpPr>
        <p:spPr>
          <a:xfrm>
            <a:off x="117609" y="407876"/>
            <a:ext cx="5177778" cy="1008697"/>
          </a:xfrm>
          <a:prstGeom prst="rect">
            <a:avLst/>
          </a:pr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4400" b="1" dirty="0"/>
              <a:t>构件图 </a:t>
            </a:r>
            <a:r>
              <a:rPr lang="en-US" altLang="zh-CN" sz="4400" b="1" dirty="0"/>
              <a:t>— </a:t>
            </a:r>
            <a:r>
              <a:rPr lang="zh-CN" altLang="en-US" sz="4400" b="1" dirty="0"/>
              <a:t>概念简介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17609" y="2094509"/>
            <a:ext cx="3513942" cy="1241614"/>
            <a:chOff x="-46113" y="5185"/>
            <a:chExt cx="3513942" cy="1241614"/>
          </a:xfrm>
        </p:grpSpPr>
        <p:sp>
          <p:nvSpPr>
            <p:cNvPr id="14" name="iṩļïḓè"/>
            <p:cNvSpPr txBox="1"/>
            <p:nvPr/>
          </p:nvSpPr>
          <p:spPr bwMode="auto">
            <a:xfrm>
              <a:off x="415605" y="409465"/>
              <a:ext cx="2475194" cy="421718"/>
            </a:xfrm>
            <a:prstGeom prst="rect">
              <a:avLst/>
            </a:prstGeom>
            <a:solidFill>
              <a:srgbClr val="E9939A"/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构件图定义 </a:t>
              </a:r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5013422">
              <a:off x="353462" y="-394390"/>
              <a:ext cx="736994" cy="1536144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16046210">
              <a:off x="2410926" y="189895"/>
              <a:ext cx="685336" cy="1428471"/>
            </a:xfrm>
            <a:prstGeom prst="rect">
              <a:avLst/>
            </a:prstGeom>
          </p:spPr>
        </p:pic>
      </p:grpSp>
      <p:sp>
        <p:nvSpPr>
          <p:cNvPr id="17" name="文本框 16"/>
          <p:cNvSpPr txBox="1"/>
          <p:nvPr/>
        </p:nvSpPr>
        <p:spPr>
          <a:xfrm>
            <a:off x="579327" y="3403507"/>
            <a:ext cx="9140670" cy="2785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/>
              <a:t>定义</a:t>
            </a:r>
            <a:r>
              <a:rPr lang="zh-CN" altLang="en-US" dirty="0"/>
              <a:t>：组件图（</a:t>
            </a:r>
            <a:r>
              <a:rPr lang="en-US" altLang="zh-CN" dirty="0"/>
              <a:t>Component Diagram</a:t>
            </a:r>
            <a:r>
              <a:rPr lang="zh-CN" altLang="en-US" dirty="0"/>
              <a:t>，又称构件图）是用来表示系统中</a:t>
            </a:r>
            <a:r>
              <a:rPr lang="zh-CN" altLang="en-US" b="1" dirty="0"/>
              <a:t>组件与组件之间</a:t>
            </a:r>
            <a:r>
              <a:rPr lang="zh-CN" altLang="en-US" dirty="0"/>
              <a:t>、</a:t>
            </a:r>
            <a:r>
              <a:rPr lang="en-US" altLang="zh-CN" dirty="0"/>
              <a:t>		    </a:t>
            </a:r>
            <a:r>
              <a:rPr lang="zh-CN" altLang="en-US" b="1" dirty="0"/>
              <a:t>组件与接口之间</a:t>
            </a:r>
            <a:r>
              <a:rPr lang="zh-CN" altLang="en-US" dirty="0"/>
              <a:t>关系的模型图。</a:t>
            </a:r>
          </a:p>
          <a:p>
            <a:pPr>
              <a:lnSpc>
                <a:spcPct val="200000"/>
              </a:lnSpc>
            </a:pPr>
            <a:r>
              <a:rPr lang="zh-CN" altLang="en-US" b="1" dirty="0"/>
              <a:t>构件的定义</a:t>
            </a:r>
            <a:r>
              <a:rPr lang="zh-CN" altLang="en-US" dirty="0"/>
              <a:t>：系统设计的一个模块化部分，对外提供一组接口。具有：</a:t>
            </a:r>
          </a:p>
          <a:p>
            <a:pPr>
              <a:lnSpc>
                <a:spcPct val="200000"/>
              </a:lnSpc>
            </a:pPr>
            <a:r>
              <a:rPr lang="en-US" altLang="zh-CN" b="1" dirty="0"/>
              <a:t>			</a:t>
            </a:r>
            <a:r>
              <a:rPr lang="zh-CN" altLang="en-US" b="1" dirty="0"/>
              <a:t>封装性</a:t>
            </a:r>
            <a:r>
              <a:rPr lang="zh-CN" altLang="en-US" dirty="0"/>
              <a:t> </a:t>
            </a:r>
            <a:r>
              <a:rPr lang="en-US" altLang="zh-CN" dirty="0"/>
              <a:t>— </a:t>
            </a:r>
            <a:r>
              <a:rPr lang="zh-CN" altLang="en-US" dirty="0"/>
              <a:t>独立的封装单位</a:t>
            </a:r>
          </a:p>
          <a:p>
            <a:pPr>
              <a:lnSpc>
                <a:spcPct val="200000"/>
              </a:lnSpc>
            </a:pPr>
            <a:r>
              <a:rPr lang="en-US" altLang="zh-CN" b="1" dirty="0"/>
              <a:t>			</a:t>
            </a:r>
            <a:r>
              <a:rPr lang="zh-CN" altLang="en-US" b="1" dirty="0"/>
              <a:t>可替换性</a:t>
            </a:r>
            <a:r>
              <a:rPr lang="zh-CN" altLang="en-US" dirty="0"/>
              <a:t> </a:t>
            </a:r>
            <a:r>
              <a:rPr lang="en-US" altLang="zh-CN" dirty="0"/>
              <a:t>— </a:t>
            </a:r>
            <a:r>
              <a:rPr lang="zh-CN" altLang="en-US" dirty="0"/>
              <a:t>可用其他实现替换</a:t>
            </a:r>
          </a:p>
        </p:txBody>
      </p:sp>
      <p:sp>
        <p:nvSpPr>
          <p:cNvPr id="2" name="ïṣḷïḑê">
            <a:extLst>
              <a:ext uri="{FF2B5EF4-FFF2-40B4-BE49-F238E27FC236}">
                <a16:creationId xmlns:a16="http://schemas.microsoft.com/office/drawing/2014/main" id="{E9BB89B9-E571-F54F-4C2A-DE9100613E47}"/>
              </a:ext>
            </a:extLst>
          </p:cNvPr>
          <p:cNvSpPr/>
          <p:nvPr/>
        </p:nvSpPr>
        <p:spPr>
          <a:xfrm flipH="1">
            <a:off x="399327" y="4796164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3" name="ïṣḷïḑê">
            <a:extLst>
              <a:ext uri="{FF2B5EF4-FFF2-40B4-BE49-F238E27FC236}">
                <a16:creationId xmlns:a16="http://schemas.microsoft.com/office/drawing/2014/main" id="{2EC8DEAE-61AF-AAD1-C190-EECCCBE70A1A}"/>
              </a:ext>
            </a:extLst>
          </p:cNvPr>
          <p:cNvSpPr/>
          <p:nvPr/>
        </p:nvSpPr>
        <p:spPr>
          <a:xfrm flipH="1">
            <a:off x="399327" y="3742502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A41E3-F805-0BB3-A3DE-8A30B7DF1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íşľíďe">
            <a:extLst>
              <a:ext uri="{FF2B5EF4-FFF2-40B4-BE49-F238E27FC236}">
                <a16:creationId xmlns:a16="http://schemas.microsoft.com/office/drawing/2014/main" id="{DA86B488-1C93-9632-1852-69F27EF5CC59}"/>
              </a:ext>
            </a:extLst>
          </p:cNvPr>
          <p:cNvSpPr/>
          <p:nvPr/>
        </p:nvSpPr>
        <p:spPr>
          <a:xfrm>
            <a:off x="0" y="-1310124"/>
            <a:ext cx="12192000" cy="3081079"/>
          </a:xfrm>
          <a:prstGeom prst="rect">
            <a:avLst/>
          </a:prstGeom>
          <a:blipFill>
            <a:blip r:embed="rId3"/>
            <a:stretch>
              <a:fillRect t="-49129" b="-48724"/>
            </a:stretch>
          </a:blipFill>
          <a:ln w="762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íšľíde">
            <a:extLst>
              <a:ext uri="{FF2B5EF4-FFF2-40B4-BE49-F238E27FC236}">
                <a16:creationId xmlns:a16="http://schemas.microsoft.com/office/drawing/2014/main" id="{98BED00E-D94F-AEB5-26AC-8963BA5C21CF}"/>
              </a:ext>
            </a:extLst>
          </p:cNvPr>
          <p:cNvSpPr/>
          <p:nvPr/>
        </p:nvSpPr>
        <p:spPr>
          <a:xfrm>
            <a:off x="11169122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iş1ïďê">
            <a:extLst>
              <a:ext uri="{FF2B5EF4-FFF2-40B4-BE49-F238E27FC236}">
                <a16:creationId xmlns:a16="http://schemas.microsoft.com/office/drawing/2014/main" id="{00B93BC8-2635-E035-D97B-EEABB47EEB29}"/>
              </a:ext>
            </a:extLst>
          </p:cNvPr>
          <p:cNvSpPr/>
          <p:nvPr/>
        </p:nvSpPr>
        <p:spPr>
          <a:xfrm>
            <a:off x="11362274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" name="iśḻíḋe">
            <a:extLst>
              <a:ext uri="{FF2B5EF4-FFF2-40B4-BE49-F238E27FC236}">
                <a16:creationId xmlns:a16="http://schemas.microsoft.com/office/drawing/2014/main" id="{A15D371D-57A3-9129-9EEF-786878EE0A06}"/>
              </a:ext>
            </a:extLst>
          </p:cNvPr>
          <p:cNvSpPr/>
          <p:nvPr/>
        </p:nvSpPr>
        <p:spPr>
          <a:xfrm>
            <a:off x="11265698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îṡḻîdê">
            <a:extLst>
              <a:ext uri="{FF2B5EF4-FFF2-40B4-BE49-F238E27FC236}">
                <a16:creationId xmlns:a16="http://schemas.microsoft.com/office/drawing/2014/main" id="{8C38130C-82BE-D90E-63F2-4F90A2E4BE0B}"/>
              </a:ext>
            </a:extLst>
          </p:cNvPr>
          <p:cNvSpPr/>
          <p:nvPr/>
        </p:nvSpPr>
        <p:spPr>
          <a:xfrm>
            <a:off x="11458849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iślîdé">
            <a:extLst>
              <a:ext uri="{FF2B5EF4-FFF2-40B4-BE49-F238E27FC236}">
                <a16:creationId xmlns:a16="http://schemas.microsoft.com/office/drawing/2014/main" id="{D36B6C88-4919-911D-968E-21D8C7A08E57}"/>
              </a:ext>
            </a:extLst>
          </p:cNvPr>
          <p:cNvSpPr/>
          <p:nvPr/>
        </p:nvSpPr>
        <p:spPr>
          <a:xfrm>
            <a:off x="117609" y="407876"/>
            <a:ext cx="5177778" cy="1008697"/>
          </a:xfrm>
          <a:prstGeom prst="rect">
            <a:avLst/>
          </a:pr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4400" b="1" dirty="0"/>
              <a:t>构件图 </a:t>
            </a:r>
            <a:r>
              <a:rPr lang="en-US" altLang="zh-CN" sz="4400" b="1" dirty="0"/>
              <a:t>— </a:t>
            </a:r>
            <a:r>
              <a:rPr lang="zh-CN" altLang="en-US" sz="4400" b="1" dirty="0"/>
              <a:t>概念简介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81C0657-1E0C-5E96-1727-2C3C915FDBD5}"/>
              </a:ext>
            </a:extLst>
          </p:cNvPr>
          <p:cNvGrpSpPr/>
          <p:nvPr/>
        </p:nvGrpSpPr>
        <p:grpSpPr>
          <a:xfrm>
            <a:off x="-264131" y="1664798"/>
            <a:ext cx="3895683" cy="1438177"/>
            <a:chOff x="-427853" y="-100972"/>
            <a:chExt cx="3895683" cy="1438177"/>
          </a:xfrm>
        </p:grpSpPr>
        <p:sp>
          <p:nvSpPr>
            <p:cNvPr id="14" name="iṩļïḓè">
              <a:extLst>
                <a:ext uri="{FF2B5EF4-FFF2-40B4-BE49-F238E27FC236}">
                  <a16:creationId xmlns:a16="http://schemas.microsoft.com/office/drawing/2014/main" id="{3F1B8451-95C0-5F1C-97E9-00FE7E4B8A9B}"/>
                </a:ext>
              </a:extLst>
            </p:cNvPr>
            <p:cNvSpPr txBox="1"/>
            <p:nvPr/>
          </p:nvSpPr>
          <p:spPr bwMode="auto">
            <a:xfrm>
              <a:off x="387324" y="353801"/>
              <a:ext cx="2531518" cy="570330"/>
            </a:xfrm>
            <a:prstGeom prst="rect">
              <a:avLst/>
            </a:prstGeom>
            <a:solidFill>
              <a:srgbClr val="E9939A"/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构件的分类 </a:t>
              </a: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269ABF00-C6D8-9C22-E6E7-F7B4BF0CB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5013422">
              <a:off x="-28278" y="-500547"/>
              <a:ext cx="736994" cy="1536144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E4F3749E-1059-6316-FF8D-1334F6F47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16046210">
              <a:off x="2410927" y="280301"/>
              <a:ext cx="685336" cy="1428471"/>
            </a:xfrm>
            <a:prstGeom prst="rect">
              <a:avLst/>
            </a:prstGeom>
          </p:spPr>
        </p:pic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FDB10CC-B904-C067-CE1C-FAF2D39FD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242957"/>
              </p:ext>
            </p:extLst>
          </p:nvPr>
        </p:nvGraphicFramePr>
        <p:xfrm>
          <a:off x="720435" y="2996090"/>
          <a:ext cx="10701889" cy="27507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1245">
                  <a:extLst>
                    <a:ext uri="{9D8B030D-6E8A-4147-A177-3AD203B41FA5}">
                      <a16:colId xmlns:a16="http://schemas.microsoft.com/office/drawing/2014/main" val="3098709763"/>
                    </a:ext>
                  </a:extLst>
                </a:gridCol>
                <a:gridCol w="3630322">
                  <a:extLst>
                    <a:ext uri="{9D8B030D-6E8A-4147-A177-3AD203B41FA5}">
                      <a16:colId xmlns:a16="http://schemas.microsoft.com/office/drawing/2014/main" val="298171942"/>
                    </a:ext>
                  </a:extLst>
                </a:gridCol>
                <a:gridCol w="3630322">
                  <a:extLst>
                    <a:ext uri="{9D8B030D-6E8A-4147-A177-3AD203B41FA5}">
                      <a16:colId xmlns:a16="http://schemas.microsoft.com/office/drawing/2014/main" val="1671947513"/>
                    </a:ext>
                  </a:extLst>
                </a:gridCol>
              </a:tblGrid>
              <a:tr h="72237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800" b="1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quote-cjk-patch"/>
                        </a:rPr>
                        <a:t>     </a:t>
                      </a:r>
                      <a:endParaRPr lang="en-US" altLang="zh-CN" sz="2800" b="1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/>
                        <a:latin typeface="quote-cjk-patch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800" b="1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quote-cjk-patch"/>
                        </a:rPr>
                        <a:t>类型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800" b="1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quote-cjk-patch"/>
                        </a:rPr>
                        <a:t>    </a:t>
                      </a:r>
                      <a:endParaRPr lang="en-US" altLang="zh-CN" sz="2800" b="1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/>
                        <a:latin typeface="quote-cjk-patch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800" b="1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quote-cjk-patch"/>
                        </a:rPr>
                        <a:t>说明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endParaRPr lang="en-US" altLang="zh-CN" sz="2800" b="1" dirty="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effectLst/>
                        <a:latin typeface="quote-cjk-patch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800" b="1" dirty="0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quote-cjk-patch"/>
                        </a:rPr>
                        <a:t>示例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510413"/>
                  </a:ext>
                </a:extLst>
              </a:tr>
              <a:tr h="711497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部署组件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组成可执行系统的必要组件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EXE、DLL、JVM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715348"/>
                  </a:ext>
                </a:extLst>
              </a:tr>
              <a:tr h="658456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工作产品组件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开发过程的中间产物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源代码文件、数据文件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869423"/>
                  </a:ext>
                </a:extLst>
              </a:tr>
              <a:tr h="658456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执行组件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运行时创建的组件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Servlet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实例、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COM+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对象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052848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618141487"/>
      </p:ext>
    </p:extLst>
  </p:cSld>
  <p:clrMapOvr>
    <a:masterClrMapping/>
  </p:clrMapOvr>
  <p:transition spd="slow" advClick="0" advTm="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2646F-1864-BACC-F6CA-7EAEB9F17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íşľíďe">
            <a:extLst>
              <a:ext uri="{FF2B5EF4-FFF2-40B4-BE49-F238E27FC236}">
                <a16:creationId xmlns:a16="http://schemas.microsoft.com/office/drawing/2014/main" id="{71D2C252-98AA-EB64-BDA0-50E6886DCE96}"/>
              </a:ext>
            </a:extLst>
          </p:cNvPr>
          <p:cNvSpPr/>
          <p:nvPr/>
        </p:nvSpPr>
        <p:spPr>
          <a:xfrm>
            <a:off x="0" y="-1383668"/>
            <a:ext cx="12192000" cy="3081079"/>
          </a:xfrm>
          <a:prstGeom prst="rect">
            <a:avLst/>
          </a:prstGeom>
          <a:blipFill>
            <a:blip r:embed="rId3"/>
            <a:stretch>
              <a:fillRect t="-49129" b="-48724"/>
            </a:stretch>
          </a:blipFill>
          <a:ln w="762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íšľíde">
            <a:extLst>
              <a:ext uri="{FF2B5EF4-FFF2-40B4-BE49-F238E27FC236}">
                <a16:creationId xmlns:a16="http://schemas.microsoft.com/office/drawing/2014/main" id="{0B465524-4ADA-899D-B70E-99F7E79930F9}"/>
              </a:ext>
            </a:extLst>
          </p:cNvPr>
          <p:cNvSpPr/>
          <p:nvPr/>
        </p:nvSpPr>
        <p:spPr>
          <a:xfrm>
            <a:off x="11169122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iş1ïďê">
            <a:extLst>
              <a:ext uri="{FF2B5EF4-FFF2-40B4-BE49-F238E27FC236}">
                <a16:creationId xmlns:a16="http://schemas.microsoft.com/office/drawing/2014/main" id="{C6DED387-9C24-AF30-A11A-F9C016A2AAB2}"/>
              </a:ext>
            </a:extLst>
          </p:cNvPr>
          <p:cNvSpPr/>
          <p:nvPr/>
        </p:nvSpPr>
        <p:spPr>
          <a:xfrm>
            <a:off x="11362274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" name="iśḻíḋe">
            <a:extLst>
              <a:ext uri="{FF2B5EF4-FFF2-40B4-BE49-F238E27FC236}">
                <a16:creationId xmlns:a16="http://schemas.microsoft.com/office/drawing/2014/main" id="{355FE40A-24DC-5497-E08B-71B2390984A4}"/>
              </a:ext>
            </a:extLst>
          </p:cNvPr>
          <p:cNvSpPr/>
          <p:nvPr/>
        </p:nvSpPr>
        <p:spPr>
          <a:xfrm>
            <a:off x="11265698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îṡḻîdê">
            <a:extLst>
              <a:ext uri="{FF2B5EF4-FFF2-40B4-BE49-F238E27FC236}">
                <a16:creationId xmlns:a16="http://schemas.microsoft.com/office/drawing/2014/main" id="{619E055D-B96F-7772-F51E-5B73935F335C}"/>
              </a:ext>
            </a:extLst>
          </p:cNvPr>
          <p:cNvSpPr/>
          <p:nvPr/>
        </p:nvSpPr>
        <p:spPr>
          <a:xfrm>
            <a:off x="11458849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iślîdé">
            <a:extLst>
              <a:ext uri="{FF2B5EF4-FFF2-40B4-BE49-F238E27FC236}">
                <a16:creationId xmlns:a16="http://schemas.microsoft.com/office/drawing/2014/main" id="{50E868F9-263A-6181-F3D3-84CCBC2BA171}"/>
              </a:ext>
            </a:extLst>
          </p:cNvPr>
          <p:cNvSpPr/>
          <p:nvPr/>
        </p:nvSpPr>
        <p:spPr>
          <a:xfrm>
            <a:off x="652443" y="468329"/>
            <a:ext cx="2226096" cy="789942"/>
          </a:xfrm>
          <a:prstGeom prst="rect">
            <a:avLst/>
          </a:pr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/>
              <a:t>构件图 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49DD6E0-9733-DD40-DCF6-6EC6280CDFFE}"/>
              </a:ext>
            </a:extLst>
          </p:cNvPr>
          <p:cNvGrpSpPr/>
          <p:nvPr/>
        </p:nvGrpSpPr>
        <p:grpSpPr>
          <a:xfrm>
            <a:off x="0" y="2101663"/>
            <a:ext cx="3592774" cy="1327337"/>
            <a:chOff x="-124945" y="-80538"/>
            <a:chExt cx="3592774" cy="1327337"/>
          </a:xfrm>
        </p:grpSpPr>
        <p:sp>
          <p:nvSpPr>
            <p:cNvPr id="14" name="iṩļïḓè">
              <a:extLst>
                <a:ext uri="{FF2B5EF4-FFF2-40B4-BE49-F238E27FC236}">
                  <a16:creationId xmlns:a16="http://schemas.microsoft.com/office/drawing/2014/main" id="{5BED1E9B-1737-3FE6-D0FA-F3C062FC31C5}"/>
                </a:ext>
              </a:extLst>
            </p:cNvPr>
            <p:cNvSpPr txBox="1"/>
            <p:nvPr/>
          </p:nvSpPr>
          <p:spPr bwMode="auto">
            <a:xfrm>
              <a:off x="415605" y="409465"/>
              <a:ext cx="2475194" cy="421718"/>
            </a:xfrm>
            <a:prstGeom prst="rect">
              <a:avLst/>
            </a:prstGeom>
            <a:solidFill>
              <a:srgbClr val="E9939A"/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构件图 </a:t>
              </a:r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— 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作用</a:t>
              </a: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9ED58A7D-8246-D507-2048-F68DB6061C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5013422">
              <a:off x="274630" y="-480113"/>
              <a:ext cx="736994" cy="1536144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A19A8305-214B-1030-734A-0E3A7E8A4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16046210">
              <a:off x="2410926" y="189895"/>
              <a:ext cx="685336" cy="1428471"/>
            </a:xfrm>
            <a:prstGeom prst="rect">
              <a:avLst/>
            </a:prstGeom>
          </p:spPr>
        </p:pic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75D4C3F6-8890-2BD3-C6B5-9211F42EB195}"/>
              </a:ext>
            </a:extLst>
          </p:cNvPr>
          <p:cNvSpPr txBox="1"/>
          <p:nvPr/>
        </p:nvSpPr>
        <p:spPr>
          <a:xfrm>
            <a:off x="806849" y="3429000"/>
            <a:ext cx="9140670" cy="2469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/>
              <a:t>使测试人员和开发人员能够从整体上了解系统的所有</a:t>
            </a:r>
            <a:r>
              <a:rPr lang="zh-CN" altLang="en-US" sz="2000" b="1" dirty="0"/>
              <a:t>物理部件</a:t>
            </a:r>
            <a:endParaRPr lang="zh-CN" altLang="en-US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从</a:t>
            </a:r>
            <a:r>
              <a:rPr lang="zh-CN" altLang="en-US" sz="2000" b="1" dirty="0"/>
              <a:t>软件架构的角度</a:t>
            </a:r>
            <a:r>
              <a:rPr lang="zh-CN" altLang="en-US" sz="2000" dirty="0"/>
              <a:t>来描述一个系统的主要功能</a:t>
            </a:r>
          </a:p>
          <a:p>
            <a:pPr>
              <a:lnSpc>
                <a:spcPct val="200000"/>
              </a:lnSpc>
            </a:pPr>
            <a:r>
              <a:rPr lang="zh-CN" altLang="en-US" sz="2000" dirty="0"/>
              <a:t>方便项目组成员了解系统的</a:t>
            </a:r>
            <a:r>
              <a:rPr lang="zh-CN" altLang="en-US" sz="2000" b="1" dirty="0"/>
              <a:t>结构和功能</a:t>
            </a:r>
            <a:endParaRPr lang="zh-CN" altLang="en-US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有利于</a:t>
            </a:r>
            <a:r>
              <a:rPr lang="zh-CN" altLang="en-US" sz="2000" b="1" dirty="0"/>
              <a:t>软件复用</a:t>
            </a:r>
            <a:endParaRPr lang="zh-CN" altLang="en-US" sz="2000" dirty="0"/>
          </a:p>
        </p:txBody>
      </p:sp>
      <p:sp>
        <p:nvSpPr>
          <p:cNvPr id="2" name="ïṣḷïḑê">
            <a:extLst>
              <a:ext uri="{FF2B5EF4-FFF2-40B4-BE49-F238E27FC236}">
                <a16:creationId xmlns:a16="http://schemas.microsoft.com/office/drawing/2014/main" id="{77EBB07E-CD73-6D27-E811-8B218EB46D0B}"/>
              </a:ext>
            </a:extLst>
          </p:cNvPr>
          <p:cNvSpPr/>
          <p:nvPr/>
        </p:nvSpPr>
        <p:spPr>
          <a:xfrm flipH="1">
            <a:off x="409260" y="5009228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3" name="ïṣḷïḑê">
            <a:extLst>
              <a:ext uri="{FF2B5EF4-FFF2-40B4-BE49-F238E27FC236}">
                <a16:creationId xmlns:a16="http://schemas.microsoft.com/office/drawing/2014/main" id="{C795EEC8-7A80-33BA-DBE9-D956791B3ED8}"/>
              </a:ext>
            </a:extLst>
          </p:cNvPr>
          <p:cNvSpPr/>
          <p:nvPr/>
        </p:nvSpPr>
        <p:spPr>
          <a:xfrm flipH="1">
            <a:off x="399327" y="3742502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5" name="îš1íḓê">
            <a:extLst>
              <a:ext uri="{FF2B5EF4-FFF2-40B4-BE49-F238E27FC236}">
                <a16:creationId xmlns:a16="http://schemas.microsoft.com/office/drawing/2014/main" id="{D00596EC-EA0C-9FC0-3AA8-CB185FF73D7A}"/>
              </a:ext>
            </a:extLst>
          </p:cNvPr>
          <p:cNvSpPr/>
          <p:nvPr/>
        </p:nvSpPr>
        <p:spPr>
          <a:xfrm flipH="1">
            <a:off x="399327" y="4380096"/>
            <a:ext cx="180000" cy="180000"/>
          </a:xfrm>
          <a:prstGeom prst="roundRect">
            <a:avLst>
              <a:gd name="adj" fmla="val 0"/>
            </a:avLst>
          </a:prstGeom>
          <a:solidFill>
            <a:srgbClr val="E9939A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4400"/>
            <a:endParaRPr lang="zh-CN" altLang="en-US" sz="2000" b="1" spc="-150">
              <a:solidFill>
                <a:schemeClr val="bg1"/>
              </a:solidFill>
            </a:endParaRPr>
          </a:p>
        </p:txBody>
      </p:sp>
      <p:sp>
        <p:nvSpPr>
          <p:cNvPr id="6" name="îš1íḓê">
            <a:extLst>
              <a:ext uri="{FF2B5EF4-FFF2-40B4-BE49-F238E27FC236}">
                <a16:creationId xmlns:a16="http://schemas.microsoft.com/office/drawing/2014/main" id="{678FC24C-38AE-D099-D1C2-4CB42CF9D275}"/>
              </a:ext>
            </a:extLst>
          </p:cNvPr>
          <p:cNvSpPr/>
          <p:nvPr/>
        </p:nvSpPr>
        <p:spPr>
          <a:xfrm flipH="1">
            <a:off x="409260" y="5680111"/>
            <a:ext cx="180000" cy="180000"/>
          </a:xfrm>
          <a:prstGeom prst="roundRect">
            <a:avLst>
              <a:gd name="adj" fmla="val 0"/>
            </a:avLst>
          </a:prstGeom>
          <a:solidFill>
            <a:srgbClr val="E9939A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4400"/>
            <a:endParaRPr lang="zh-CN" altLang="en-US" sz="2000" b="1" spc="-15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5451248"/>
      </p:ext>
    </p:ext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1E4AB-8413-03AC-C91A-B0F5F56C7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íšľíde">
            <a:extLst>
              <a:ext uri="{FF2B5EF4-FFF2-40B4-BE49-F238E27FC236}">
                <a16:creationId xmlns:a16="http://schemas.microsoft.com/office/drawing/2014/main" id="{1E7B3C4F-5390-7935-DC8D-57AE8BCA27D6}"/>
              </a:ext>
            </a:extLst>
          </p:cNvPr>
          <p:cNvSpPr/>
          <p:nvPr/>
        </p:nvSpPr>
        <p:spPr>
          <a:xfrm>
            <a:off x="11169122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iş1ïďê">
            <a:extLst>
              <a:ext uri="{FF2B5EF4-FFF2-40B4-BE49-F238E27FC236}">
                <a16:creationId xmlns:a16="http://schemas.microsoft.com/office/drawing/2014/main" id="{6D1B3DC2-6E90-8AEA-DF48-4A39D967057B}"/>
              </a:ext>
            </a:extLst>
          </p:cNvPr>
          <p:cNvSpPr/>
          <p:nvPr/>
        </p:nvSpPr>
        <p:spPr>
          <a:xfrm>
            <a:off x="11362274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" name="iśḻíḋe">
            <a:extLst>
              <a:ext uri="{FF2B5EF4-FFF2-40B4-BE49-F238E27FC236}">
                <a16:creationId xmlns:a16="http://schemas.microsoft.com/office/drawing/2014/main" id="{C1DA585B-1487-53E8-630C-38DB8AAA5042}"/>
              </a:ext>
            </a:extLst>
          </p:cNvPr>
          <p:cNvSpPr/>
          <p:nvPr/>
        </p:nvSpPr>
        <p:spPr>
          <a:xfrm>
            <a:off x="11265698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îṡḻîdê">
            <a:extLst>
              <a:ext uri="{FF2B5EF4-FFF2-40B4-BE49-F238E27FC236}">
                <a16:creationId xmlns:a16="http://schemas.microsoft.com/office/drawing/2014/main" id="{2568D9A1-3507-64D4-4629-409137FB6B90}"/>
              </a:ext>
            </a:extLst>
          </p:cNvPr>
          <p:cNvSpPr/>
          <p:nvPr/>
        </p:nvSpPr>
        <p:spPr>
          <a:xfrm>
            <a:off x="11458849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8D70E11-BCD9-035C-0B73-1D053330803B}"/>
              </a:ext>
            </a:extLst>
          </p:cNvPr>
          <p:cNvGrpSpPr/>
          <p:nvPr/>
        </p:nvGrpSpPr>
        <p:grpSpPr>
          <a:xfrm>
            <a:off x="-188746" y="-69160"/>
            <a:ext cx="4527313" cy="1574360"/>
            <a:chOff x="-482367" y="-220719"/>
            <a:chExt cx="4527313" cy="1574360"/>
          </a:xfrm>
        </p:grpSpPr>
        <p:sp>
          <p:nvSpPr>
            <p:cNvPr id="14" name="iṩļïḓè">
              <a:extLst>
                <a:ext uri="{FF2B5EF4-FFF2-40B4-BE49-F238E27FC236}">
                  <a16:creationId xmlns:a16="http://schemas.microsoft.com/office/drawing/2014/main" id="{84EC1ADF-8B6E-233A-9746-FF67A89577BB}"/>
                </a:ext>
              </a:extLst>
            </p:cNvPr>
            <p:cNvSpPr txBox="1"/>
            <p:nvPr/>
          </p:nvSpPr>
          <p:spPr bwMode="auto">
            <a:xfrm>
              <a:off x="122641" y="252386"/>
              <a:ext cx="3492473" cy="655701"/>
            </a:xfrm>
            <a:prstGeom prst="rect">
              <a:avLst/>
            </a:prstGeom>
            <a:solidFill>
              <a:srgbClr val="E9939A"/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rmAutofit fontScale="850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构件图 </a:t>
              </a:r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— 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基本组成元素</a:t>
              </a: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A5F038F0-59A8-01B6-3C52-97E5F8F65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5013422">
              <a:off x="-82792" y="-620294"/>
              <a:ext cx="736994" cy="1536144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7353B46A-C125-6481-A1A2-145ECC0FF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16046210">
              <a:off x="2988043" y="296737"/>
              <a:ext cx="685336" cy="1428471"/>
            </a:xfrm>
            <a:prstGeom prst="rect">
              <a:avLst/>
            </a:prstGeom>
          </p:spPr>
        </p:pic>
      </p:grpSp>
      <p:sp>
        <p:nvSpPr>
          <p:cNvPr id="2" name="ïṣḷïḑê">
            <a:extLst>
              <a:ext uri="{FF2B5EF4-FFF2-40B4-BE49-F238E27FC236}">
                <a16:creationId xmlns:a16="http://schemas.microsoft.com/office/drawing/2014/main" id="{43C9E660-5C75-8BE0-6B60-ED6326322B90}"/>
              </a:ext>
            </a:extLst>
          </p:cNvPr>
          <p:cNvSpPr/>
          <p:nvPr/>
        </p:nvSpPr>
        <p:spPr>
          <a:xfrm flipH="1">
            <a:off x="409260" y="5009228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3" name="ïṣḷïḑê">
            <a:extLst>
              <a:ext uri="{FF2B5EF4-FFF2-40B4-BE49-F238E27FC236}">
                <a16:creationId xmlns:a16="http://schemas.microsoft.com/office/drawing/2014/main" id="{162D9F4F-2353-0BB6-8B69-45DE89E8B244}"/>
              </a:ext>
            </a:extLst>
          </p:cNvPr>
          <p:cNvSpPr/>
          <p:nvPr/>
        </p:nvSpPr>
        <p:spPr>
          <a:xfrm flipH="1">
            <a:off x="399327" y="3742502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5" name="îš1íḓê">
            <a:extLst>
              <a:ext uri="{FF2B5EF4-FFF2-40B4-BE49-F238E27FC236}">
                <a16:creationId xmlns:a16="http://schemas.microsoft.com/office/drawing/2014/main" id="{7EF5134B-EBE9-4163-6F2B-307CFD83A91A}"/>
              </a:ext>
            </a:extLst>
          </p:cNvPr>
          <p:cNvSpPr/>
          <p:nvPr/>
        </p:nvSpPr>
        <p:spPr>
          <a:xfrm flipH="1">
            <a:off x="399327" y="4380096"/>
            <a:ext cx="180000" cy="180000"/>
          </a:xfrm>
          <a:prstGeom prst="roundRect">
            <a:avLst>
              <a:gd name="adj" fmla="val 0"/>
            </a:avLst>
          </a:prstGeom>
          <a:solidFill>
            <a:srgbClr val="E9939A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4400"/>
            <a:endParaRPr lang="zh-CN" altLang="en-US" sz="2000" b="1" spc="-150">
              <a:solidFill>
                <a:schemeClr val="bg1"/>
              </a:solidFill>
            </a:endParaRPr>
          </a:p>
        </p:txBody>
      </p:sp>
      <p:sp>
        <p:nvSpPr>
          <p:cNvPr id="6" name="îš1íḓê">
            <a:extLst>
              <a:ext uri="{FF2B5EF4-FFF2-40B4-BE49-F238E27FC236}">
                <a16:creationId xmlns:a16="http://schemas.microsoft.com/office/drawing/2014/main" id="{A38821BD-6A0A-0DCA-86B4-A9B42D219606}"/>
              </a:ext>
            </a:extLst>
          </p:cNvPr>
          <p:cNvSpPr/>
          <p:nvPr/>
        </p:nvSpPr>
        <p:spPr>
          <a:xfrm flipH="1">
            <a:off x="409260" y="5680111"/>
            <a:ext cx="180000" cy="180000"/>
          </a:xfrm>
          <a:prstGeom prst="roundRect">
            <a:avLst>
              <a:gd name="adj" fmla="val 0"/>
            </a:avLst>
          </a:prstGeom>
          <a:solidFill>
            <a:srgbClr val="E9939A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4400"/>
            <a:endParaRPr lang="zh-CN" altLang="en-US" sz="2000" b="1" spc="-150">
              <a:solidFill>
                <a:schemeClr val="bg1"/>
              </a:solidFill>
            </a:endParaRP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DFE694C9-B8EA-E583-E66B-EC6A64A4E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443773"/>
              </p:ext>
            </p:extLst>
          </p:nvPr>
        </p:nvGraphicFramePr>
        <p:xfrm>
          <a:off x="1216241" y="1616611"/>
          <a:ext cx="9629312" cy="424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7783">
                  <a:extLst>
                    <a:ext uri="{9D8B030D-6E8A-4147-A177-3AD203B41FA5}">
                      <a16:colId xmlns:a16="http://schemas.microsoft.com/office/drawing/2014/main" val="1948437257"/>
                    </a:ext>
                  </a:extLst>
                </a:gridCol>
                <a:gridCol w="4113320">
                  <a:extLst>
                    <a:ext uri="{9D8B030D-6E8A-4147-A177-3AD203B41FA5}">
                      <a16:colId xmlns:a16="http://schemas.microsoft.com/office/drawing/2014/main" val="2293222488"/>
                    </a:ext>
                  </a:extLst>
                </a:gridCol>
                <a:gridCol w="3468209">
                  <a:extLst>
                    <a:ext uri="{9D8B030D-6E8A-4147-A177-3AD203B41FA5}">
                      <a16:colId xmlns:a16="http://schemas.microsoft.com/office/drawing/2014/main" val="3608240604"/>
                    </a:ext>
                  </a:extLst>
                </a:gridCol>
              </a:tblGrid>
              <a:tr h="70725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endParaRPr lang="en-US" altLang="zh-CN" sz="28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元素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endParaRPr lang="en-US" altLang="zh-CN" sz="28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符号表示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endParaRPr lang="en-US" altLang="zh-CN" sz="28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说明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308006"/>
                  </a:ext>
                </a:extLst>
              </a:tr>
              <a:tr h="70725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构件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矩形 </a:t>
                      </a:r>
                      <a:r>
                        <a:rPr lang="en-US" altLang="zh-CN" sz="2000" b="0" dirty="0">
                          <a:effectLst/>
                          <a:latin typeface="quote-cjk-patch"/>
                        </a:rPr>
                        <a:t>+ </a:t>
                      </a: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右上角两个小矩形图标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封装的物理代码单元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953894"/>
                  </a:ext>
                </a:extLst>
              </a:tr>
              <a:tr h="70725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供接口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小圆圈（从构件伸出）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>
                          <a:effectLst/>
                          <a:latin typeface="quote-cjk-patch"/>
                        </a:rPr>
                        <a:t>构件对外提供的服务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669902"/>
                  </a:ext>
                </a:extLst>
              </a:tr>
              <a:tr h="70725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需接口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半圆凹口（指向构件）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构件需要的外部服务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987799"/>
                  </a:ext>
                </a:extLst>
              </a:tr>
              <a:tr h="70725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依赖关系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虚线箭头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构件间的使用关系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313559"/>
                  </a:ext>
                </a:extLst>
              </a:tr>
              <a:tr h="70725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实现关系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>
                          <a:effectLst/>
                          <a:latin typeface="quote-cjk-patch"/>
                        </a:rPr>
                        <a:t>实线 </a:t>
                      </a:r>
                      <a:r>
                        <a:rPr lang="en-US" altLang="zh-CN" sz="2000" b="0">
                          <a:effectLst/>
                          <a:latin typeface="quote-cjk-patch"/>
                        </a:rPr>
                        <a:t>+ </a:t>
                      </a:r>
                      <a:r>
                        <a:rPr lang="zh-CN" altLang="en-US" sz="2000" b="0">
                          <a:effectLst/>
                          <a:latin typeface="quote-cjk-patch"/>
                        </a:rPr>
                        <a:t>空心三角箭头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构件实现接口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3498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46710726"/>
      </p:ext>
    </p:extLst>
  </p:cSld>
  <p:clrMapOvr>
    <a:masterClrMapping/>
  </p:clrMapOvr>
  <p:transition spd="slow" advClick="0" advTm="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C9E1A-E12A-7B8D-FD1F-CD988C22C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íšľíde">
            <a:extLst>
              <a:ext uri="{FF2B5EF4-FFF2-40B4-BE49-F238E27FC236}">
                <a16:creationId xmlns:a16="http://schemas.microsoft.com/office/drawing/2014/main" id="{12829418-1570-0A1C-EC71-F64FA41160E4}"/>
              </a:ext>
            </a:extLst>
          </p:cNvPr>
          <p:cNvSpPr/>
          <p:nvPr/>
        </p:nvSpPr>
        <p:spPr>
          <a:xfrm>
            <a:off x="11169122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iş1ïďê">
            <a:extLst>
              <a:ext uri="{FF2B5EF4-FFF2-40B4-BE49-F238E27FC236}">
                <a16:creationId xmlns:a16="http://schemas.microsoft.com/office/drawing/2014/main" id="{E4DD1983-A25C-89B0-81B8-ECDB7BB7D4B8}"/>
              </a:ext>
            </a:extLst>
          </p:cNvPr>
          <p:cNvSpPr/>
          <p:nvPr/>
        </p:nvSpPr>
        <p:spPr>
          <a:xfrm>
            <a:off x="11362274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" name="iśḻíḋe">
            <a:extLst>
              <a:ext uri="{FF2B5EF4-FFF2-40B4-BE49-F238E27FC236}">
                <a16:creationId xmlns:a16="http://schemas.microsoft.com/office/drawing/2014/main" id="{B20CB5C1-BF24-EF01-4525-8DCB2481B619}"/>
              </a:ext>
            </a:extLst>
          </p:cNvPr>
          <p:cNvSpPr/>
          <p:nvPr/>
        </p:nvSpPr>
        <p:spPr>
          <a:xfrm>
            <a:off x="11265698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îṡḻîdê">
            <a:extLst>
              <a:ext uri="{FF2B5EF4-FFF2-40B4-BE49-F238E27FC236}">
                <a16:creationId xmlns:a16="http://schemas.microsoft.com/office/drawing/2014/main" id="{E8AE8B42-B422-1756-FB81-DB8D4B4C8312}"/>
              </a:ext>
            </a:extLst>
          </p:cNvPr>
          <p:cNvSpPr/>
          <p:nvPr/>
        </p:nvSpPr>
        <p:spPr>
          <a:xfrm>
            <a:off x="11458849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044645E-F68A-7507-F8AF-950E5F8F331B}"/>
              </a:ext>
            </a:extLst>
          </p:cNvPr>
          <p:cNvGrpSpPr/>
          <p:nvPr/>
        </p:nvGrpSpPr>
        <p:grpSpPr>
          <a:xfrm>
            <a:off x="-188746" y="-69160"/>
            <a:ext cx="4527313" cy="1574360"/>
            <a:chOff x="-482367" y="-220719"/>
            <a:chExt cx="4527313" cy="1574360"/>
          </a:xfrm>
        </p:grpSpPr>
        <p:sp>
          <p:nvSpPr>
            <p:cNvPr id="14" name="iṩļïḓè">
              <a:extLst>
                <a:ext uri="{FF2B5EF4-FFF2-40B4-BE49-F238E27FC236}">
                  <a16:creationId xmlns:a16="http://schemas.microsoft.com/office/drawing/2014/main" id="{0FB3B9DD-5641-95B7-415E-C075C2F98B4B}"/>
                </a:ext>
              </a:extLst>
            </p:cNvPr>
            <p:cNvSpPr txBox="1"/>
            <p:nvPr/>
          </p:nvSpPr>
          <p:spPr bwMode="auto">
            <a:xfrm>
              <a:off x="122641" y="252386"/>
              <a:ext cx="3492473" cy="655701"/>
            </a:xfrm>
            <a:prstGeom prst="rect">
              <a:avLst/>
            </a:prstGeom>
            <a:solidFill>
              <a:srgbClr val="E9939A"/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rmAutofit fontScale="850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构件图 </a:t>
              </a:r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— 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典型建模场景</a:t>
              </a: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E07F3959-8AA8-7613-7EA5-658506A7F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5013422">
              <a:off x="-82792" y="-620294"/>
              <a:ext cx="736994" cy="1536144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500676B7-C99D-BDEB-BDFF-C5AD3BFA8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16046210">
              <a:off x="2988043" y="296737"/>
              <a:ext cx="685336" cy="1428471"/>
            </a:xfrm>
            <a:prstGeom prst="rect">
              <a:avLst/>
            </a:prstGeom>
          </p:spPr>
        </p:pic>
      </p:grpSp>
      <p:sp>
        <p:nvSpPr>
          <p:cNvPr id="2" name="ïṣḷïḑê">
            <a:extLst>
              <a:ext uri="{FF2B5EF4-FFF2-40B4-BE49-F238E27FC236}">
                <a16:creationId xmlns:a16="http://schemas.microsoft.com/office/drawing/2014/main" id="{8E5E9E6F-907C-DF37-1DAB-4CA4A10B39B9}"/>
              </a:ext>
            </a:extLst>
          </p:cNvPr>
          <p:cNvSpPr/>
          <p:nvPr/>
        </p:nvSpPr>
        <p:spPr>
          <a:xfrm flipH="1">
            <a:off x="409260" y="5009228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3" name="ïṣḷïḑê">
            <a:extLst>
              <a:ext uri="{FF2B5EF4-FFF2-40B4-BE49-F238E27FC236}">
                <a16:creationId xmlns:a16="http://schemas.microsoft.com/office/drawing/2014/main" id="{04D8647A-AFC4-AD82-D648-10E43ACD05F9}"/>
              </a:ext>
            </a:extLst>
          </p:cNvPr>
          <p:cNvSpPr/>
          <p:nvPr/>
        </p:nvSpPr>
        <p:spPr>
          <a:xfrm flipH="1">
            <a:off x="399327" y="3742502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5" name="îš1íḓê">
            <a:extLst>
              <a:ext uri="{FF2B5EF4-FFF2-40B4-BE49-F238E27FC236}">
                <a16:creationId xmlns:a16="http://schemas.microsoft.com/office/drawing/2014/main" id="{1CC13DB9-CCBD-39B3-392E-98BA077FAB26}"/>
              </a:ext>
            </a:extLst>
          </p:cNvPr>
          <p:cNvSpPr/>
          <p:nvPr/>
        </p:nvSpPr>
        <p:spPr>
          <a:xfrm flipH="1">
            <a:off x="399327" y="4380096"/>
            <a:ext cx="180000" cy="180000"/>
          </a:xfrm>
          <a:prstGeom prst="roundRect">
            <a:avLst>
              <a:gd name="adj" fmla="val 0"/>
            </a:avLst>
          </a:prstGeom>
          <a:solidFill>
            <a:srgbClr val="E9939A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4400"/>
            <a:endParaRPr lang="zh-CN" altLang="en-US" sz="2000" b="1" spc="-150">
              <a:solidFill>
                <a:schemeClr val="bg1"/>
              </a:solidFill>
            </a:endParaRPr>
          </a:p>
        </p:txBody>
      </p:sp>
      <p:sp>
        <p:nvSpPr>
          <p:cNvPr id="6" name="îš1íḓê">
            <a:extLst>
              <a:ext uri="{FF2B5EF4-FFF2-40B4-BE49-F238E27FC236}">
                <a16:creationId xmlns:a16="http://schemas.microsoft.com/office/drawing/2014/main" id="{3F38A6BA-B7D9-D50E-155B-39F2FF4E8FD4}"/>
              </a:ext>
            </a:extLst>
          </p:cNvPr>
          <p:cNvSpPr/>
          <p:nvPr/>
        </p:nvSpPr>
        <p:spPr>
          <a:xfrm flipH="1">
            <a:off x="409260" y="5680111"/>
            <a:ext cx="180000" cy="180000"/>
          </a:xfrm>
          <a:prstGeom prst="roundRect">
            <a:avLst>
              <a:gd name="adj" fmla="val 0"/>
            </a:avLst>
          </a:prstGeom>
          <a:solidFill>
            <a:srgbClr val="E9939A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4400"/>
            <a:endParaRPr lang="zh-CN" altLang="en-US" sz="2000" b="1" spc="-150">
              <a:solidFill>
                <a:schemeClr val="bg1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14FFCF0-EDA2-8053-3EFF-A6E06EEA5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101171"/>
              </p:ext>
            </p:extLst>
          </p:nvPr>
        </p:nvGraphicFramePr>
        <p:xfrm>
          <a:off x="1046579" y="1792771"/>
          <a:ext cx="9748668" cy="427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9809">
                  <a:extLst>
                    <a:ext uri="{9D8B030D-6E8A-4147-A177-3AD203B41FA5}">
                      <a16:colId xmlns:a16="http://schemas.microsoft.com/office/drawing/2014/main" val="84089191"/>
                    </a:ext>
                  </a:extLst>
                </a:gridCol>
                <a:gridCol w="6178859">
                  <a:extLst>
                    <a:ext uri="{9D8B030D-6E8A-4147-A177-3AD203B41FA5}">
                      <a16:colId xmlns:a16="http://schemas.microsoft.com/office/drawing/2014/main" val="532241778"/>
                    </a:ext>
                  </a:extLst>
                </a:gridCol>
              </a:tblGrid>
              <a:tr h="58639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400" b="1" dirty="0">
                          <a:effectLst/>
                          <a:latin typeface="quote-cjk-patch"/>
                        </a:rPr>
                        <a:t>场景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93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400" b="1" dirty="0">
                          <a:effectLst/>
                          <a:latin typeface="quote-cjk-patch"/>
                        </a:rPr>
                        <a:t>建模要点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9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045668"/>
                  </a:ext>
                </a:extLst>
              </a:tr>
              <a:tr h="86118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 dirty="0">
                          <a:effectLst/>
                          <a:latin typeface="quote-cjk-patch"/>
                        </a:rPr>
                        <a:t>对系统建模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quote-cjk-patch"/>
                        </a:rPr>
                        <a:t>确定子系统对外接口 → 确定子组件和接口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632966"/>
                  </a:ext>
                </a:extLst>
              </a:tr>
              <a:tr h="89664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 dirty="0">
                          <a:effectLst/>
                          <a:latin typeface="quote-cjk-patch"/>
                        </a:rPr>
                        <a:t>对用例建模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quote-cjk-patch"/>
                        </a:rPr>
                        <a:t>按</a:t>
                      </a:r>
                      <a:r>
                        <a:rPr lang="en-US" altLang="zh-CN" b="0" dirty="0">
                          <a:effectLst/>
                          <a:latin typeface="quote-cjk-patch"/>
                        </a:rPr>
                        <a:t>3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步法进行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49819"/>
                  </a:ext>
                </a:extLst>
              </a:tr>
              <a:tr h="96484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 dirty="0">
                          <a:effectLst/>
                          <a:latin typeface="quote-cjk-patch"/>
                        </a:rPr>
                        <a:t>对可执行程序建模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quote-cjk-patch"/>
                        </a:rPr>
                        <a:t>标识组件 → 理解类型、接口和作用 → 标识关系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694833"/>
                  </a:ext>
                </a:extLst>
              </a:tr>
              <a:tr h="96484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 dirty="0">
                          <a:effectLst/>
                          <a:latin typeface="quote-cjk-patch"/>
                        </a:rPr>
                        <a:t>对源代码建模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quote-cjk-patch"/>
                        </a:rPr>
                        <a:t>识别源文件集合为组件，较大系统用包分组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14941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048023645"/>
      </p:ext>
    </p:extLst>
  </p:cSld>
  <p:clrMapOvr>
    <a:masterClrMapping/>
  </p:clrMapOvr>
  <p:transition spd="slow" advClick="0" advTm="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75EF4-0C98-3909-6B67-79DA6FA45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íšľíde">
            <a:extLst>
              <a:ext uri="{FF2B5EF4-FFF2-40B4-BE49-F238E27FC236}">
                <a16:creationId xmlns:a16="http://schemas.microsoft.com/office/drawing/2014/main" id="{ADD09687-7D6E-A9ED-50F5-34CF549F8568}"/>
              </a:ext>
            </a:extLst>
          </p:cNvPr>
          <p:cNvSpPr/>
          <p:nvPr/>
        </p:nvSpPr>
        <p:spPr>
          <a:xfrm>
            <a:off x="11169122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iş1ïďê">
            <a:extLst>
              <a:ext uri="{FF2B5EF4-FFF2-40B4-BE49-F238E27FC236}">
                <a16:creationId xmlns:a16="http://schemas.microsoft.com/office/drawing/2014/main" id="{A2D504A9-6529-53F8-3945-C940C8863876}"/>
              </a:ext>
            </a:extLst>
          </p:cNvPr>
          <p:cNvSpPr/>
          <p:nvPr/>
        </p:nvSpPr>
        <p:spPr>
          <a:xfrm>
            <a:off x="11362274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" name="iśḻíḋe">
            <a:extLst>
              <a:ext uri="{FF2B5EF4-FFF2-40B4-BE49-F238E27FC236}">
                <a16:creationId xmlns:a16="http://schemas.microsoft.com/office/drawing/2014/main" id="{6A9C6085-BAF6-2290-2BE9-38DF88BE9449}"/>
              </a:ext>
            </a:extLst>
          </p:cNvPr>
          <p:cNvSpPr/>
          <p:nvPr/>
        </p:nvSpPr>
        <p:spPr>
          <a:xfrm>
            <a:off x="11265698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îṡḻîdê">
            <a:extLst>
              <a:ext uri="{FF2B5EF4-FFF2-40B4-BE49-F238E27FC236}">
                <a16:creationId xmlns:a16="http://schemas.microsoft.com/office/drawing/2014/main" id="{4E7CF382-301F-60A4-1897-F586882620CF}"/>
              </a:ext>
            </a:extLst>
          </p:cNvPr>
          <p:cNvSpPr/>
          <p:nvPr/>
        </p:nvSpPr>
        <p:spPr>
          <a:xfrm>
            <a:off x="11458849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C1F3063-745C-BE9B-8E34-76FD1F276DF5}"/>
              </a:ext>
            </a:extLst>
          </p:cNvPr>
          <p:cNvGrpSpPr/>
          <p:nvPr/>
        </p:nvGrpSpPr>
        <p:grpSpPr>
          <a:xfrm>
            <a:off x="-188745" y="-139128"/>
            <a:ext cx="4580579" cy="1537791"/>
            <a:chOff x="-313690" y="-219666"/>
            <a:chExt cx="4580579" cy="1537791"/>
          </a:xfrm>
        </p:grpSpPr>
        <p:sp>
          <p:nvSpPr>
            <p:cNvPr id="14" name="iṩļïḓè">
              <a:extLst>
                <a:ext uri="{FF2B5EF4-FFF2-40B4-BE49-F238E27FC236}">
                  <a16:creationId xmlns:a16="http://schemas.microsoft.com/office/drawing/2014/main" id="{B486E8D8-C7D1-0F48-AD94-17FE431B0550}"/>
                </a:ext>
              </a:extLst>
            </p:cNvPr>
            <p:cNvSpPr txBox="1"/>
            <p:nvPr/>
          </p:nvSpPr>
          <p:spPr bwMode="auto">
            <a:xfrm>
              <a:off x="259686" y="273339"/>
              <a:ext cx="3492473" cy="655701"/>
            </a:xfrm>
            <a:prstGeom prst="rect">
              <a:avLst/>
            </a:prstGeom>
            <a:solidFill>
              <a:srgbClr val="E9939A"/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rmAutofit fontScale="850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构件图 </a:t>
              </a:r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— 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端口与连接器</a:t>
              </a: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ED93449C-63C3-CC02-88C0-E87767538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5013422">
              <a:off x="85885" y="-619241"/>
              <a:ext cx="736994" cy="1536144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6A165D92-9232-8F27-A565-D85424A63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16046210">
              <a:off x="3209986" y="261221"/>
              <a:ext cx="685336" cy="1428471"/>
            </a:xfrm>
            <a:prstGeom prst="rect">
              <a:avLst/>
            </a:prstGeom>
          </p:spPr>
        </p:pic>
      </p:grpSp>
      <p:sp>
        <p:nvSpPr>
          <p:cNvPr id="2" name="ïṣḷïḑê">
            <a:extLst>
              <a:ext uri="{FF2B5EF4-FFF2-40B4-BE49-F238E27FC236}">
                <a16:creationId xmlns:a16="http://schemas.microsoft.com/office/drawing/2014/main" id="{A219F7BB-8A15-E8F0-6C71-446BB0902E49}"/>
              </a:ext>
            </a:extLst>
          </p:cNvPr>
          <p:cNvSpPr/>
          <p:nvPr/>
        </p:nvSpPr>
        <p:spPr>
          <a:xfrm rot="13519801" flipH="1">
            <a:off x="431841" y="5881385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3" name="ïṣḷïḑê">
            <a:extLst>
              <a:ext uri="{FF2B5EF4-FFF2-40B4-BE49-F238E27FC236}">
                <a16:creationId xmlns:a16="http://schemas.microsoft.com/office/drawing/2014/main" id="{5A7B91C9-1209-B150-3B61-ABE94C40997E}"/>
              </a:ext>
            </a:extLst>
          </p:cNvPr>
          <p:cNvSpPr/>
          <p:nvPr/>
        </p:nvSpPr>
        <p:spPr>
          <a:xfrm rot="13519801" flipH="1">
            <a:off x="421908" y="4614659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5" name="îš1íḓê">
            <a:extLst>
              <a:ext uri="{FF2B5EF4-FFF2-40B4-BE49-F238E27FC236}">
                <a16:creationId xmlns:a16="http://schemas.microsoft.com/office/drawing/2014/main" id="{C4633FF1-C6E9-4A3A-FB55-DA120248806E}"/>
              </a:ext>
            </a:extLst>
          </p:cNvPr>
          <p:cNvSpPr/>
          <p:nvPr/>
        </p:nvSpPr>
        <p:spPr>
          <a:xfrm rot="13519801" flipH="1">
            <a:off x="421908" y="5252253"/>
            <a:ext cx="180000" cy="180000"/>
          </a:xfrm>
          <a:prstGeom prst="roundRect">
            <a:avLst>
              <a:gd name="adj" fmla="val 0"/>
            </a:avLst>
          </a:prstGeom>
          <a:solidFill>
            <a:srgbClr val="E9939A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4400"/>
            <a:endParaRPr lang="zh-CN" altLang="en-US" sz="2000" b="1" spc="-150">
              <a:solidFill>
                <a:schemeClr val="bg1"/>
              </a:solidFill>
            </a:endParaRPr>
          </a:p>
        </p:txBody>
      </p:sp>
      <p:sp>
        <p:nvSpPr>
          <p:cNvPr id="6" name="îš1íḓê">
            <a:extLst>
              <a:ext uri="{FF2B5EF4-FFF2-40B4-BE49-F238E27FC236}">
                <a16:creationId xmlns:a16="http://schemas.microsoft.com/office/drawing/2014/main" id="{0CE72D69-5F05-02E9-58C2-815E548FA3D0}"/>
              </a:ext>
            </a:extLst>
          </p:cNvPr>
          <p:cNvSpPr/>
          <p:nvPr/>
        </p:nvSpPr>
        <p:spPr>
          <a:xfrm rot="13519801" flipH="1">
            <a:off x="431841" y="6552268"/>
            <a:ext cx="180000" cy="180000"/>
          </a:xfrm>
          <a:prstGeom prst="roundRect">
            <a:avLst>
              <a:gd name="adj" fmla="val 0"/>
            </a:avLst>
          </a:prstGeom>
          <a:solidFill>
            <a:srgbClr val="E9939A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4400"/>
            <a:endParaRPr lang="zh-CN" altLang="en-US" sz="2000" b="1" spc="-150">
              <a:solidFill>
                <a:schemeClr val="bg1"/>
              </a:solidFill>
            </a:endParaRP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971FD3E6-AEAD-176B-D135-B407DC949D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253957"/>
              </p:ext>
            </p:extLst>
          </p:nvPr>
        </p:nvGraphicFramePr>
        <p:xfrm>
          <a:off x="949910" y="1430261"/>
          <a:ext cx="9028591" cy="32829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2841">
                  <a:extLst>
                    <a:ext uri="{9D8B030D-6E8A-4147-A177-3AD203B41FA5}">
                      <a16:colId xmlns:a16="http://schemas.microsoft.com/office/drawing/2014/main" val="1948437257"/>
                    </a:ext>
                  </a:extLst>
                </a:gridCol>
                <a:gridCol w="2769100">
                  <a:extLst>
                    <a:ext uri="{9D8B030D-6E8A-4147-A177-3AD203B41FA5}">
                      <a16:colId xmlns:a16="http://schemas.microsoft.com/office/drawing/2014/main" val="2293222488"/>
                    </a:ext>
                  </a:extLst>
                </a:gridCol>
                <a:gridCol w="4866650">
                  <a:extLst>
                    <a:ext uri="{9D8B030D-6E8A-4147-A177-3AD203B41FA5}">
                      <a16:colId xmlns:a16="http://schemas.microsoft.com/office/drawing/2014/main" val="3608240604"/>
                    </a:ext>
                  </a:extLst>
                </a:gridCol>
              </a:tblGrid>
              <a:tr h="52237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endParaRPr lang="en-US" altLang="zh-CN" sz="28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元素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endParaRPr lang="en-US" altLang="zh-CN" sz="28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符号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endParaRPr lang="en-US" altLang="zh-CN" sz="28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说明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308006"/>
                  </a:ext>
                </a:extLst>
              </a:tr>
              <a:tr h="76268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 dirty="0">
                          <a:effectLst/>
                          <a:latin typeface="quote-cjk-patch"/>
                        </a:rPr>
                        <a:t>端口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quote-cjk-patch"/>
                        </a:rPr>
                        <a:t>构件边界上的小方块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quote-cjk-patch"/>
                        </a:rPr>
                        <a:t>构件的交互点，所有进出交互都通过端口</a:t>
                      </a:r>
                      <a:endParaRPr lang="en-US" altLang="zh-CN" b="0" dirty="0">
                        <a:effectLst/>
                        <a:latin typeface="quote-cjk-patch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quote-cjk-patch"/>
                        </a:rPr>
                        <a:t>端口无法独立存在，必须依附于构件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953894"/>
                  </a:ext>
                </a:extLst>
              </a:tr>
              <a:tr h="140400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 dirty="0">
                          <a:effectLst/>
                          <a:latin typeface="quote-cjk-patch"/>
                        </a:rPr>
                        <a:t>连接器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连接端口与端口的连线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quote-cjk-patch"/>
                        </a:rPr>
                        <a:t>端口间通信，包括：</a:t>
                      </a:r>
                      <a:br>
                        <a:rPr lang="zh-CN" altLang="en-US" b="0" dirty="0">
                          <a:effectLst/>
                          <a:latin typeface="quote-cjk-patch"/>
                        </a:rPr>
                      </a:br>
                      <a:r>
                        <a:rPr lang="en-US" altLang="zh-CN" b="0" dirty="0">
                          <a:effectLst/>
                          <a:latin typeface="quote-cjk-patch"/>
                        </a:rPr>
                        <a:t>• 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直接连接器</a:t>
                      </a:r>
                      <a:br>
                        <a:rPr lang="zh-CN" altLang="en-US" b="0" dirty="0">
                          <a:effectLst/>
                          <a:latin typeface="quote-cjk-patch"/>
                        </a:rPr>
                      </a:br>
                      <a:r>
                        <a:rPr lang="en-US" altLang="zh-CN" b="0" dirty="0">
                          <a:effectLst/>
                          <a:latin typeface="quote-cjk-patch"/>
                        </a:rPr>
                        <a:t>• 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接口连接器</a:t>
                      </a:r>
                      <a:br>
                        <a:rPr lang="zh-CN" altLang="en-US" b="0" dirty="0">
                          <a:effectLst/>
                          <a:latin typeface="quote-cjk-patch"/>
                        </a:rPr>
                      </a:br>
                      <a:r>
                        <a:rPr lang="en-US" altLang="zh-CN" b="0" dirty="0">
                          <a:effectLst/>
                          <a:latin typeface="quote-cjk-patch"/>
                        </a:rPr>
                        <a:t>• 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委派连接器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669902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8C455C4E-D34C-AEC0-5686-AEC299100A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10" y="4770674"/>
            <a:ext cx="4145654" cy="199887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2148541"/>
      </p:ext>
    </p:extLst>
  </p:cSld>
  <p:clrMapOvr>
    <a:masterClrMapping/>
  </p:clrMapOvr>
  <p:transition spd="slow" advClick="0" advTm="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369928" y="-208690"/>
            <a:ext cx="4328231" cy="1651999"/>
            <a:chOff x="-231617" y="-112876"/>
            <a:chExt cx="3948702" cy="1399304"/>
          </a:xfrm>
        </p:grpSpPr>
        <p:sp>
          <p:nvSpPr>
            <p:cNvPr id="5" name="iṩļïḓè"/>
            <p:cNvSpPr txBox="1"/>
            <p:nvPr/>
          </p:nvSpPr>
          <p:spPr bwMode="auto">
            <a:xfrm>
              <a:off x="415604" y="337212"/>
              <a:ext cx="2815867" cy="493971"/>
            </a:xfrm>
            <a:prstGeom prst="rect">
              <a:avLst/>
            </a:prstGeom>
            <a:solidFill>
              <a:srgbClr val="E9939A"/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rmAutofit fontScale="925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dist"/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构件图 </a:t>
              </a:r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— 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图形分类</a:t>
              </a: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5013422">
              <a:off x="167958" y="-512451"/>
              <a:ext cx="736994" cy="1536144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16046210">
              <a:off x="2660182" y="229524"/>
              <a:ext cx="685336" cy="1428471"/>
            </a:xfrm>
            <a:prstGeom prst="rect">
              <a:avLst/>
            </a:prstGeom>
          </p:spPr>
        </p:pic>
      </p:grpSp>
      <p:sp>
        <p:nvSpPr>
          <p:cNvPr id="10" name="íṥḷíďé"/>
          <p:cNvSpPr/>
          <p:nvPr/>
        </p:nvSpPr>
        <p:spPr>
          <a:xfrm>
            <a:off x="1794188" y="2057637"/>
            <a:ext cx="3914153" cy="16882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127000" dir="42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314482" y="2186687"/>
            <a:ext cx="1377563" cy="465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简单组件图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 rot="2310958">
            <a:off x="1595674" y="1672365"/>
            <a:ext cx="783340" cy="1632746"/>
          </a:xfrm>
          <a:prstGeom prst="rect">
            <a:avLst/>
          </a:prstGeom>
        </p:spPr>
      </p:pic>
      <p:sp>
        <p:nvSpPr>
          <p:cNvPr id="12" name="íṥḷíďé"/>
          <p:cNvSpPr/>
          <p:nvPr/>
        </p:nvSpPr>
        <p:spPr>
          <a:xfrm>
            <a:off x="1711238" y="4140707"/>
            <a:ext cx="4080052" cy="20902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127000" dir="42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119650" y="4722541"/>
            <a:ext cx="3485240" cy="1295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使用嵌套的组件图来表示组件的内部结构，展示组件如何由更小的子组件构成。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 rot="2310958">
            <a:off x="1319568" y="3812139"/>
            <a:ext cx="783340" cy="1632746"/>
          </a:xfrm>
          <a:prstGeom prst="rect">
            <a:avLst/>
          </a:prstGeom>
        </p:spPr>
      </p:pic>
      <p:sp>
        <p:nvSpPr>
          <p:cNvPr id="16" name="îṥľïḑè"/>
          <p:cNvSpPr/>
          <p:nvPr/>
        </p:nvSpPr>
        <p:spPr>
          <a:xfrm>
            <a:off x="6330023" y="2793708"/>
            <a:ext cx="4874269" cy="1778879"/>
          </a:xfrm>
          <a:prstGeom prst="rect">
            <a:avLst/>
          </a:prstGeom>
          <a:noFill/>
          <a:ln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" name="íṡ1îḑê"/>
          <p:cNvSpPr/>
          <p:nvPr/>
        </p:nvSpPr>
        <p:spPr>
          <a:xfrm>
            <a:off x="6546128" y="1980517"/>
            <a:ext cx="4193894" cy="3543002"/>
          </a:xfrm>
          <a:prstGeom prst="roundRect">
            <a:avLst>
              <a:gd name="adj" fmla="val 3128"/>
            </a:avLst>
          </a:prstGeom>
          <a:blipFill>
            <a:blip r:embed="rId6"/>
            <a:stretch>
              <a:fillRect l="-34584" r="-34376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1ECF56-0106-5DBC-018F-C6A8105667F4}"/>
              </a:ext>
            </a:extLst>
          </p:cNvPr>
          <p:cNvSpPr txBox="1"/>
          <p:nvPr/>
        </p:nvSpPr>
        <p:spPr>
          <a:xfrm>
            <a:off x="2282630" y="2659340"/>
            <a:ext cx="3322260" cy="879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展示组件的外部接口和依赖关系，从外部视角看系统。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5E74B96-AF47-6C7C-5FC2-441AC04FDE7E}"/>
              </a:ext>
            </a:extLst>
          </p:cNvPr>
          <p:cNvSpPr txBox="1"/>
          <p:nvPr/>
        </p:nvSpPr>
        <p:spPr>
          <a:xfrm>
            <a:off x="2121986" y="4258375"/>
            <a:ext cx="3258556" cy="46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嵌套组件图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8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76A3B-735A-C5AD-3547-BC63D4939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íšľíde">
            <a:extLst>
              <a:ext uri="{FF2B5EF4-FFF2-40B4-BE49-F238E27FC236}">
                <a16:creationId xmlns:a16="http://schemas.microsoft.com/office/drawing/2014/main" id="{4F51825B-0487-386E-0C0B-EC33C5E38136}"/>
              </a:ext>
            </a:extLst>
          </p:cNvPr>
          <p:cNvSpPr/>
          <p:nvPr/>
        </p:nvSpPr>
        <p:spPr>
          <a:xfrm>
            <a:off x="11169122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iş1ïďê">
            <a:extLst>
              <a:ext uri="{FF2B5EF4-FFF2-40B4-BE49-F238E27FC236}">
                <a16:creationId xmlns:a16="http://schemas.microsoft.com/office/drawing/2014/main" id="{E4CC1886-055D-60F3-92F0-0431FA05ECF8}"/>
              </a:ext>
            </a:extLst>
          </p:cNvPr>
          <p:cNvSpPr/>
          <p:nvPr/>
        </p:nvSpPr>
        <p:spPr>
          <a:xfrm>
            <a:off x="11362274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" name="iśḻíḋe">
            <a:extLst>
              <a:ext uri="{FF2B5EF4-FFF2-40B4-BE49-F238E27FC236}">
                <a16:creationId xmlns:a16="http://schemas.microsoft.com/office/drawing/2014/main" id="{1D5FAA05-03C5-4CA7-034B-6BF7AE3E26B8}"/>
              </a:ext>
            </a:extLst>
          </p:cNvPr>
          <p:cNvSpPr/>
          <p:nvPr/>
        </p:nvSpPr>
        <p:spPr>
          <a:xfrm>
            <a:off x="11265698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îṡḻîdê">
            <a:extLst>
              <a:ext uri="{FF2B5EF4-FFF2-40B4-BE49-F238E27FC236}">
                <a16:creationId xmlns:a16="http://schemas.microsoft.com/office/drawing/2014/main" id="{5BA92B57-707C-6404-C3C3-3385E36A637E}"/>
              </a:ext>
            </a:extLst>
          </p:cNvPr>
          <p:cNvSpPr/>
          <p:nvPr/>
        </p:nvSpPr>
        <p:spPr>
          <a:xfrm>
            <a:off x="11458849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8148638-856F-D517-0D78-99996D83CEFD}"/>
              </a:ext>
            </a:extLst>
          </p:cNvPr>
          <p:cNvGrpSpPr/>
          <p:nvPr/>
        </p:nvGrpSpPr>
        <p:grpSpPr>
          <a:xfrm>
            <a:off x="-188745" y="-139128"/>
            <a:ext cx="4580579" cy="1537791"/>
            <a:chOff x="-313690" y="-219666"/>
            <a:chExt cx="4580579" cy="1537791"/>
          </a:xfrm>
        </p:grpSpPr>
        <p:sp>
          <p:nvSpPr>
            <p:cNvPr id="14" name="iṩļïḓè">
              <a:extLst>
                <a:ext uri="{FF2B5EF4-FFF2-40B4-BE49-F238E27FC236}">
                  <a16:creationId xmlns:a16="http://schemas.microsoft.com/office/drawing/2014/main" id="{E78EF16B-C71E-755B-51A9-363A4C9E8E0E}"/>
                </a:ext>
              </a:extLst>
            </p:cNvPr>
            <p:cNvSpPr txBox="1"/>
            <p:nvPr/>
          </p:nvSpPr>
          <p:spPr bwMode="auto">
            <a:xfrm>
              <a:off x="259686" y="273339"/>
              <a:ext cx="3492473" cy="655701"/>
            </a:xfrm>
            <a:prstGeom prst="rect">
              <a:avLst/>
            </a:prstGeom>
            <a:solidFill>
              <a:srgbClr val="E9939A"/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构件图 </a:t>
              </a:r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— 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建模过程</a:t>
              </a: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D940A272-A3AA-B345-57D2-B2624E154A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5013422">
              <a:off x="85885" y="-619241"/>
              <a:ext cx="736994" cy="1536144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F5DCD516-1289-DE4E-586F-E283B707E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16046210">
              <a:off x="3209986" y="261221"/>
              <a:ext cx="685336" cy="1428471"/>
            </a:xfrm>
            <a:prstGeom prst="rect">
              <a:avLst/>
            </a:prstGeom>
          </p:spPr>
        </p:pic>
      </p:grp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BC93D61-0396-6BB8-A7F2-28859471E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297738"/>
              </p:ext>
            </p:extLst>
          </p:nvPr>
        </p:nvGraphicFramePr>
        <p:xfrm>
          <a:off x="1150759" y="1758112"/>
          <a:ext cx="9404791" cy="2934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6852">
                  <a:extLst>
                    <a:ext uri="{9D8B030D-6E8A-4147-A177-3AD203B41FA5}">
                      <a16:colId xmlns:a16="http://schemas.microsoft.com/office/drawing/2014/main" val="151992309"/>
                    </a:ext>
                  </a:extLst>
                </a:gridCol>
                <a:gridCol w="2438706">
                  <a:extLst>
                    <a:ext uri="{9D8B030D-6E8A-4147-A177-3AD203B41FA5}">
                      <a16:colId xmlns:a16="http://schemas.microsoft.com/office/drawing/2014/main" val="3212561118"/>
                    </a:ext>
                  </a:extLst>
                </a:gridCol>
                <a:gridCol w="5079233">
                  <a:extLst>
                    <a:ext uri="{9D8B030D-6E8A-4147-A177-3AD203B41FA5}">
                      <a16:colId xmlns:a16="http://schemas.microsoft.com/office/drawing/2014/main" val="1034835513"/>
                    </a:ext>
                  </a:extLst>
                </a:gridCol>
              </a:tblGrid>
              <a:tr h="733697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endParaRPr lang="en-US" altLang="zh-CN" sz="2400" b="1" dirty="0">
                        <a:solidFill>
                          <a:srgbClr val="E9939A"/>
                        </a:solidFill>
                        <a:effectLst/>
                        <a:latin typeface="quote-cjk-patch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400" b="1" dirty="0">
                          <a:solidFill>
                            <a:srgbClr val="E9939A"/>
                          </a:solidFill>
                          <a:effectLst/>
                          <a:latin typeface="quote-cjk-patch"/>
                        </a:rPr>
                        <a:t>步骤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endParaRPr lang="en-US" altLang="zh-CN" sz="2400" b="1" dirty="0">
                        <a:solidFill>
                          <a:srgbClr val="E9939A"/>
                        </a:solidFill>
                        <a:effectLst/>
                        <a:latin typeface="quote-cjk-patch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400" b="1" dirty="0">
                          <a:solidFill>
                            <a:srgbClr val="E9939A"/>
                          </a:solidFill>
                          <a:effectLst/>
                          <a:latin typeface="quote-cjk-patch"/>
                        </a:rPr>
                        <a:t>内容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endParaRPr lang="en-US" altLang="zh-CN" sz="2400" b="1" dirty="0">
                        <a:solidFill>
                          <a:srgbClr val="E9939A"/>
                        </a:solidFill>
                        <a:effectLst/>
                        <a:latin typeface="quote-cjk-patch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400" b="1" dirty="0">
                          <a:solidFill>
                            <a:srgbClr val="E9939A"/>
                          </a:solidFill>
                          <a:effectLst/>
                          <a:latin typeface="quote-cjk-patch"/>
                        </a:rPr>
                        <a:t>要点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624400"/>
                  </a:ext>
                </a:extLst>
              </a:tr>
              <a:tr h="733697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第</a:t>
                      </a:r>
                      <a:r>
                        <a:rPr lang="en-US" altLang="zh-CN" sz="2000" b="0" dirty="0">
                          <a:effectLst/>
                          <a:latin typeface="quote-cjk-patch"/>
                        </a:rPr>
                        <a:t>1</a:t>
                      </a: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步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>
                          <a:effectLst/>
                          <a:latin typeface="quote-cjk-patch"/>
                        </a:rPr>
                        <a:t>确定组件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根据用例或场景确定系统的关键组件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909172"/>
                  </a:ext>
                </a:extLst>
              </a:tr>
              <a:tr h="733697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第</a:t>
                      </a:r>
                      <a:r>
                        <a:rPr lang="en-US" altLang="zh-CN" sz="2000" b="0" dirty="0">
                          <a:effectLst/>
                          <a:latin typeface="quote-cjk-patch"/>
                        </a:rPr>
                        <a:t>2</a:t>
                      </a: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步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映射元素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将类、接口等逻辑元素映射到组件中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959148"/>
                  </a:ext>
                </a:extLst>
              </a:tr>
              <a:tr h="733697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第</a:t>
                      </a:r>
                      <a:r>
                        <a:rPr lang="en-US" altLang="zh-CN" sz="2000" b="0" dirty="0">
                          <a:effectLst/>
                          <a:latin typeface="quote-cjk-patch"/>
                        </a:rPr>
                        <a:t>3</a:t>
                      </a: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步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细化关系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确定组件之间的依赖关系，细化接口定义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960703"/>
                  </a:ext>
                </a:extLst>
              </a:tr>
            </a:tbl>
          </a:graphicData>
        </a:graphic>
      </p:graphicFrame>
      <p:pic>
        <p:nvPicPr>
          <p:cNvPr id="17" name="图片 16">
            <a:extLst>
              <a:ext uri="{FF2B5EF4-FFF2-40B4-BE49-F238E27FC236}">
                <a16:creationId xmlns:a16="http://schemas.microsoft.com/office/drawing/2014/main" id="{1768C9C7-7A7C-9CF3-8317-E0E67C15E0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759" y="4733609"/>
            <a:ext cx="7432945" cy="1866178"/>
          </a:xfrm>
          <a:prstGeom prst="rect">
            <a:avLst/>
          </a:prstGeom>
        </p:spPr>
      </p:pic>
      <p:sp>
        <p:nvSpPr>
          <p:cNvPr id="6" name="îš1íḓê">
            <a:extLst>
              <a:ext uri="{FF2B5EF4-FFF2-40B4-BE49-F238E27FC236}">
                <a16:creationId xmlns:a16="http://schemas.microsoft.com/office/drawing/2014/main" id="{E2577738-26F1-5274-05D9-21278A2CA6ED}"/>
              </a:ext>
            </a:extLst>
          </p:cNvPr>
          <p:cNvSpPr/>
          <p:nvPr/>
        </p:nvSpPr>
        <p:spPr>
          <a:xfrm flipH="1">
            <a:off x="1203899" y="5351434"/>
            <a:ext cx="180000" cy="180000"/>
          </a:xfrm>
          <a:prstGeom prst="roundRect">
            <a:avLst>
              <a:gd name="adj" fmla="val 0"/>
            </a:avLst>
          </a:prstGeom>
          <a:solidFill>
            <a:srgbClr val="E9939A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4400"/>
            <a:endParaRPr lang="zh-CN" altLang="en-US" sz="2000" b="1" spc="-150">
              <a:solidFill>
                <a:schemeClr val="bg1"/>
              </a:solidFill>
            </a:endParaRPr>
          </a:p>
        </p:txBody>
      </p:sp>
      <p:sp>
        <p:nvSpPr>
          <p:cNvPr id="2" name="ïṣḷïḑê">
            <a:extLst>
              <a:ext uri="{FF2B5EF4-FFF2-40B4-BE49-F238E27FC236}">
                <a16:creationId xmlns:a16="http://schemas.microsoft.com/office/drawing/2014/main" id="{298B7845-DB10-E19E-EC36-11ABF7925A56}"/>
              </a:ext>
            </a:extLst>
          </p:cNvPr>
          <p:cNvSpPr/>
          <p:nvPr/>
        </p:nvSpPr>
        <p:spPr>
          <a:xfrm flipH="1">
            <a:off x="1203899" y="5802317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3" name="ïṣḷïḑê">
            <a:extLst>
              <a:ext uri="{FF2B5EF4-FFF2-40B4-BE49-F238E27FC236}">
                <a16:creationId xmlns:a16="http://schemas.microsoft.com/office/drawing/2014/main" id="{437DEDA0-EACC-723A-8521-82640A0A8016}"/>
              </a:ext>
            </a:extLst>
          </p:cNvPr>
          <p:cNvSpPr/>
          <p:nvPr/>
        </p:nvSpPr>
        <p:spPr>
          <a:xfrm rot="16200000" flipH="1">
            <a:off x="1203899" y="6240813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19" name="îš1íḓê">
            <a:extLst>
              <a:ext uri="{FF2B5EF4-FFF2-40B4-BE49-F238E27FC236}">
                <a16:creationId xmlns:a16="http://schemas.microsoft.com/office/drawing/2014/main" id="{5BC20BAD-9D9B-B0B6-8638-250100E561D5}"/>
              </a:ext>
            </a:extLst>
          </p:cNvPr>
          <p:cNvSpPr/>
          <p:nvPr/>
        </p:nvSpPr>
        <p:spPr>
          <a:xfrm rot="16200000" flipH="1">
            <a:off x="1203899" y="6240813"/>
            <a:ext cx="180000" cy="180000"/>
          </a:xfrm>
          <a:prstGeom prst="roundRect">
            <a:avLst>
              <a:gd name="adj" fmla="val 0"/>
            </a:avLst>
          </a:prstGeom>
          <a:solidFill>
            <a:srgbClr val="E9939A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4400"/>
            <a:endParaRPr lang="zh-CN" altLang="en-US" sz="2000" b="1" spc="-150">
              <a:solidFill>
                <a:schemeClr val="bg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CF45186-60EB-859E-5B49-F5EF94F3E2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8270" y="4719588"/>
            <a:ext cx="3970716" cy="208857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50683031"/>
      </p:ext>
    </p:extLst>
  </p:cSld>
  <p:clrMapOvr>
    <a:masterClrMapping/>
  </p:clrMapOvr>
  <p:transition spd="slow" advClick="0" advTm="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AFAC5-9835-E364-80EE-322272DD0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ïşḷíḑe">
            <a:extLst>
              <a:ext uri="{FF2B5EF4-FFF2-40B4-BE49-F238E27FC236}">
                <a16:creationId xmlns:a16="http://schemas.microsoft.com/office/drawing/2014/main" id="{B767F0BA-285A-154A-2DE1-793032FC4AF5}"/>
              </a:ext>
            </a:extLst>
          </p:cNvPr>
          <p:cNvSpPr/>
          <p:nvPr/>
        </p:nvSpPr>
        <p:spPr>
          <a:xfrm>
            <a:off x="0" y="0"/>
            <a:ext cx="5121840" cy="6410120"/>
          </a:xfrm>
          <a:custGeom>
            <a:avLst/>
            <a:gdLst>
              <a:gd name="connsiteX0" fmla="*/ 3530905 w 5121840"/>
              <a:gd name="connsiteY0" fmla="*/ 0 h 6410120"/>
              <a:gd name="connsiteX1" fmla="*/ 4976487 w 5121840"/>
              <a:gd name="connsiteY1" fmla="*/ 0 h 6410120"/>
              <a:gd name="connsiteX2" fmla="*/ 5016343 w 5121840"/>
              <a:gd name="connsiteY2" fmla="*/ 172687 h 6410120"/>
              <a:gd name="connsiteX3" fmla="*/ 5121840 w 5121840"/>
              <a:gd name="connsiteY3" fmla="*/ 1219200 h 6410120"/>
              <a:gd name="connsiteX4" fmla="*/ 196344 w 5121840"/>
              <a:gd name="connsiteY4" fmla="*/ 6405155 h 6410120"/>
              <a:gd name="connsiteX5" fmla="*/ 0 w 5121840"/>
              <a:gd name="connsiteY5" fmla="*/ 6410120 h 6410120"/>
              <a:gd name="connsiteX6" fmla="*/ 0 w 5121840"/>
              <a:gd name="connsiteY6" fmla="*/ 5020059 h 6410120"/>
              <a:gd name="connsiteX7" fmla="*/ 124812 w 5121840"/>
              <a:gd name="connsiteY7" fmla="*/ 5016903 h 6410120"/>
              <a:gd name="connsiteX8" fmla="*/ 3731779 w 5121840"/>
              <a:gd name="connsiteY8" fmla="*/ 1219200 h 6410120"/>
              <a:gd name="connsiteX9" fmla="*/ 3560819 w 5121840"/>
              <a:gd name="connsiteY9" fmla="*/ 88408 h 6410120"/>
              <a:gd name="connsiteX10" fmla="*/ 3530905 w 5121840"/>
              <a:gd name="connsiteY10" fmla="*/ 0 h 641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21840" h="6410120">
                <a:moveTo>
                  <a:pt x="3530905" y="0"/>
                </a:moveTo>
                <a:lnTo>
                  <a:pt x="4976487" y="0"/>
                </a:lnTo>
                <a:lnTo>
                  <a:pt x="5016343" y="172687"/>
                </a:lnTo>
                <a:cubicBezTo>
                  <a:pt x="5085514" y="510720"/>
                  <a:pt x="5121840" y="860718"/>
                  <a:pt x="5121840" y="1219200"/>
                </a:cubicBezTo>
                <a:cubicBezTo>
                  <a:pt x="5121840" y="3997436"/>
                  <a:pt x="2940017" y="6266078"/>
                  <a:pt x="196344" y="6405155"/>
                </a:cubicBezTo>
                <a:lnTo>
                  <a:pt x="0" y="6410120"/>
                </a:lnTo>
                <a:lnTo>
                  <a:pt x="0" y="5020059"/>
                </a:lnTo>
                <a:lnTo>
                  <a:pt x="124812" y="5016903"/>
                </a:lnTo>
                <a:cubicBezTo>
                  <a:pt x="2134018" y="4915056"/>
                  <a:pt x="3731779" y="3253717"/>
                  <a:pt x="3731779" y="1219200"/>
                </a:cubicBezTo>
                <a:cubicBezTo>
                  <a:pt x="3731779" y="825423"/>
                  <a:pt x="3671925" y="445625"/>
                  <a:pt x="3560819" y="88408"/>
                </a:cubicBezTo>
                <a:lnTo>
                  <a:pt x="3530905" y="0"/>
                </a:lnTo>
                <a:close/>
              </a:path>
            </a:pathLst>
          </a:cu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íṥḷíďé">
            <a:extLst>
              <a:ext uri="{FF2B5EF4-FFF2-40B4-BE49-F238E27FC236}">
                <a16:creationId xmlns:a16="http://schemas.microsoft.com/office/drawing/2014/main" id="{21E4CFE9-2BC1-745C-C360-A2CCCEE61D29}"/>
              </a:ext>
            </a:extLst>
          </p:cNvPr>
          <p:cNvSpPr/>
          <p:nvPr/>
        </p:nvSpPr>
        <p:spPr>
          <a:xfrm>
            <a:off x="665418" y="930302"/>
            <a:ext cx="11526582" cy="52231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127000" dir="42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08C75D7-606A-5434-21B0-C72AE8F2BA6F}"/>
              </a:ext>
            </a:extLst>
          </p:cNvPr>
          <p:cNvSpPr txBox="1"/>
          <p:nvPr/>
        </p:nvSpPr>
        <p:spPr>
          <a:xfrm>
            <a:off x="808280" y="219025"/>
            <a:ext cx="3258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互动问题</a:t>
            </a:r>
            <a:r>
              <a:rPr lang="en-US" altLang="zh-CN" sz="2000" b="1" dirty="0"/>
              <a:t> 2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B20E816-FD6A-EEC3-FD4B-FCDFC0DB7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 rot="2310958">
            <a:off x="167759" y="377459"/>
            <a:ext cx="783340" cy="163274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1576EAD-432B-C1B3-C2E6-9751823CA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08" y="930303"/>
            <a:ext cx="7363830" cy="1056318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C8333ED-5264-E647-A5F3-BFB42DA29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673386"/>
              </p:ext>
            </p:extLst>
          </p:nvPr>
        </p:nvGraphicFramePr>
        <p:xfrm>
          <a:off x="869429" y="2076497"/>
          <a:ext cx="6012405" cy="3747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569">
                  <a:extLst>
                    <a:ext uri="{9D8B030D-6E8A-4147-A177-3AD203B41FA5}">
                      <a16:colId xmlns:a16="http://schemas.microsoft.com/office/drawing/2014/main" val="1267155425"/>
                    </a:ext>
                  </a:extLst>
                </a:gridCol>
                <a:gridCol w="1210466">
                  <a:extLst>
                    <a:ext uri="{9D8B030D-6E8A-4147-A177-3AD203B41FA5}">
                      <a16:colId xmlns:a16="http://schemas.microsoft.com/office/drawing/2014/main" val="3005559197"/>
                    </a:ext>
                  </a:extLst>
                </a:gridCol>
                <a:gridCol w="2196279">
                  <a:extLst>
                    <a:ext uri="{9D8B030D-6E8A-4147-A177-3AD203B41FA5}">
                      <a16:colId xmlns:a16="http://schemas.microsoft.com/office/drawing/2014/main" val="1654941964"/>
                    </a:ext>
                  </a:extLst>
                </a:gridCol>
                <a:gridCol w="1550091">
                  <a:extLst>
                    <a:ext uri="{9D8B030D-6E8A-4147-A177-3AD203B41FA5}">
                      <a16:colId xmlns:a16="http://schemas.microsoft.com/office/drawing/2014/main" val="657570272"/>
                    </a:ext>
                  </a:extLst>
                </a:gridCol>
              </a:tblGrid>
              <a:tr h="52940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  <a:latin typeface="quote-cjk-patch"/>
                        </a:rPr>
                        <a:t>构件名称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quote-cjk-patch"/>
                        </a:rPr>
                        <a:t>构造型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quote-cjk-patch"/>
                        </a:rPr>
                        <a:t>供接口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quote-cjk-patch"/>
                        </a:rPr>
                        <a:t>需接口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4063315152"/>
                  </a:ext>
                </a:extLst>
              </a:tr>
              <a:tr h="5475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600" b="0" dirty="0">
                          <a:effectLst/>
                          <a:latin typeface="quote-cjk-patch"/>
                        </a:rPr>
                        <a:t>用户认证构件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Menlo"/>
                        </a:rPr>
                        <a:t>«executable»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Menlo"/>
                        </a:rPr>
                        <a:t>IAuthentication</a:t>
                      </a:r>
                      <a:r>
                        <a:rPr lang="en-US" sz="1600" b="0">
                          <a:effectLst/>
                          <a:latin typeface="quote-cjk-patch"/>
                        </a:rPr>
                        <a:t>（</a:t>
                      </a:r>
                      <a:r>
                        <a:rPr lang="zh-CN" altLang="en-US" sz="1600" b="0">
                          <a:effectLst/>
                          <a:latin typeface="quote-cjk-patch"/>
                        </a:rPr>
                        <a:t>登录、注册、</a:t>
                      </a:r>
                      <a:r>
                        <a:rPr lang="en-US" sz="1600" b="0">
                          <a:effectLst/>
                          <a:latin typeface="quote-cjk-patch"/>
                        </a:rPr>
                        <a:t>Token</a:t>
                      </a:r>
                      <a:r>
                        <a:rPr lang="zh-CN" altLang="en-US" sz="1600" b="0">
                          <a:effectLst/>
                          <a:latin typeface="quote-cjk-patch"/>
                        </a:rPr>
                        <a:t>验证）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600" b="0">
                          <a:effectLst/>
                          <a:latin typeface="quote-cjk-patch"/>
                        </a:rPr>
                        <a:t>---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711198474"/>
                  </a:ext>
                </a:extLst>
              </a:tr>
              <a:tr h="5475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600" b="0">
                          <a:effectLst/>
                          <a:latin typeface="quote-cjk-patch"/>
                        </a:rPr>
                        <a:t>订单管理构件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600" b="0" dirty="0">
                          <a:effectLst/>
                          <a:latin typeface="Menlo"/>
                        </a:rPr>
                        <a:t>«executable»</a:t>
                      </a:r>
                      <a:endParaRPr lang="en-US" sz="1600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600" b="0">
                          <a:effectLst/>
                          <a:latin typeface="Menlo"/>
                        </a:rPr>
                        <a:t>IOrder</a:t>
                      </a:r>
                      <a:r>
                        <a:rPr lang="zh-CN" altLang="en-US" sz="1600" b="0">
                          <a:effectLst/>
                          <a:latin typeface="quote-cjk-patch"/>
                        </a:rPr>
                        <a:t>（下单、查询、取消、状态更新）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600" b="0" dirty="0" err="1">
                          <a:effectLst/>
                          <a:latin typeface="Menlo"/>
                        </a:rPr>
                        <a:t>IAuthentication</a:t>
                      </a:r>
                      <a:r>
                        <a:rPr lang="en-US" sz="1600" b="0" dirty="0" err="1">
                          <a:effectLst/>
                          <a:latin typeface="quote-cjk-patch"/>
                        </a:rPr>
                        <a:t>、</a:t>
                      </a:r>
                      <a:r>
                        <a:rPr lang="en-US" sz="1600" b="0" dirty="0" err="1">
                          <a:effectLst/>
                          <a:latin typeface="Menlo"/>
                        </a:rPr>
                        <a:t>IPayment</a:t>
                      </a:r>
                      <a:endParaRPr lang="en-US" sz="1600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244470239"/>
                  </a:ext>
                </a:extLst>
              </a:tr>
              <a:tr h="5475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600" b="0">
                          <a:effectLst/>
                          <a:latin typeface="quote-cjk-patch"/>
                        </a:rPr>
                        <a:t>商家管理构件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Menlo"/>
                        </a:rPr>
                        <a:t>«library»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600" b="0" dirty="0" err="1">
                          <a:effectLst/>
                          <a:latin typeface="Menlo"/>
                        </a:rPr>
                        <a:t>IMerchant</a:t>
                      </a:r>
                      <a:r>
                        <a:rPr lang="en-US" sz="1600" b="0" dirty="0">
                          <a:effectLst/>
                          <a:latin typeface="quote-cjk-patch"/>
                        </a:rPr>
                        <a:t>（</a:t>
                      </a:r>
                      <a:r>
                        <a:rPr lang="zh-CN" altLang="en-US" sz="1600" b="0" dirty="0">
                          <a:effectLst/>
                          <a:latin typeface="quote-cjk-patch"/>
                        </a:rPr>
                        <a:t>菜单管理、店铺信息）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600" b="0" dirty="0" err="1">
                          <a:effectLst/>
                          <a:latin typeface="Menlo"/>
                        </a:rPr>
                        <a:t>IAuthentication</a:t>
                      </a:r>
                      <a:endParaRPr lang="en-US" sz="1600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555301103"/>
                  </a:ext>
                </a:extLst>
              </a:tr>
              <a:tr h="69876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600" b="0">
                          <a:effectLst/>
                          <a:latin typeface="quote-cjk-patch"/>
                        </a:rPr>
                        <a:t>配送调度构件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Menlo"/>
                        </a:rPr>
                        <a:t>«executable»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600" b="0" dirty="0" err="1">
                          <a:effectLst/>
                          <a:latin typeface="Menlo"/>
                        </a:rPr>
                        <a:t>IDispatch</a:t>
                      </a:r>
                      <a:r>
                        <a:rPr lang="zh-CN" altLang="en-US" sz="1600" b="0" dirty="0">
                          <a:effectLst/>
                          <a:latin typeface="quote-cjk-patch"/>
                        </a:rPr>
                        <a:t>（骑手匹配、轨迹跟踪、送达确认）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600" b="0" dirty="0" err="1">
                          <a:effectLst/>
                          <a:latin typeface="Menlo"/>
                        </a:rPr>
                        <a:t>IOrder</a:t>
                      </a:r>
                      <a:r>
                        <a:rPr lang="en-US" sz="1600" b="0" dirty="0" err="1">
                          <a:effectLst/>
                          <a:latin typeface="quote-cjk-patch"/>
                        </a:rPr>
                        <a:t>、</a:t>
                      </a:r>
                      <a:r>
                        <a:rPr lang="en-US" sz="1600" b="0" dirty="0" err="1">
                          <a:effectLst/>
                          <a:latin typeface="Menlo"/>
                        </a:rPr>
                        <a:t>IMerchant</a:t>
                      </a:r>
                      <a:endParaRPr lang="en-US" sz="1600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524560828"/>
                  </a:ext>
                </a:extLst>
              </a:tr>
              <a:tr h="5475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600" b="0">
                          <a:effectLst/>
                          <a:latin typeface="quote-cjk-patch"/>
                        </a:rPr>
                        <a:t>支付网关构件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Menlo"/>
                        </a:rPr>
                        <a:t>«library»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600" b="0">
                          <a:effectLst/>
                          <a:latin typeface="Menlo"/>
                        </a:rPr>
                        <a:t>IPayment</a:t>
                      </a:r>
                      <a:r>
                        <a:rPr lang="en-US" sz="1600" b="0">
                          <a:effectLst/>
                          <a:latin typeface="quote-cjk-patch"/>
                        </a:rPr>
                        <a:t>（</a:t>
                      </a:r>
                      <a:r>
                        <a:rPr lang="zh-CN" altLang="en-US" sz="1600" b="0">
                          <a:effectLst/>
                          <a:latin typeface="quote-cjk-patch"/>
                        </a:rPr>
                        <a:t>支付、退款、交易查询）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600" b="0" dirty="0">
                          <a:effectLst/>
                          <a:latin typeface="quote-cjk-patch"/>
                        </a:rPr>
                        <a:t>---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766142397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69F59BC3-9484-D68D-3A2E-DE2BA30FE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1834" y="2076495"/>
            <a:ext cx="5231249" cy="18134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22330089"/>
      </p:ext>
    </p:ext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56D63-D2FE-12C0-FDAE-4CDFD818C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ïşḷíḑe">
            <a:extLst>
              <a:ext uri="{FF2B5EF4-FFF2-40B4-BE49-F238E27FC236}">
                <a16:creationId xmlns:a16="http://schemas.microsoft.com/office/drawing/2014/main" id="{6BE0EE0E-3AD4-49F9-6838-35BF6F888C32}"/>
              </a:ext>
            </a:extLst>
          </p:cNvPr>
          <p:cNvSpPr/>
          <p:nvPr/>
        </p:nvSpPr>
        <p:spPr>
          <a:xfrm>
            <a:off x="0" y="0"/>
            <a:ext cx="5121840" cy="6410120"/>
          </a:xfrm>
          <a:custGeom>
            <a:avLst/>
            <a:gdLst>
              <a:gd name="connsiteX0" fmla="*/ 3530905 w 5121840"/>
              <a:gd name="connsiteY0" fmla="*/ 0 h 6410120"/>
              <a:gd name="connsiteX1" fmla="*/ 4976487 w 5121840"/>
              <a:gd name="connsiteY1" fmla="*/ 0 h 6410120"/>
              <a:gd name="connsiteX2" fmla="*/ 5016343 w 5121840"/>
              <a:gd name="connsiteY2" fmla="*/ 172687 h 6410120"/>
              <a:gd name="connsiteX3" fmla="*/ 5121840 w 5121840"/>
              <a:gd name="connsiteY3" fmla="*/ 1219200 h 6410120"/>
              <a:gd name="connsiteX4" fmla="*/ 196344 w 5121840"/>
              <a:gd name="connsiteY4" fmla="*/ 6405155 h 6410120"/>
              <a:gd name="connsiteX5" fmla="*/ 0 w 5121840"/>
              <a:gd name="connsiteY5" fmla="*/ 6410120 h 6410120"/>
              <a:gd name="connsiteX6" fmla="*/ 0 w 5121840"/>
              <a:gd name="connsiteY6" fmla="*/ 5020059 h 6410120"/>
              <a:gd name="connsiteX7" fmla="*/ 124812 w 5121840"/>
              <a:gd name="connsiteY7" fmla="*/ 5016903 h 6410120"/>
              <a:gd name="connsiteX8" fmla="*/ 3731779 w 5121840"/>
              <a:gd name="connsiteY8" fmla="*/ 1219200 h 6410120"/>
              <a:gd name="connsiteX9" fmla="*/ 3560819 w 5121840"/>
              <a:gd name="connsiteY9" fmla="*/ 88408 h 6410120"/>
              <a:gd name="connsiteX10" fmla="*/ 3530905 w 5121840"/>
              <a:gd name="connsiteY10" fmla="*/ 0 h 641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21840" h="6410120">
                <a:moveTo>
                  <a:pt x="3530905" y="0"/>
                </a:moveTo>
                <a:lnTo>
                  <a:pt x="4976487" y="0"/>
                </a:lnTo>
                <a:lnTo>
                  <a:pt x="5016343" y="172687"/>
                </a:lnTo>
                <a:cubicBezTo>
                  <a:pt x="5085514" y="510720"/>
                  <a:pt x="5121840" y="860718"/>
                  <a:pt x="5121840" y="1219200"/>
                </a:cubicBezTo>
                <a:cubicBezTo>
                  <a:pt x="5121840" y="3997436"/>
                  <a:pt x="2940017" y="6266078"/>
                  <a:pt x="196344" y="6405155"/>
                </a:cubicBezTo>
                <a:lnTo>
                  <a:pt x="0" y="6410120"/>
                </a:lnTo>
                <a:lnTo>
                  <a:pt x="0" y="5020059"/>
                </a:lnTo>
                <a:lnTo>
                  <a:pt x="124812" y="5016903"/>
                </a:lnTo>
                <a:cubicBezTo>
                  <a:pt x="2134018" y="4915056"/>
                  <a:pt x="3731779" y="3253717"/>
                  <a:pt x="3731779" y="1219200"/>
                </a:cubicBezTo>
                <a:cubicBezTo>
                  <a:pt x="3731779" y="825423"/>
                  <a:pt x="3671925" y="445625"/>
                  <a:pt x="3560819" y="88408"/>
                </a:cubicBezTo>
                <a:lnTo>
                  <a:pt x="3530905" y="0"/>
                </a:lnTo>
                <a:close/>
              </a:path>
            </a:pathLst>
          </a:cu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íṥḷíďé">
            <a:extLst>
              <a:ext uri="{FF2B5EF4-FFF2-40B4-BE49-F238E27FC236}">
                <a16:creationId xmlns:a16="http://schemas.microsoft.com/office/drawing/2014/main" id="{657C99D3-A7C5-74D6-116D-AF9B9CC6792C}"/>
              </a:ext>
            </a:extLst>
          </p:cNvPr>
          <p:cNvSpPr/>
          <p:nvPr/>
        </p:nvSpPr>
        <p:spPr>
          <a:xfrm>
            <a:off x="1207337" y="532631"/>
            <a:ext cx="9777325" cy="57927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127000" dir="42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F2A1016-AF06-1308-8FA0-45D246ABA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 rot="2310958">
            <a:off x="540749" y="-184942"/>
            <a:ext cx="1243779" cy="259245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72544D7-C06C-4711-38F2-9585EAE67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658" y="1260321"/>
            <a:ext cx="3504352" cy="241706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A6E44E8-2C0E-4680-8339-71874E9AF807}"/>
              </a:ext>
            </a:extLst>
          </p:cNvPr>
          <p:cNvSpPr txBox="1"/>
          <p:nvPr/>
        </p:nvSpPr>
        <p:spPr>
          <a:xfrm>
            <a:off x="1429827" y="798656"/>
            <a:ext cx="325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参考答案：</a:t>
            </a:r>
            <a:endParaRPr lang="en-US" altLang="zh-CN" sz="28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282B519-F8EB-3814-A214-8106DF6E6C9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08" r="14153"/>
          <a:stretch>
            <a:fillRect/>
          </a:stretch>
        </p:blipFill>
        <p:spPr>
          <a:xfrm>
            <a:off x="5028010" y="1310190"/>
            <a:ext cx="5152938" cy="205635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40F9263-1655-6F17-7BD0-637BE4FD62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657" y="3719198"/>
            <a:ext cx="7355017" cy="260616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78309023"/>
      </p:ext>
    </p:ext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1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2263742" y="-2263739"/>
            <a:ext cx="6858000" cy="11385479"/>
          </a:xfrm>
          <a:prstGeom prst="rect">
            <a:avLst/>
          </a:prstGeom>
          <a:ln>
            <a:noFill/>
          </a:ln>
        </p:spPr>
      </p:pic>
      <p:sp>
        <p:nvSpPr>
          <p:cNvPr id="9" name="íş1íďé"/>
          <p:cNvSpPr/>
          <p:nvPr/>
        </p:nvSpPr>
        <p:spPr>
          <a:xfrm>
            <a:off x="4712302" y="1961195"/>
            <a:ext cx="6047138" cy="29356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6400" dist="355600" dir="2880000" sx="92000" sy="92000" algn="ctr" rotWithShape="0">
              <a:srgbClr val="000000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îṣ1iďe"/>
          <p:cNvSpPr/>
          <p:nvPr/>
        </p:nvSpPr>
        <p:spPr>
          <a:xfrm flipH="1">
            <a:off x="5112898" y="3263900"/>
            <a:ext cx="330200" cy="330200"/>
          </a:xfrm>
          <a:prstGeom prst="ellipse">
            <a:avLst/>
          </a:prstGeom>
          <a:solidFill>
            <a:srgbClr val="ECA1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îsliḍe"/>
          <p:cNvSpPr/>
          <p:nvPr/>
        </p:nvSpPr>
        <p:spPr>
          <a:xfrm rot="5400000">
            <a:off x="5232072" y="3391823"/>
            <a:ext cx="115661" cy="7436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î$ḷíḋè"/>
          <p:cNvSpPr/>
          <p:nvPr/>
        </p:nvSpPr>
        <p:spPr>
          <a:xfrm>
            <a:off x="9990298" y="3263900"/>
            <a:ext cx="330200" cy="330200"/>
          </a:xfrm>
          <a:prstGeom prst="ellipse">
            <a:avLst/>
          </a:prstGeom>
          <a:solidFill>
            <a:srgbClr val="ECA1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ïṥḻiḍê"/>
          <p:cNvSpPr/>
          <p:nvPr/>
        </p:nvSpPr>
        <p:spPr>
          <a:xfrm rot="16200000" flipH="1">
            <a:off x="10085663" y="3391823"/>
            <a:ext cx="115661" cy="7436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846195" y="2838948"/>
            <a:ext cx="4034800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6600">
                <a:solidFill>
                  <a:schemeClr val="tx1">
                    <a:lumMod val="50000"/>
                    <a:lumOff val="50000"/>
                  </a:schemeClr>
                </a:solidFill>
                <a:latin typeface="汉仪大宋简" panose="02010609000101010101" pitchFamily="49" charset="-122"/>
                <a:ea typeface="汉仪大宋简" panose="02010609000101010101" pitchFamily="49" charset="-122"/>
              </a:defRPr>
            </a:lvl1pPr>
          </a:lstStyle>
          <a:p>
            <a:r>
              <a:rPr lang="zh-CN" altLang="en-US" dirty="0">
                <a:latin typeface="思源宋体 CN Heavy" pitchFamily="18" charset="-122"/>
                <a:ea typeface="思源宋体 CN Heavy" pitchFamily="18" charset="-122"/>
              </a:rPr>
              <a:t>包图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7" grpId="0" animBg="1"/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BD742-5560-5F05-F1C1-9EAA73D17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ṥ1ïḍè">
            <a:extLst>
              <a:ext uri="{FF2B5EF4-FFF2-40B4-BE49-F238E27FC236}">
                <a16:creationId xmlns:a16="http://schemas.microsoft.com/office/drawing/2014/main" id="{2CC7BE99-371B-7FB5-C38D-B1569DF784DF}"/>
              </a:ext>
            </a:extLst>
          </p:cNvPr>
          <p:cNvSpPr/>
          <p:nvPr/>
        </p:nvSpPr>
        <p:spPr>
          <a:xfrm>
            <a:off x="790063" y="1834156"/>
            <a:ext cx="3281528" cy="20211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127000" dir="42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45DAED6-C2AC-00F2-0A1E-971AB4219EA1}"/>
              </a:ext>
            </a:extLst>
          </p:cNvPr>
          <p:cNvCxnSpPr/>
          <p:nvPr/>
        </p:nvCxnSpPr>
        <p:spPr>
          <a:xfrm>
            <a:off x="2188847" y="3640072"/>
            <a:ext cx="572966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íSlïḑê">
            <a:extLst>
              <a:ext uri="{FF2B5EF4-FFF2-40B4-BE49-F238E27FC236}">
                <a16:creationId xmlns:a16="http://schemas.microsoft.com/office/drawing/2014/main" id="{F1A2EAAD-14C7-4B01-5411-973989A7B52B}"/>
              </a:ext>
            </a:extLst>
          </p:cNvPr>
          <p:cNvSpPr/>
          <p:nvPr/>
        </p:nvSpPr>
        <p:spPr bwMode="auto">
          <a:xfrm>
            <a:off x="3578929" y="3438421"/>
            <a:ext cx="241332" cy="321776"/>
          </a:xfrm>
          <a:custGeom>
            <a:avLst/>
            <a:gdLst>
              <a:gd name="connsiteX0" fmla="*/ 296523 w 400050"/>
              <a:gd name="connsiteY0" fmla="*/ 621 h 533400"/>
              <a:gd name="connsiteX1" fmla="*/ 296523 w 400050"/>
              <a:gd name="connsiteY1" fmla="*/ 38721 h 533400"/>
              <a:gd name="connsiteX2" fmla="*/ 401298 w 400050"/>
              <a:gd name="connsiteY2" fmla="*/ 38721 h 533400"/>
              <a:gd name="connsiteX3" fmla="*/ 401298 w 400050"/>
              <a:gd name="connsiteY3" fmla="*/ 534021 h 533400"/>
              <a:gd name="connsiteX4" fmla="*/ 1248 w 400050"/>
              <a:gd name="connsiteY4" fmla="*/ 534021 h 533400"/>
              <a:gd name="connsiteX5" fmla="*/ 1248 w 400050"/>
              <a:gd name="connsiteY5" fmla="*/ 38721 h 533400"/>
              <a:gd name="connsiteX6" fmla="*/ 106023 w 400050"/>
              <a:gd name="connsiteY6" fmla="*/ 38721 h 533400"/>
              <a:gd name="connsiteX7" fmla="*/ 106023 w 400050"/>
              <a:gd name="connsiteY7" fmla="*/ 621 h 533400"/>
              <a:gd name="connsiteX8" fmla="*/ 296523 w 400050"/>
              <a:gd name="connsiteY8" fmla="*/ 621 h 533400"/>
              <a:gd name="connsiteX9" fmla="*/ 106023 w 400050"/>
              <a:gd name="connsiteY9" fmla="*/ 57771 h 533400"/>
              <a:gd name="connsiteX10" fmla="*/ 20298 w 400050"/>
              <a:gd name="connsiteY10" fmla="*/ 57771 h 533400"/>
              <a:gd name="connsiteX11" fmla="*/ 20298 w 400050"/>
              <a:gd name="connsiteY11" fmla="*/ 514971 h 533400"/>
              <a:gd name="connsiteX12" fmla="*/ 382248 w 400050"/>
              <a:gd name="connsiteY12" fmla="*/ 514971 h 533400"/>
              <a:gd name="connsiteX13" fmla="*/ 382248 w 400050"/>
              <a:gd name="connsiteY13" fmla="*/ 57771 h 533400"/>
              <a:gd name="connsiteX14" fmla="*/ 296523 w 400050"/>
              <a:gd name="connsiteY14" fmla="*/ 57771 h 533400"/>
              <a:gd name="connsiteX15" fmla="*/ 296523 w 400050"/>
              <a:gd name="connsiteY15" fmla="*/ 95871 h 533400"/>
              <a:gd name="connsiteX16" fmla="*/ 106023 w 400050"/>
              <a:gd name="connsiteY16" fmla="*/ 95871 h 533400"/>
              <a:gd name="connsiteX17" fmla="*/ 106023 w 400050"/>
              <a:gd name="connsiteY17" fmla="*/ 57771 h 533400"/>
              <a:gd name="connsiteX18" fmla="*/ 201273 w 400050"/>
              <a:gd name="connsiteY18" fmla="*/ 343521 h 533400"/>
              <a:gd name="connsiteX19" fmla="*/ 201273 w 400050"/>
              <a:gd name="connsiteY19" fmla="*/ 362571 h 533400"/>
              <a:gd name="connsiteX20" fmla="*/ 86973 w 400050"/>
              <a:gd name="connsiteY20" fmla="*/ 362571 h 533400"/>
              <a:gd name="connsiteX21" fmla="*/ 86973 w 400050"/>
              <a:gd name="connsiteY21" fmla="*/ 343521 h 533400"/>
              <a:gd name="connsiteX22" fmla="*/ 201273 w 400050"/>
              <a:gd name="connsiteY22" fmla="*/ 343521 h 533400"/>
              <a:gd name="connsiteX23" fmla="*/ 315573 w 400050"/>
              <a:gd name="connsiteY23" fmla="*/ 267321 h 533400"/>
              <a:gd name="connsiteX24" fmla="*/ 315573 w 400050"/>
              <a:gd name="connsiteY24" fmla="*/ 286371 h 533400"/>
              <a:gd name="connsiteX25" fmla="*/ 86973 w 400050"/>
              <a:gd name="connsiteY25" fmla="*/ 286371 h 533400"/>
              <a:gd name="connsiteX26" fmla="*/ 86973 w 400050"/>
              <a:gd name="connsiteY26" fmla="*/ 267321 h 533400"/>
              <a:gd name="connsiteX27" fmla="*/ 315573 w 400050"/>
              <a:gd name="connsiteY27" fmla="*/ 267321 h 533400"/>
              <a:gd name="connsiteX28" fmla="*/ 315573 w 400050"/>
              <a:gd name="connsiteY28" fmla="*/ 191121 h 533400"/>
              <a:gd name="connsiteX29" fmla="*/ 315573 w 400050"/>
              <a:gd name="connsiteY29" fmla="*/ 210171 h 533400"/>
              <a:gd name="connsiteX30" fmla="*/ 86973 w 400050"/>
              <a:gd name="connsiteY30" fmla="*/ 210171 h 533400"/>
              <a:gd name="connsiteX31" fmla="*/ 86973 w 400050"/>
              <a:gd name="connsiteY31" fmla="*/ 191121 h 533400"/>
              <a:gd name="connsiteX32" fmla="*/ 315573 w 400050"/>
              <a:gd name="connsiteY32" fmla="*/ 191121 h 533400"/>
              <a:gd name="connsiteX33" fmla="*/ 277473 w 400050"/>
              <a:gd name="connsiteY33" fmla="*/ 19671 h 533400"/>
              <a:gd name="connsiteX34" fmla="*/ 125073 w 400050"/>
              <a:gd name="connsiteY34" fmla="*/ 19671 h 533400"/>
              <a:gd name="connsiteX35" fmla="*/ 125073 w 400050"/>
              <a:gd name="connsiteY35" fmla="*/ 76821 h 533400"/>
              <a:gd name="connsiteX36" fmla="*/ 277473 w 400050"/>
              <a:gd name="connsiteY36" fmla="*/ 76821 h 533400"/>
              <a:gd name="connsiteX37" fmla="*/ 277473 w 400050"/>
              <a:gd name="connsiteY37" fmla="*/ 19671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00050" h="533400">
                <a:moveTo>
                  <a:pt x="296523" y="621"/>
                </a:moveTo>
                <a:lnTo>
                  <a:pt x="296523" y="38721"/>
                </a:lnTo>
                <a:lnTo>
                  <a:pt x="401298" y="38721"/>
                </a:lnTo>
                <a:lnTo>
                  <a:pt x="401298" y="534021"/>
                </a:lnTo>
                <a:lnTo>
                  <a:pt x="1248" y="534021"/>
                </a:lnTo>
                <a:lnTo>
                  <a:pt x="1248" y="38721"/>
                </a:lnTo>
                <a:lnTo>
                  <a:pt x="106023" y="38721"/>
                </a:lnTo>
                <a:lnTo>
                  <a:pt x="106023" y="621"/>
                </a:lnTo>
                <a:lnTo>
                  <a:pt x="296523" y="621"/>
                </a:lnTo>
                <a:close/>
                <a:moveTo>
                  <a:pt x="106023" y="57771"/>
                </a:moveTo>
                <a:lnTo>
                  <a:pt x="20298" y="57771"/>
                </a:lnTo>
                <a:lnTo>
                  <a:pt x="20298" y="514971"/>
                </a:lnTo>
                <a:lnTo>
                  <a:pt x="382248" y="514971"/>
                </a:lnTo>
                <a:lnTo>
                  <a:pt x="382248" y="57771"/>
                </a:lnTo>
                <a:lnTo>
                  <a:pt x="296523" y="57771"/>
                </a:lnTo>
                <a:lnTo>
                  <a:pt x="296523" y="95871"/>
                </a:lnTo>
                <a:lnTo>
                  <a:pt x="106023" y="95871"/>
                </a:lnTo>
                <a:lnTo>
                  <a:pt x="106023" y="57771"/>
                </a:lnTo>
                <a:close/>
                <a:moveTo>
                  <a:pt x="201273" y="343521"/>
                </a:moveTo>
                <a:lnTo>
                  <a:pt x="201273" y="362571"/>
                </a:lnTo>
                <a:lnTo>
                  <a:pt x="86973" y="362571"/>
                </a:lnTo>
                <a:lnTo>
                  <a:pt x="86973" y="343521"/>
                </a:lnTo>
                <a:lnTo>
                  <a:pt x="201273" y="343521"/>
                </a:lnTo>
                <a:close/>
                <a:moveTo>
                  <a:pt x="315573" y="267321"/>
                </a:moveTo>
                <a:lnTo>
                  <a:pt x="315573" y="286371"/>
                </a:lnTo>
                <a:lnTo>
                  <a:pt x="86973" y="286371"/>
                </a:lnTo>
                <a:lnTo>
                  <a:pt x="86973" y="267321"/>
                </a:lnTo>
                <a:lnTo>
                  <a:pt x="315573" y="267321"/>
                </a:lnTo>
                <a:close/>
                <a:moveTo>
                  <a:pt x="315573" y="191121"/>
                </a:moveTo>
                <a:lnTo>
                  <a:pt x="315573" y="210171"/>
                </a:lnTo>
                <a:lnTo>
                  <a:pt x="86973" y="210171"/>
                </a:lnTo>
                <a:lnTo>
                  <a:pt x="86973" y="191121"/>
                </a:lnTo>
                <a:lnTo>
                  <a:pt x="315573" y="191121"/>
                </a:lnTo>
                <a:close/>
                <a:moveTo>
                  <a:pt x="277473" y="19671"/>
                </a:moveTo>
                <a:lnTo>
                  <a:pt x="125073" y="19671"/>
                </a:lnTo>
                <a:lnTo>
                  <a:pt x="125073" y="76821"/>
                </a:lnTo>
                <a:lnTo>
                  <a:pt x="277473" y="76821"/>
                </a:lnTo>
                <a:lnTo>
                  <a:pt x="277473" y="19671"/>
                </a:lnTo>
                <a:close/>
              </a:path>
            </a:pathLst>
          </a:cu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2" name="íSļiḋê">
            <a:extLst>
              <a:ext uri="{FF2B5EF4-FFF2-40B4-BE49-F238E27FC236}">
                <a16:creationId xmlns:a16="http://schemas.microsoft.com/office/drawing/2014/main" id="{A101DEDD-04C0-A4B2-627F-DB7699B1CA00}"/>
              </a:ext>
            </a:extLst>
          </p:cNvPr>
          <p:cNvSpPr/>
          <p:nvPr/>
        </p:nvSpPr>
        <p:spPr>
          <a:xfrm>
            <a:off x="4413373" y="1834155"/>
            <a:ext cx="3281528" cy="20211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127000" dir="42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C9C6449-2141-BA83-F079-9096A763092F}"/>
              </a:ext>
            </a:extLst>
          </p:cNvPr>
          <p:cNvCxnSpPr/>
          <p:nvPr/>
        </p:nvCxnSpPr>
        <p:spPr>
          <a:xfrm>
            <a:off x="5809517" y="3640072"/>
            <a:ext cx="572966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îsľîḋê">
            <a:extLst>
              <a:ext uri="{FF2B5EF4-FFF2-40B4-BE49-F238E27FC236}">
                <a16:creationId xmlns:a16="http://schemas.microsoft.com/office/drawing/2014/main" id="{197E6DDD-7EF7-B643-0CC0-DF280A258D96}"/>
              </a:ext>
            </a:extLst>
          </p:cNvPr>
          <p:cNvSpPr/>
          <p:nvPr/>
        </p:nvSpPr>
        <p:spPr bwMode="auto">
          <a:xfrm>
            <a:off x="7244719" y="3360078"/>
            <a:ext cx="321776" cy="321776"/>
          </a:xfrm>
          <a:custGeom>
            <a:avLst/>
            <a:gdLst>
              <a:gd name="connsiteX0" fmla="*/ 381864 w 533400"/>
              <a:gd name="connsiteY0" fmla="*/ 621 h 533400"/>
              <a:gd name="connsiteX1" fmla="*/ 381864 w 533400"/>
              <a:gd name="connsiteY1" fmla="*/ 114921 h 533400"/>
              <a:gd name="connsiteX2" fmla="*/ 534264 w 533400"/>
              <a:gd name="connsiteY2" fmla="*/ 114921 h 533400"/>
              <a:gd name="connsiteX3" fmla="*/ 534264 w 533400"/>
              <a:gd name="connsiteY3" fmla="*/ 419721 h 533400"/>
              <a:gd name="connsiteX4" fmla="*/ 381864 w 533400"/>
              <a:gd name="connsiteY4" fmla="*/ 419721 h 533400"/>
              <a:gd name="connsiteX5" fmla="*/ 381864 w 533400"/>
              <a:gd name="connsiteY5" fmla="*/ 534021 h 533400"/>
              <a:gd name="connsiteX6" fmla="*/ 153264 w 533400"/>
              <a:gd name="connsiteY6" fmla="*/ 534021 h 533400"/>
              <a:gd name="connsiteX7" fmla="*/ 153264 w 533400"/>
              <a:gd name="connsiteY7" fmla="*/ 419721 h 533400"/>
              <a:gd name="connsiteX8" fmla="*/ 864 w 533400"/>
              <a:gd name="connsiteY8" fmla="*/ 419721 h 533400"/>
              <a:gd name="connsiteX9" fmla="*/ 864 w 533400"/>
              <a:gd name="connsiteY9" fmla="*/ 182644 h 533400"/>
              <a:gd name="connsiteX10" fmla="*/ 63348 w 533400"/>
              <a:gd name="connsiteY10" fmla="*/ 114921 h 533400"/>
              <a:gd name="connsiteX11" fmla="*/ 153264 w 533400"/>
              <a:gd name="connsiteY11" fmla="*/ 114921 h 533400"/>
              <a:gd name="connsiteX12" fmla="*/ 153264 w 533400"/>
              <a:gd name="connsiteY12" fmla="*/ 621 h 533400"/>
              <a:gd name="connsiteX13" fmla="*/ 381864 w 533400"/>
              <a:gd name="connsiteY13" fmla="*/ 621 h 533400"/>
              <a:gd name="connsiteX14" fmla="*/ 362814 w 533400"/>
              <a:gd name="connsiteY14" fmla="*/ 286371 h 533400"/>
              <a:gd name="connsiteX15" fmla="*/ 172314 w 533400"/>
              <a:gd name="connsiteY15" fmla="*/ 286371 h 533400"/>
              <a:gd name="connsiteX16" fmla="*/ 172314 w 533400"/>
              <a:gd name="connsiteY16" fmla="*/ 514971 h 533400"/>
              <a:gd name="connsiteX17" fmla="*/ 362814 w 533400"/>
              <a:gd name="connsiteY17" fmla="*/ 514971 h 533400"/>
              <a:gd name="connsiteX18" fmla="*/ 362814 w 533400"/>
              <a:gd name="connsiteY18" fmla="*/ 286371 h 533400"/>
              <a:gd name="connsiteX19" fmla="*/ 515214 w 533400"/>
              <a:gd name="connsiteY19" fmla="*/ 133971 h 533400"/>
              <a:gd name="connsiteX20" fmla="*/ 71730 w 533400"/>
              <a:gd name="connsiteY20" fmla="*/ 133971 h 533400"/>
              <a:gd name="connsiteX21" fmla="*/ 19914 w 533400"/>
              <a:gd name="connsiteY21" fmla="*/ 190073 h 533400"/>
              <a:gd name="connsiteX22" fmla="*/ 19914 w 533400"/>
              <a:gd name="connsiteY22" fmla="*/ 400671 h 533400"/>
              <a:gd name="connsiteX23" fmla="*/ 153264 w 533400"/>
              <a:gd name="connsiteY23" fmla="*/ 400671 h 533400"/>
              <a:gd name="connsiteX24" fmla="*/ 153264 w 533400"/>
              <a:gd name="connsiteY24" fmla="*/ 267321 h 533400"/>
              <a:gd name="connsiteX25" fmla="*/ 381864 w 533400"/>
              <a:gd name="connsiteY25" fmla="*/ 267321 h 533400"/>
              <a:gd name="connsiteX26" fmla="*/ 381864 w 533400"/>
              <a:gd name="connsiteY26" fmla="*/ 400671 h 533400"/>
              <a:gd name="connsiteX27" fmla="*/ 515214 w 533400"/>
              <a:gd name="connsiteY27" fmla="*/ 400671 h 533400"/>
              <a:gd name="connsiteX28" fmla="*/ 515214 w 533400"/>
              <a:gd name="connsiteY28" fmla="*/ 133971 h 533400"/>
              <a:gd name="connsiteX29" fmla="*/ 462827 w 533400"/>
              <a:gd name="connsiteY29" fmla="*/ 172071 h 533400"/>
              <a:gd name="connsiteX30" fmla="*/ 477114 w 533400"/>
              <a:gd name="connsiteY30" fmla="*/ 186359 h 533400"/>
              <a:gd name="connsiteX31" fmla="*/ 462827 w 533400"/>
              <a:gd name="connsiteY31" fmla="*/ 200646 h 533400"/>
              <a:gd name="connsiteX32" fmla="*/ 448539 w 533400"/>
              <a:gd name="connsiteY32" fmla="*/ 186359 h 533400"/>
              <a:gd name="connsiteX33" fmla="*/ 462827 w 533400"/>
              <a:gd name="connsiteY33" fmla="*/ 172071 h 533400"/>
              <a:gd name="connsiteX34" fmla="*/ 362814 w 533400"/>
              <a:gd name="connsiteY34" fmla="*/ 19671 h 533400"/>
              <a:gd name="connsiteX35" fmla="*/ 172314 w 533400"/>
              <a:gd name="connsiteY35" fmla="*/ 19671 h 533400"/>
              <a:gd name="connsiteX36" fmla="*/ 172314 w 533400"/>
              <a:gd name="connsiteY36" fmla="*/ 114921 h 533400"/>
              <a:gd name="connsiteX37" fmla="*/ 362814 w 533400"/>
              <a:gd name="connsiteY37" fmla="*/ 114921 h 533400"/>
              <a:gd name="connsiteX38" fmla="*/ 362814 w 533400"/>
              <a:gd name="connsiteY38" fmla="*/ 19671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33400" h="533400">
                <a:moveTo>
                  <a:pt x="381864" y="621"/>
                </a:moveTo>
                <a:lnTo>
                  <a:pt x="381864" y="114921"/>
                </a:lnTo>
                <a:lnTo>
                  <a:pt x="534264" y="114921"/>
                </a:lnTo>
                <a:lnTo>
                  <a:pt x="534264" y="419721"/>
                </a:lnTo>
                <a:lnTo>
                  <a:pt x="381864" y="419721"/>
                </a:lnTo>
                <a:lnTo>
                  <a:pt x="381864" y="534021"/>
                </a:lnTo>
                <a:lnTo>
                  <a:pt x="153264" y="534021"/>
                </a:lnTo>
                <a:lnTo>
                  <a:pt x="153264" y="419721"/>
                </a:lnTo>
                <a:lnTo>
                  <a:pt x="864" y="419721"/>
                </a:lnTo>
                <a:lnTo>
                  <a:pt x="864" y="182644"/>
                </a:lnTo>
                <a:lnTo>
                  <a:pt x="63348" y="114921"/>
                </a:lnTo>
                <a:lnTo>
                  <a:pt x="153264" y="114921"/>
                </a:lnTo>
                <a:lnTo>
                  <a:pt x="153264" y="621"/>
                </a:lnTo>
                <a:lnTo>
                  <a:pt x="381864" y="621"/>
                </a:lnTo>
                <a:close/>
                <a:moveTo>
                  <a:pt x="362814" y="286371"/>
                </a:moveTo>
                <a:lnTo>
                  <a:pt x="172314" y="286371"/>
                </a:lnTo>
                <a:lnTo>
                  <a:pt x="172314" y="514971"/>
                </a:lnTo>
                <a:lnTo>
                  <a:pt x="362814" y="514971"/>
                </a:lnTo>
                <a:lnTo>
                  <a:pt x="362814" y="286371"/>
                </a:lnTo>
                <a:close/>
                <a:moveTo>
                  <a:pt x="515214" y="133971"/>
                </a:moveTo>
                <a:lnTo>
                  <a:pt x="71730" y="133971"/>
                </a:lnTo>
                <a:lnTo>
                  <a:pt x="19914" y="190073"/>
                </a:lnTo>
                <a:lnTo>
                  <a:pt x="19914" y="400671"/>
                </a:lnTo>
                <a:lnTo>
                  <a:pt x="153264" y="400671"/>
                </a:lnTo>
                <a:lnTo>
                  <a:pt x="153264" y="267321"/>
                </a:lnTo>
                <a:lnTo>
                  <a:pt x="381864" y="267321"/>
                </a:lnTo>
                <a:lnTo>
                  <a:pt x="381864" y="400671"/>
                </a:lnTo>
                <a:lnTo>
                  <a:pt x="515214" y="400671"/>
                </a:lnTo>
                <a:lnTo>
                  <a:pt x="515214" y="133971"/>
                </a:lnTo>
                <a:close/>
                <a:moveTo>
                  <a:pt x="462827" y="172071"/>
                </a:moveTo>
                <a:cubicBezTo>
                  <a:pt x="470732" y="172071"/>
                  <a:pt x="477114" y="178453"/>
                  <a:pt x="477114" y="186359"/>
                </a:cubicBezTo>
                <a:cubicBezTo>
                  <a:pt x="477114" y="194264"/>
                  <a:pt x="470732" y="200646"/>
                  <a:pt x="462827" y="200646"/>
                </a:cubicBezTo>
                <a:cubicBezTo>
                  <a:pt x="454921" y="200646"/>
                  <a:pt x="448539" y="194264"/>
                  <a:pt x="448539" y="186359"/>
                </a:cubicBezTo>
                <a:cubicBezTo>
                  <a:pt x="448539" y="178453"/>
                  <a:pt x="454921" y="172071"/>
                  <a:pt x="462827" y="172071"/>
                </a:cubicBezTo>
                <a:close/>
                <a:moveTo>
                  <a:pt x="362814" y="19671"/>
                </a:moveTo>
                <a:lnTo>
                  <a:pt x="172314" y="19671"/>
                </a:lnTo>
                <a:lnTo>
                  <a:pt x="172314" y="114921"/>
                </a:lnTo>
                <a:lnTo>
                  <a:pt x="362814" y="114921"/>
                </a:lnTo>
                <a:lnTo>
                  <a:pt x="362814" y="19671"/>
                </a:lnTo>
                <a:close/>
              </a:path>
            </a:pathLst>
          </a:cu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i$ḷïḓé">
            <a:extLst>
              <a:ext uri="{FF2B5EF4-FFF2-40B4-BE49-F238E27FC236}">
                <a16:creationId xmlns:a16="http://schemas.microsoft.com/office/drawing/2014/main" id="{1AC4DB96-2345-C7B5-72EA-7CEF04BDC1A0}"/>
              </a:ext>
            </a:extLst>
          </p:cNvPr>
          <p:cNvSpPr/>
          <p:nvPr/>
        </p:nvSpPr>
        <p:spPr>
          <a:xfrm>
            <a:off x="8120409" y="1737033"/>
            <a:ext cx="3281527" cy="2247652"/>
          </a:xfrm>
          <a:prstGeom prst="rect">
            <a:avLst/>
          </a:pr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112D9DF-E8C4-9EE9-D56E-05D06A5B42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 rot="16046210">
            <a:off x="10326432" y="-599506"/>
            <a:ext cx="1141173" cy="237859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BA2B5C9-8DFB-BF6F-EB84-9627AFDBCF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 rot="5013422">
            <a:off x="228890" y="5456917"/>
            <a:ext cx="1141173" cy="237859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3D1FD4CB-2EEE-D16D-0AF3-5E3A66676448}"/>
              </a:ext>
            </a:extLst>
          </p:cNvPr>
          <p:cNvSpPr txBox="1"/>
          <p:nvPr/>
        </p:nvSpPr>
        <p:spPr>
          <a:xfrm>
            <a:off x="968665" y="2213278"/>
            <a:ext cx="3151938" cy="1295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/>
              <a:t>定义</a:t>
            </a:r>
            <a:r>
              <a:rPr lang="zh-CN" altLang="en-US" dirty="0"/>
              <a:t>：包图（</a:t>
            </a:r>
            <a:r>
              <a:rPr lang="en-US" altLang="zh-CN" dirty="0"/>
              <a:t>Package Diagram</a:t>
            </a:r>
            <a:r>
              <a:rPr lang="zh-CN" altLang="en-US" dirty="0"/>
              <a:t>）是一种用于描述系统中包和包之间关系的</a:t>
            </a:r>
            <a:r>
              <a:rPr lang="en-US" altLang="zh-CN" dirty="0"/>
              <a:t>UML</a:t>
            </a:r>
            <a:r>
              <a:rPr lang="zh-CN" altLang="en-US" dirty="0"/>
              <a:t>图。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48AA59C-3F49-82B3-5281-E096D7F7A29F}"/>
              </a:ext>
            </a:extLst>
          </p:cNvPr>
          <p:cNvSpPr txBox="1"/>
          <p:nvPr/>
        </p:nvSpPr>
        <p:spPr>
          <a:xfrm>
            <a:off x="4838259" y="2213278"/>
            <a:ext cx="2515482" cy="1295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/>
              <a:t>包的定义</a:t>
            </a:r>
            <a:r>
              <a:rPr lang="zh-CN" altLang="en-US" dirty="0"/>
              <a:t>：将模型元素（类、接口、用例等）组织成逻辑分组的机制。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0CAAD12-5B1C-A88F-6A09-FEA52AB7D105}"/>
              </a:ext>
            </a:extLst>
          </p:cNvPr>
          <p:cNvSpPr txBox="1"/>
          <p:nvPr/>
        </p:nvSpPr>
        <p:spPr>
          <a:xfrm>
            <a:off x="8325791" y="2240623"/>
            <a:ext cx="3076145" cy="879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/>
              <a:t>图形表示</a:t>
            </a:r>
            <a:r>
              <a:rPr lang="zh-CN" altLang="en-US" dirty="0"/>
              <a:t>：带标签的矩形（文件夹形状），支持嵌套。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43B340D-5F04-2C3F-2325-052F93EEBB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30" b="24000"/>
          <a:stretch>
            <a:fillRect/>
          </a:stretch>
        </p:blipFill>
        <p:spPr>
          <a:xfrm rot="10800000" flipH="1">
            <a:off x="10201863" y="3906625"/>
            <a:ext cx="2072341" cy="292885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BB470F4-F1E0-0CE4-F6DE-072FFE335E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30" b="24000"/>
          <a:stretch>
            <a:fillRect/>
          </a:stretch>
        </p:blipFill>
        <p:spPr>
          <a:xfrm flipH="1">
            <a:off x="-27053" y="0"/>
            <a:ext cx="2072341" cy="2928851"/>
          </a:xfrm>
          <a:prstGeom prst="rect">
            <a:avLst/>
          </a:prstGeom>
        </p:spPr>
      </p:pic>
      <p:sp>
        <p:nvSpPr>
          <p:cNvPr id="25" name="iṩļïḓè">
            <a:extLst>
              <a:ext uri="{FF2B5EF4-FFF2-40B4-BE49-F238E27FC236}">
                <a16:creationId xmlns:a16="http://schemas.microsoft.com/office/drawing/2014/main" id="{37A93267-D9A0-58B3-B5D3-B83548693CA4}"/>
              </a:ext>
            </a:extLst>
          </p:cNvPr>
          <p:cNvSpPr txBox="1"/>
          <p:nvPr/>
        </p:nvSpPr>
        <p:spPr bwMode="auto">
          <a:xfrm>
            <a:off x="4071591" y="676785"/>
            <a:ext cx="3337994" cy="524173"/>
          </a:xfrm>
          <a:prstGeom prst="rect">
            <a:avLst/>
          </a:prstGeom>
          <a:solidFill>
            <a:srgbClr val="E9939A"/>
          </a:solidFill>
          <a:ln w="9525">
            <a:noFill/>
            <a:miter lim="800000"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dist"/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包图 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概念简介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E56622F-3B65-FD1F-A43C-10B87109CB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3604" y="3161722"/>
            <a:ext cx="1300450" cy="8000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74189178"/>
      </p:ext>
    </p:ext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2" grpId="0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îṩ1íďe"/>
          <p:cNvSpPr/>
          <p:nvPr/>
        </p:nvSpPr>
        <p:spPr>
          <a:xfrm>
            <a:off x="9334026" y="2093304"/>
            <a:ext cx="2034540" cy="3827105"/>
          </a:xfrm>
          <a:prstGeom prst="rect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6" name="isḻídê"/>
          <p:cNvSpPr/>
          <p:nvPr/>
        </p:nvSpPr>
        <p:spPr>
          <a:xfrm>
            <a:off x="9220809" y="1979313"/>
            <a:ext cx="2034540" cy="571500"/>
          </a:xfrm>
          <a:prstGeom prst="rect">
            <a:avLst/>
          </a:prstGeom>
          <a:noFill/>
          <a:ln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7" name="ïṩḷiḓê"/>
          <p:cNvSpPr/>
          <p:nvPr/>
        </p:nvSpPr>
        <p:spPr>
          <a:xfrm>
            <a:off x="9220809" y="2556051"/>
            <a:ext cx="2034540" cy="1421587"/>
          </a:xfrm>
          <a:prstGeom prst="rect">
            <a:avLst/>
          </a:prstGeom>
          <a:noFill/>
          <a:ln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41" name="直接连接符 40"/>
          <p:cNvCxnSpPr/>
          <p:nvPr/>
        </p:nvCxnSpPr>
        <p:spPr>
          <a:xfrm>
            <a:off x="9220809" y="2550813"/>
            <a:ext cx="2034540" cy="0"/>
          </a:xfrm>
          <a:prstGeom prst="line">
            <a:avLst/>
          </a:prstGeom>
          <a:ln>
            <a:solidFill>
              <a:srgbClr val="E9939A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îşľïḓê"/>
          <p:cNvSpPr/>
          <p:nvPr/>
        </p:nvSpPr>
        <p:spPr>
          <a:xfrm>
            <a:off x="9220809" y="3977638"/>
            <a:ext cx="2034540" cy="1828780"/>
          </a:xfrm>
          <a:prstGeom prst="rect">
            <a:avLst/>
          </a:prstGeom>
          <a:blipFill>
            <a:blip r:embed="rId3"/>
            <a:stretch>
              <a:fillRect l="-40136" r="-39638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íşḷidè"/>
          <p:cNvSpPr/>
          <p:nvPr/>
        </p:nvSpPr>
        <p:spPr>
          <a:xfrm>
            <a:off x="9500331" y="2185489"/>
            <a:ext cx="160280" cy="169527"/>
          </a:xfrm>
          <a:custGeom>
            <a:avLst/>
            <a:gdLst>
              <a:gd name="connsiteX0" fmla="*/ 372211 w 495300"/>
              <a:gd name="connsiteY0" fmla="*/ 621 h 523875"/>
              <a:gd name="connsiteX1" fmla="*/ 372211 w 495300"/>
              <a:gd name="connsiteY1" fmla="*/ 19671 h 523875"/>
              <a:gd name="connsiteX2" fmla="*/ 334111 w 495300"/>
              <a:gd name="connsiteY2" fmla="*/ 19671 h 523875"/>
              <a:gd name="connsiteX3" fmla="*/ 334111 w 495300"/>
              <a:gd name="connsiteY3" fmla="*/ 143877 h 523875"/>
              <a:gd name="connsiteX4" fmla="*/ 496036 w 495300"/>
              <a:gd name="connsiteY4" fmla="*/ 486587 h 523875"/>
              <a:gd name="connsiteX5" fmla="*/ 481749 w 495300"/>
              <a:gd name="connsiteY5" fmla="*/ 524496 h 523875"/>
              <a:gd name="connsiteX6" fmla="*/ 15024 w 495300"/>
              <a:gd name="connsiteY6" fmla="*/ 524496 h 523875"/>
              <a:gd name="connsiteX7" fmla="*/ 736 w 495300"/>
              <a:gd name="connsiteY7" fmla="*/ 486587 h 523875"/>
              <a:gd name="connsiteX8" fmla="*/ 162661 w 495300"/>
              <a:gd name="connsiteY8" fmla="*/ 143877 h 523875"/>
              <a:gd name="connsiteX9" fmla="*/ 162661 w 495300"/>
              <a:gd name="connsiteY9" fmla="*/ 19671 h 523875"/>
              <a:gd name="connsiteX10" fmla="*/ 124561 w 495300"/>
              <a:gd name="connsiteY10" fmla="*/ 19671 h 523875"/>
              <a:gd name="connsiteX11" fmla="*/ 124561 w 495300"/>
              <a:gd name="connsiteY11" fmla="*/ 621 h 523875"/>
              <a:gd name="connsiteX12" fmla="*/ 372211 w 495300"/>
              <a:gd name="connsiteY12" fmla="*/ 621 h 523875"/>
              <a:gd name="connsiteX13" fmla="*/ 259435 w 495300"/>
              <a:gd name="connsiteY13" fmla="*/ 404767 h 523875"/>
              <a:gd name="connsiteX14" fmla="*/ 256577 w 495300"/>
              <a:gd name="connsiteY14" fmla="*/ 406576 h 523875"/>
              <a:gd name="connsiteX15" fmla="*/ 251053 w 495300"/>
              <a:gd name="connsiteY15" fmla="*/ 410291 h 523875"/>
              <a:gd name="connsiteX16" fmla="*/ 59220 w 495300"/>
              <a:gd name="connsiteY16" fmla="*/ 416864 h 523875"/>
              <a:gd name="connsiteX17" fmla="*/ 55409 w 495300"/>
              <a:gd name="connsiteY17" fmla="*/ 415339 h 523875"/>
              <a:gd name="connsiteX18" fmla="*/ 21310 w 495300"/>
              <a:gd name="connsiteY18" fmla="*/ 487444 h 523875"/>
              <a:gd name="connsiteX19" fmla="*/ 28073 w 495300"/>
              <a:gd name="connsiteY19" fmla="*/ 505446 h 523875"/>
              <a:gd name="connsiteX20" fmla="*/ 468414 w 495300"/>
              <a:gd name="connsiteY20" fmla="*/ 505446 h 523875"/>
              <a:gd name="connsiteX21" fmla="*/ 475176 w 495300"/>
              <a:gd name="connsiteY21" fmla="*/ 487444 h 523875"/>
              <a:gd name="connsiteX22" fmla="*/ 428313 w 495300"/>
              <a:gd name="connsiteY22" fmla="*/ 388289 h 523875"/>
              <a:gd name="connsiteX23" fmla="*/ 259435 w 495300"/>
              <a:gd name="connsiteY23" fmla="*/ 404767 h 523875"/>
              <a:gd name="connsiteX24" fmla="*/ 310299 w 495300"/>
              <a:gd name="connsiteY24" fmla="*/ 257796 h 523875"/>
              <a:gd name="connsiteX25" fmla="*/ 276961 w 495300"/>
              <a:gd name="connsiteY25" fmla="*/ 291134 h 523875"/>
              <a:gd name="connsiteX26" fmla="*/ 310299 w 495300"/>
              <a:gd name="connsiteY26" fmla="*/ 324471 h 523875"/>
              <a:gd name="connsiteX27" fmla="*/ 343636 w 495300"/>
              <a:gd name="connsiteY27" fmla="*/ 291134 h 523875"/>
              <a:gd name="connsiteX28" fmla="*/ 310299 w 495300"/>
              <a:gd name="connsiteY28" fmla="*/ 257796 h 5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95300" h="523875">
                <a:moveTo>
                  <a:pt x="372211" y="621"/>
                </a:moveTo>
                <a:lnTo>
                  <a:pt x="372211" y="19671"/>
                </a:lnTo>
                <a:lnTo>
                  <a:pt x="334111" y="19671"/>
                </a:lnTo>
                <a:lnTo>
                  <a:pt x="334111" y="143877"/>
                </a:lnTo>
                <a:lnTo>
                  <a:pt x="496036" y="486587"/>
                </a:lnTo>
                <a:lnTo>
                  <a:pt x="481749" y="524496"/>
                </a:lnTo>
                <a:lnTo>
                  <a:pt x="15024" y="524496"/>
                </a:lnTo>
                <a:lnTo>
                  <a:pt x="736" y="486587"/>
                </a:lnTo>
                <a:lnTo>
                  <a:pt x="162661" y="143877"/>
                </a:lnTo>
                <a:lnTo>
                  <a:pt x="162661" y="19671"/>
                </a:lnTo>
                <a:lnTo>
                  <a:pt x="124561" y="19671"/>
                </a:lnTo>
                <a:lnTo>
                  <a:pt x="124561" y="621"/>
                </a:lnTo>
                <a:lnTo>
                  <a:pt x="372211" y="621"/>
                </a:lnTo>
                <a:close/>
                <a:moveTo>
                  <a:pt x="259435" y="404767"/>
                </a:moveTo>
                <a:lnTo>
                  <a:pt x="256577" y="406576"/>
                </a:lnTo>
                <a:lnTo>
                  <a:pt x="251053" y="410291"/>
                </a:lnTo>
                <a:cubicBezTo>
                  <a:pt x="203809" y="441628"/>
                  <a:pt x="124275" y="442581"/>
                  <a:pt x="59220" y="416864"/>
                </a:cubicBezTo>
                <a:lnTo>
                  <a:pt x="55409" y="415339"/>
                </a:lnTo>
                <a:lnTo>
                  <a:pt x="21310" y="487444"/>
                </a:lnTo>
                <a:lnTo>
                  <a:pt x="28073" y="505446"/>
                </a:lnTo>
                <a:lnTo>
                  <a:pt x="468414" y="505446"/>
                </a:lnTo>
                <a:lnTo>
                  <a:pt x="475176" y="487444"/>
                </a:lnTo>
                <a:lnTo>
                  <a:pt x="428313" y="388289"/>
                </a:lnTo>
                <a:cubicBezTo>
                  <a:pt x="370211" y="373810"/>
                  <a:pt x="300774" y="379335"/>
                  <a:pt x="259435" y="404767"/>
                </a:cubicBezTo>
                <a:close/>
                <a:moveTo>
                  <a:pt x="310299" y="257796"/>
                </a:moveTo>
                <a:cubicBezTo>
                  <a:pt x="291915" y="257796"/>
                  <a:pt x="276961" y="272750"/>
                  <a:pt x="276961" y="291134"/>
                </a:cubicBezTo>
                <a:cubicBezTo>
                  <a:pt x="276961" y="309517"/>
                  <a:pt x="291915" y="324471"/>
                  <a:pt x="310299" y="324471"/>
                </a:cubicBezTo>
                <a:cubicBezTo>
                  <a:pt x="328682" y="324471"/>
                  <a:pt x="343636" y="309517"/>
                  <a:pt x="343636" y="291134"/>
                </a:cubicBezTo>
                <a:cubicBezTo>
                  <a:pt x="343636" y="272750"/>
                  <a:pt x="328682" y="257796"/>
                  <a:pt x="310299" y="257796"/>
                </a:cubicBezTo>
                <a:close/>
              </a:path>
            </a:pathLst>
          </a:custGeom>
          <a:solidFill>
            <a:srgbClr val="979797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/>
          </a:p>
        </p:txBody>
      </p:sp>
      <p:sp>
        <p:nvSpPr>
          <p:cNvPr id="26" name="iŝlíḓe"/>
          <p:cNvSpPr/>
          <p:nvPr/>
        </p:nvSpPr>
        <p:spPr>
          <a:xfrm>
            <a:off x="7009299" y="2093304"/>
            <a:ext cx="2034540" cy="3827105"/>
          </a:xfrm>
          <a:prstGeom prst="rect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7" name="íṧľiḍè"/>
          <p:cNvSpPr/>
          <p:nvPr/>
        </p:nvSpPr>
        <p:spPr>
          <a:xfrm>
            <a:off x="6896082" y="1979313"/>
            <a:ext cx="2034540" cy="571500"/>
          </a:xfrm>
          <a:prstGeom prst="rect">
            <a:avLst/>
          </a:prstGeom>
          <a:noFill/>
          <a:ln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8" name="işḻîdê"/>
          <p:cNvSpPr/>
          <p:nvPr/>
        </p:nvSpPr>
        <p:spPr>
          <a:xfrm>
            <a:off x="6896082" y="2556051"/>
            <a:ext cx="2034540" cy="1421587"/>
          </a:xfrm>
          <a:prstGeom prst="rect">
            <a:avLst/>
          </a:prstGeom>
          <a:noFill/>
          <a:ln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>
            <a:off x="6896082" y="2550813"/>
            <a:ext cx="2034540" cy="0"/>
          </a:xfrm>
          <a:prstGeom prst="line">
            <a:avLst/>
          </a:prstGeom>
          <a:ln>
            <a:solidFill>
              <a:srgbClr val="E9939A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işļíḓé"/>
          <p:cNvSpPr/>
          <p:nvPr/>
        </p:nvSpPr>
        <p:spPr>
          <a:xfrm>
            <a:off x="6896082" y="3977638"/>
            <a:ext cx="2034540" cy="1828780"/>
          </a:xfrm>
          <a:prstGeom prst="rect">
            <a:avLst/>
          </a:prstGeom>
          <a:blipFill>
            <a:blip r:embed="rId4"/>
            <a:stretch>
              <a:fillRect l="-40136" r="-39638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4" name="íṡľïḓê"/>
          <p:cNvSpPr/>
          <p:nvPr/>
        </p:nvSpPr>
        <p:spPr>
          <a:xfrm>
            <a:off x="7175604" y="2185489"/>
            <a:ext cx="160280" cy="169527"/>
          </a:xfrm>
          <a:custGeom>
            <a:avLst/>
            <a:gdLst>
              <a:gd name="connsiteX0" fmla="*/ 400530 w 495300"/>
              <a:gd name="connsiteY0" fmla="*/ 621 h 523875"/>
              <a:gd name="connsiteX1" fmla="*/ 400530 w 495300"/>
              <a:gd name="connsiteY1" fmla="*/ 162546 h 523875"/>
              <a:gd name="connsiteX2" fmla="*/ 257655 w 495300"/>
              <a:gd name="connsiteY2" fmla="*/ 162546 h 523875"/>
              <a:gd name="connsiteX3" fmla="*/ 257655 w 495300"/>
              <a:gd name="connsiteY3" fmla="*/ 286371 h 523875"/>
              <a:gd name="connsiteX4" fmla="*/ 457680 w 495300"/>
              <a:gd name="connsiteY4" fmla="*/ 286371 h 523875"/>
              <a:gd name="connsiteX5" fmla="*/ 457680 w 495300"/>
              <a:gd name="connsiteY5" fmla="*/ 429246 h 523875"/>
              <a:gd name="connsiteX6" fmla="*/ 495780 w 495300"/>
              <a:gd name="connsiteY6" fmla="*/ 429246 h 523875"/>
              <a:gd name="connsiteX7" fmla="*/ 495780 w 495300"/>
              <a:gd name="connsiteY7" fmla="*/ 524496 h 523875"/>
              <a:gd name="connsiteX8" fmla="*/ 400530 w 495300"/>
              <a:gd name="connsiteY8" fmla="*/ 524496 h 523875"/>
              <a:gd name="connsiteX9" fmla="*/ 400530 w 495300"/>
              <a:gd name="connsiteY9" fmla="*/ 429246 h 523875"/>
              <a:gd name="connsiteX10" fmla="*/ 438630 w 495300"/>
              <a:gd name="connsiteY10" fmla="*/ 429246 h 523875"/>
              <a:gd name="connsiteX11" fmla="*/ 438630 w 495300"/>
              <a:gd name="connsiteY11" fmla="*/ 305421 h 523875"/>
              <a:gd name="connsiteX12" fmla="*/ 257655 w 495300"/>
              <a:gd name="connsiteY12" fmla="*/ 305421 h 523875"/>
              <a:gd name="connsiteX13" fmla="*/ 257655 w 495300"/>
              <a:gd name="connsiteY13" fmla="*/ 429246 h 523875"/>
              <a:gd name="connsiteX14" fmla="*/ 295755 w 495300"/>
              <a:gd name="connsiteY14" fmla="*/ 429246 h 523875"/>
              <a:gd name="connsiteX15" fmla="*/ 295755 w 495300"/>
              <a:gd name="connsiteY15" fmla="*/ 524496 h 523875"/>
              <a:gd name="connsiteX16" fmla="*/ 200505 w 495300"/>
              <a:gd name="connsiteY16" fmla="*/ 524496 h 523875"/>
              <a:gd name="connsiteX17" fmla="*/ 200505 w 495300"/>
              <a:gd name="connsiteY17" fmla="*/ 429246 h 523875"/>
              <a:gd name="connsiteX18" fmla="*/ 238605 w 495300"/>
              <a:gd name="connsiteY18" fmla="*/ 429246 h 523875"/>
              <a:gd name="connsiteX19" fmla="*/ 238605 w 495300"/>
              <a:gd name="connsiteY19" fmla="*/ 305421 h 523875"/>
              <a:gd name="connsiteX20" fmla="*/ 57630 w 495300"/>
              <a:gd name="connsiteY20" fmla="*/ 305421 h 523875"/>
              <a:gd name="connsiteX21" fmla="*/ 57630 w 495300"/>
              <a:gd name="connsiteY21" fmla="*/ 429246 h 523875"/>
              <a:gd name="connsiteX22" fmla="*/ 95730 w 495300"/>
              <a:gd name="connsiteY22" fmla="*/ 429246 h 523875"/>
              <a:gd name="connsiteX23" fmla="*/ 95730 w 495300"/>
              <a:gd name="connsiteY23" fmla="*/ 524496 h 523875"/>
              <a:gd name="connsiteX24" fmla="*/ 480 w 495300"/>
              <a:gd name="connsiteY24" fmla="*/ 524496 h 523875"/>
              <a:gd name="connsiteX25" fmla="*/ 480 w 495300"/>
              <a:gd name="connsiteY25" fmla="*/ 429246 h 523875"/>
              <a:gd name="connsiteX26" fmla="*/ 38580 w 495300"/>
              <a:gd name="connsiteY26" fmla="*/ 429246 h 523875"/>
              <a:gd name="connsiteX27" fmla="*/ 38580 w 495300"/>
              <a:gd name="connsiteY27" fmla="*/ 286371 h 523875"/>
              <a:gd name="connsiteX28" fmla="*/ 238605 w 495300"/>
              <a:gd name="connsiteY28" fmla="*/ 286371 h 523875"/>
              <a:gd name="connsiteX29" fmla="*/ 238605 w 495300"/>
              <a:gd name="connsiteY29" fmla="*/ 162546 h 523875"/>
              <a:gd name="connsiteX30" fmla="*/ 95730 w 495300"/>
              <a:gd name="connsiteY30" fmla="*/ 162546 h 523875"/>
              <a:gd name="connsiteX31" fmla="*/ 95730 w 495300"/>
              <a:gd name="connsiteY31" fmla="*/ 621 h 523875"/>
              <a:gd name="connsiteX32" fmla="*/ 400530 w 495300"/>
              <a:gd name="connsiteY32" fmla="*/ 621 h 523875"/>
              <a:gd name="connsiteX33" fmla="*/ 148118 w 495300"/>
              <a:gd name="connsiteY33" fmla="*/ 95871 h 523875"/>
              <a:gd name="connsiteX34" fmla="*/ 133830 w 495300"/>
              <a:gd name="connsiteY34" fmla="*/ 110159 h 523875"/>
              <a:gd name="connsiteX35" fmla="*/ 148118 w 495300"/>
              <a:gd name="connsiteY35" fmla="*/ 124446 h 523875"/>
              <a:gd name="connsiteX36" fmla="*/ 162405 w 495300"/>
              <a:gd name="connsiteY36" fmla="*/ 110159 h 523875"/>
              <a:gd name="connsiteX37" fmla="*/ 148118 w 495300"/>
              <a:gd name="connsiteY37" fmla="*/ 95871 h 5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495300" h="523875">
                <a:moveTo>
                  <a:pt x="400530" y="621"/>
                </a:moveTo>
                <a:lnTo>
                  <a:pt x="400530" y="162546"/>
                </a:lnTo>
                <a:lnTo>
                  <a:pt x="257655" y="162546"/>
                </a:lnTo>
                <a:lnTo>
                  <a:pt x="257655" y="286371"/>
                </a:lnTo>
                <a:lnTo>
                  <a:pt x="457680" y="286371"/>
                </a:lnTo>
                <a:lnTo>
                  <a:pt x="457680" y="429246"/>
                </a:lnTo>
                <a:lnTo>
                  <a:pt x="495780" y="429246"/>
                </a:lnTo>
                <a:lnTo>
                  <a:pt x="495780" y="524496"/>
                </a:lnTo>
                <a:lnTo>
                  <a:pt x="400530" y="524496"/>
                </a:lnTo>
                <a:lnTo>
                  <a:pt x="400530" y="429246"/>
                </a:lnTo>
                <a:lnTo>
                  <a:pt x="438630" y="429246"/>
                </a:lnTo>
                <a:lnTo>
                  <a:pt x="438630" y="305421"/>
                </a:lnTo>
                <a:lnTo>
                  <a:pt x="257655" y="305421"/>
                </a:lnTo>
                <a:lnTo>
                  <a:pt x="257655" y="429246"/>
                </a:lnTo>
                <a:lnTo>
                  <a:pt x="295755" y="429246"/>
                </a:lnTo>
                <a:lnTo>
                  <a:pt x="295755" y="524496"/>
                </a:lnTo>
                <a:lnTo>
                  <a:pt x="200505" y="524496"/>
                </a:lnTo>
                <a:lnTo>
                  <a:pt x="200505" y="429246"/>
                </a:lnTo>
                <a:lnTo>
                  <a:pt x="238605" y="429246"/>
                </a:lnTo>
                <a:lnTo>
                  <a:pt x="238605" y="305421"/>
                </a:lnTo>
                <a:lnTo>
                  <a:pt x="57630" y="305421"/>
                </a:lnTo>
                <a:lnTo>
                  <a:pt x="57630" y="429246"/>
                </a:lnTo>
                <a:lnTo>
                  <a:pt x="95730" y="429246"/>
                </a:lnTo>
                <a:lnTo>
                  <a:pt x="95730" y="524496"/>
                </a:lnTo>
                <a:lnTo>
                  <a:pt x="480" y="524496"/>
                </a:lnTo>
                <a:lnTo>
                  <a:pt x="480" y="429246"/>
                </a:lnTo>
                <a:lnTo>
                  <a:pt x="38580" y="429246"/>
                </a:lnTo>
                <a:lnTo>
                  <a:pt x="38580" y="286371"/>
                </a:lnTo>
                <a:lnTo>
                  <a:pt x="238605" y="286371"/>
                </a:lnTo>
                <a:lnTo>
                  <a:pt x="238605" y="162546"/>
                </a:lnTo>
                <a:lnTo>
                  <a:pt x="95730" y="162546"/>
                </a:lnTo>
                <a:lnTo>
                  <a:pt x="95730" y="621"/>
                </a:lnTo>
                <a:lnTo>
                  <a:pt x="400530" y="621"/>
                </a:lnTo>
                <a:close/>
                <a:moveTo>
                  <a:pt x="148118" y="95871"/>
                </a:moveTo>
                <a:cubicBezTo>
                  <a:pt x="140212" y="95871"/>
                  <a:pt x="133830" y="102253"/>
                  <a:pt x="133830" y="110159"/>
                </a:cubicBezTo>
                <a:cubicBezTo>
                  <a:pt x="133830" y="118064"/>
                  <a:pt x="140212" y="124446"/>
                  <a:pt x="148118" y="124446"/>
                </a:cubicBezTo>
                <a:cubicBezTo>
                  <a:pt x="156023" y="124446"/>
                  <a:pt x="162405" y="118064"/>
                  <a:pt x="162405" y="110159"/>
                </a:cubicBezTo>
                <a:cubicBezTo>
                  <a:pt x="162405" y="102253"/>
                  <a:pt x="156023" y="95871"/>
                  <a:pt x="148118" y="95871"/>
                </a:cubicBezTo>
                <a:close/>
              </a:path>
            </a:pathLst>
          </a:custGeom>
          <a:solidFill>
            <a:srgbClr val="979797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/>
          </a:p>
        </p:txBody>
      </p:sp>
      <p:sp>
        <p:nvSpPr>
          <p:cNvPr id="17" name="išḻïḑe"/>
          <p:cNvSpPr/>
          <p:nvPr/>
        </p:nvSpPr>
        <p:spPr>
          <a:xfrm>
            <a:off x="4684571" y="2093304"/>
            <a:ext cx="2034540" cy="3827105"/>
          </a:xfrm>
          <a:prstGeom prst="rect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8" name="ís1íďe"/>
          <p:cNvSpPr/>
          <p:nvPr/>
        </p:nvSpPr>
        <p:spPr>
          <a:xfrm>
            <a:off x="4571354" y="1979313"/>
            <a:ext cx="2034540" cy="571500"/>
          </a:xfrm>
          <a:prstGeom prst="rect">
            <a:avLst/>
          </a:prstGeom>
          <a:noFill/>
          <a:ln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9" name="íṧľídé"/>
          <p:cNvSpPr/>
          <p:nvPr/>
        </p:nvSpPr>
        <p:spPr>
          <a:xfrm>
            <a:off x="4571354" y="2556051"/>
            <a:ext cx="2034540" cy="1421587"/>
          </a:xfrm>
          <a:prstGeom prst="rect">
            <a:avLst/>
          </a:prstGeom>
          <a:noFill/>
          <a:ln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/>
        </p:nvCxnSpPr>
        <p:spPr>
          <a:xfrm>
            <a:off x="4571354" y="2550813"/>
            <a:ext cx="2034540" cy="0"/>
          </a:xfrm>
          <a:prstGeom prst="line">
            <a:avLst/>
          </a:prstGeom>
          <a:ln>
            <a:solidFill>
              <a:srgbClr val="E9939A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isliḋê"/>
          <p:cNvSpPr/>
          <p:nvPr/>
        </p:nvSpPr>
        <p:spPr>
          <a:xfrm>
            <a:off x="4571354" y="3977638"/>
            <a:ext cx="2034540" cy="1828780"/>
          </a:xfrm>
          <a:prstGeom prst="rect">
            <a:avLst/>
          </a:prstGeom>
          <a:blipFill>
            <a:blip r:embed="rId5"/>
            <a:stretch>
              <a:fillRect l="-40136" r="-39638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5" name="íṣḻíḓê"/>
          <p:cNvSpPr/>
          <p:nvPr/>
        </p:nvSpPr>
        <p:spPr>
          <a:xfrm>
            <a:off x="4861389" y="2185489"/>
            <a:ext cx="139254" cy="169527"/>
          </a:xfrm>
          <a:custGeom>
            <a:avLst/>
            <a:gdLst>
              <a:gd name="connsiteX0" fmla="*/ 286102 w 438150"/>
              <a:gd name="connsiteY0" fmla="*/ 621 h 533400"/>
              <a:gd name="connsiteX1" fmla="*/ 286102 w 438150"/>
              <a:gd name="connsiteY1" fmla="*/ 153021 h 533400"/>
              <a:gd name="connsiteX2" fmla="*/ 438502 w 438150"/>
              <a:gd name="connsiteY2" fmla="*/ 153021 h 533400"/>
              <a:gd name="connsiteX3" fmla="*/ 438502 w 438150"/>
              <a:gd name="connsiteY3" fmla="*/ 534021 h 533400"/>
              <a:gd name="connsiteX4" fmla="*/ 352 w 438150"/>
              <a:gd name="connsiteY4" fmla="*/ 534021 h 533400"/>
              <a:gd name="connsiteX5" fmla="*/ 352 w 438150"/>
              <a:gd name="connsiteY5" fmla="*/ 621 h 533400"/>
              <a:gd name="connsiteX6" fmla="*/ 286102 w 438150"/>
              <a:gd name="connsiteY6" fmla="*/ 621 h 533400"/>
              <a:gd name="connsiteX7" fmla="*/ 248002 w 438150"/>
              <a:gd name="connsiteY7" fmla="*/ 200646 h 533400"/>
              <a:gd name="connsiteX8" fmla="*/ 152752 w 438150"/>
              <a:gd name="connsiteY8" fmla="*/ 200646 h 533400"/>
              <a:gd name="connsiteX9" fmla="*/ 152752 w 438150"/>
              <a:gd name="connsiteY9" fmla="*/ 410196 h 533400"/>
              <a:gd name="connsiteX10" fmla="*/ 171802 w 438150"/>
              <a:gd name="connsiteY10" fmla="*/ 410196 h 533400"/>
              <a:gd name="connsiteX11" fmla="*/ 171802 w 438150"/>
              <a:gd name="connsiteY11" fmla="*/ 314946 h 533400"/>
              <a:gd name="connsiteX12" fmla="*/ 248002 w 438150"/>
              <a:gd name="connsiteY12" fmla="*/ 314946 h 533400"/>
              <a:gd name="connsiteX13" fmla="*/ 250098 w 438150"/>
              <a:gd name="connsiteY13" fmla="*/ 314946 h 533400"/>
              <a:gd name="connsiteX14" fmla="*/ 305152 w 438150"/>
              <a:gd name="connsiteY14" fmla="*/ 257796 h 533400"/>
              <a:gd name="connsiteX15" fmla="*/ 248002 w 438150"/>
              <a:gd name="connsiteY15" fmla="*/ 200646 h 533400"/>
              <a:gd name="connsiteX16" fmla="*/ 248002 w 438150"/>
              <a:gd name="connsiteY16" fmla="*/ 200646 h 533400"/>
              <a:gd name="connsiteX17" fmla="*/ 248002 w 438150"/>
              <a:gd name="connsiteY17" fmla="*/ 219696 h 533400"/>
              <a:gd name="connsiteX18" fmla="*/ 286102 w 438150"/>
              <a:gd name="connsiteY18" fmla="*/ 257796 h 533400"/>
              <a:gd name="connsiteX19" fmla="*/ 248002 w 438150"/>
              <a:gd name="connsiteY19" fmla="*/ 295896 h 533400"/>
              <a:gd name="connsiteX20" fmla="*/ 248002 w 438150"/>
              <a:gd name="connsiteY20" fmla="*/ 295896 h 533400"/>
              <a:gd name="connsiteX21" fmla="*/ 171802 w 438150"/>
              <a:gd name="connsiteY21" fmla="*/ 295896 h 533400"/>
              <a:gd name="connsiteX22" fmla="*/ 171802 w 438150"/>
              <a:gd name="connsiteY22" fmla="*/ 219696 h 533400"/>
              <a:gd name="connsiteX23" fmla="*/ 248002 w 438150"/>
              <a:gd name="connsiteY23" fmla="*/ 219696 h 533400"/>
              <a:gd name="connsiteX24" fmla="*/ 428977 w 438150"/>
              <a:gd name="connsiteY24" fmla="*/ 133971 h 533400"/>
              <a:gd name="connsiteX25" fmla="*/ 305152 w 438150"/>
              <a:gd name="connsiteY25" fmla="*/ 133971 h 533400"/>
              <a:gd name="connsiteX26" fmla="*/ 305152 w 438150"/>
              <a:gd name="connsiteY26" fmla="*/ 10146 h 533400"/>
              <a:gd name="connsiteX27" fmla="*/ 428977 w 438150"/>
              <a:gd name="connsiteY27" fmla="*/ 133971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38150" h="533400">
                <a:moveTo>
                  <a:pt x="286102" y="621"/>
                </a:moveTo>
                <a:lnTo>
                  <a:pt x="286102" y="153021"/>
                </a:lnTo>
                <a:lnTo>
                  <a:pt x="438502" y="153021"/>
                </a:lnTo>
                <a:lnTo>
                  <a:pt x="438502" y="534021"/>
                </a:lnTo>
                <a:lnTo>
                  <a:pt x="352" y="534021"/>
                </a:lnTo>
                <a:lnTo>
                  <a:pt x="352" y="621"/>
                </a:lnTo>
                <a:lnTo>
                  <a:pt x="286102" y="621"/>
                </a:lnTo>
                <a:close/>
                <a:moveTo>
                  <a:pt x="248002" y="200646"/>
                </a:moveTo>
                <a:lnTo>
                  <a:pt x="152752" y="200646"/>
                </a:lnTo>
                <a:lnTo>
                  <a:pt x="152752" y="410196"/>
                </a:lnTo>
                <a:lnTo>
                  <a:pt x="171802" y="410196"/>
                </a:lnTo>
                <a:lnTo>
                  <a:pt x="171802" y="314946"/>
                </a:lnTo>
                <a:lnTo>
                  <a:pt x="248002" y="314946"/>
                </a:lnTo>
                <a:lnTo>
                  <a:pt x="250098" y="314946"/>
                </a:lnTo>
                <a:cubicBezTo>
                  <a:pt x="280673" y="313803"/>
                  <a:pt x="305152" y="288657"/>
                  <a:pt x="305152" y="257796"/>
                </a:cubicBezTo>
                <a:cubicBezTo>
                  <a:pt x="305152" y="226268"/>
                  <a:pt x="279530" y="200646"/>
                  <a:pt x="248002" y="200646"/>
                </a:cubicBezTo>
                <a:lnTo>
                  <a:pt x="248002" y="200646"/>
                </a:lnTo>
                <a:close/>
                <a:moveTo>
                  <a:pt x="248002" y="219696"/>
                </a:moveTo>
                <a:cubicBezTo>
                  <a:pt x="269052" y="219696"/>
                  <a:pt x="286102" y="236746"/>
                  <a:pt x="286102" y="257796"/>
                </a:cubicBezTo>
                <a:cubicBezTo>
                  <a:pt x="286102" y="278846"/>
                  <a:pt x="269052" y="295896"/>
                  <a:pt x="248002" y="295896"/>
                </a:cubicBezTo>
                <a:lnTo>
                  <a:pt x="248002" y="295896"/>
                </a:lnTo>
                <a:lnTo>
                  <a:pt x="171802" y="295896"/>
                </a:lnTo>
                <a:lnTo>
                  <a:pt x="171802" y="219696"/>
                </a:lnTo>
                <a:lnTo>
                  <a:pt x="248002" y="219696"/>
                </a:lnTo>
                <a:close/>
                <a:moveTo>
                  <a:pt x="428977" y="133971"/>
                </a:moveTo>
                <a:lnTo>
                  <a:pt x="305152" y="133971"/>
                </a:lnTo>
                <a:lnTo>
                  <a:pt x="305152" y="10146"/>
                </a:lnTo>
                <a:lnTo>
                  <a:pt x="428977" y="133971"/>
                </a:lnTo>
                <a:close/>
              </a:path>
            </a:pathLst>
          </a:custGeom>
          <a:solidFill>
            <a:srgbClr val="979797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/>
          </a:p>
        </p:txBody>
      </p:sp>
      <p:sp>
        <p:nvSpPr>
          <p:cNvPr id="9" name="îṥľïḑè"/>
          <p:cNvSpPr/>
          <p:nvPr/>
        </p:nvSpPr>
        <p:spPr>
          <a:xfrm>
            <a:off x="726252" y="1278397"/>
            <a:ext cx="2475194" cy="584013"/>
          </a:xfrm>
          <a:prstGeom prst="rect">
            <a:avLst/>
          </a:prstGeom>
          <a:noFill/>
          <a:ln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" name="išľïďè"/>
          <p:cNvSpPr/>
          <p:nvPr/>
        </p:nvSpPr>
        <p:spPr>
          <a:xfrm>
            <a:off x="258190" y="1929889"/>
            <a:ext cx="3750143" cy="1681352"/>
          </a:xfrm>
          <a:prstGeom prst="rect">
            <a:avLst/>
          </a:prstGeom>
          <a:noFill/>
          <a:ln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856467" y="2022591"/>
            <a:ext cx="2034540" cy="0"/>
          </a:xfrm>
          <a:prstGeom prst="line">
            <a:avLst/>
          </a:prstGeom>
          <a:ln>
            <a:solidFill>
              <a:srgbClr val="E9939A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ï$ļïdè"/>
          <p:cNvSpPr/>
          <p:nvPr/>
        </p:nvSpPr>
        <p:spPr>
          <a:xfrm>
            <a:off x="918659" y="1504014"/>
            <a:ext cx="169527" cy="166499"/>
          </a:xfrm>
          <a:custGeom>
            <a:avLst/>
            <a:gdLst>
              <a:gd name="connsiteX0" fmla="*/ 372339 w 533400"/>
              <a:gd name="connsiteY0" fmla="*/ 276846 h 523875"/>
              <a:gd name="connsiteX1" fmla="*/ 372339 w 533400"/>
              <a:gd name="connsiteY1" fmla="*/ 524496 h 523875"/>
              <a:gd name="connsiteX2" fmla="*/ 162789 w 533400"/>
              <a:gd name="connsiteY2" fmla="*/ 524496 h 523875"/>
              <a:gd name="connsiteX3" fmla="*/ 162789 w 533400"/>
              <a:gd name="connsiteY3" fmla="*/ 276846 h 523875"/>
              <a:gd name="connsiteX4" fmla="*/ 372339 w 533400"/>
              <a:gd name="connsiteY4" fmla="*/ 276846 h 523875"/>
              <a:gd name="connsiteX5" fmla="*/ 143739 w 533400"/>
              <a:gd name="connsiteY5" fmla="*/ 114921 h 523875"/>
              <a:gd name="connsiteX6" fmla="*/ 143739 w 533400"/>
              <a:gd name="connsiteY6" fmla="*/ 153021 h 523875"/>
              <a:gd name="connsiteX7" fmla="*/ 391389 w 533400"/>
              <a:gd name="connsiteY7" fmla="*/ 153021 h 523875"/>
              <a:gd name="connsiteX8" fmla="*/ 391389 w 533400"/>
              <a:gd name="connsiteY8" fmla="*/ 114921 h 523875"/>
              <a:gd name="connsiteX9" fmla="*/ 534264 w 533400"/>
              <a:gd name="connsiteY9" fmla="*/ 114921 h 523875"/>
              <a:gd name="connsiteX10" fmla="*/ 534264 w 533400"/>
              <a:gd name="connsiteY10" fmla="*/ 410196 h 523875"/>
              <a:gd name="connsiteX11" fmla="*/ 391389 w 533400"/>
              <a:gd name="connsiteY11" fmla="*/ 410196 h 523875"/>
              <a:gd name="connsiteX12" fmla="*/ 391389 w 533400"/>
              <a:gd name="connsiteY12" fmla="*/ 257796 h 523875"/>
              <a:gd name="connsiteX13" fmla="*/ 143739 w 533400"/>
              <a:gd name="connsiteY13" fmla="*/ 257796 h 523875"/>
              <a:gd name="connsiteX14" fmla="*/ 143739 w 533400"/>
              <a:gd name="connsiteY14" fmla="*/ 410196 h 523875"/>
              <a:gd name="connsiteX15" fmla="*/ 864 w 533400"/>
              <a:gd name="connsiteY15" fmla="*/ 410196 h 523875"/>
              <a:gd name="connsiteX16" fmla="*/ 864 w 533400"/>
              <a:gd name="connsiteY16" fmla="*/ 186359 h 523875"/>
              <a:gd name="connsiteX17" fmla="*/ 67539 w 533400"/>
              <a:gd name="connsiteY17" fmla="*/ 114921 h 523875"/>
              <a:gd name="connsiteX18" fmla="*/ 143739 w 533400"/>
              <a:gd name="connsiteY18" fmla="*/ 114921 h 523875"/>
              <a:gd name="connsiteX19" fmla="*/ 462827 w 533400"/>
              <a:gd name="connsiteY19" fmla="*/ 172071 h 523875"/>
              <a:gd name="connsiteX20" fmla="*/ 448539 w 533400"/>
              <a:gd name="connsiteY20" fmla="*/ 186359 h 523875"/>
              <a:gd name="connsiteX21" fmla="*/ 462827 w 533400"/>
              <a:gd name="connsiteY21" fmla="*/ 200646 h 523875"/>
              <a:gd name="connsiteX22" fmla="*/ 477114 w 533400"/>
              <a:gd name="connsiteY22" fmla="*/ 186359 h 523875"/>
              <a:gd name="connsiteX23" fmla="*/ 462827 w 533400"/>
              <a:gd name="connsiteY23" fmla="*/ 172071 h 523875"/>
              <a:gd name="connsiteX24" fmla="*/ 372339 w 533400"/>
              <a:gd name="connsiteY24" fmla="*/ 621 h 523875"/>
              <a:gd name="connsiteX25" fmla="*/ 372339 w 533400"/>
              <a:gd name="connsiteY25" fmla="*/ 133971 h 523875"/>
              <a:gd name="connsiteX26" fmla="*/ 162789 w 533400"/>
              <a:gd name="connsiteY26" fmla="*/ 133971 h 523875"/>
              <a:gd name="connsiteX27" fmla="*/ 162789 w 533400"/>
              <a:gd name="connsiteY27" fmla="*/ 621 h 523875"/>
              <a:gd name="connsiteX28" fmla="*/ 372339 w 533400"/>
              <a:gd name="connsiteY28" fmla="*/ 621 h 5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533400" h="523875">
                <a:moveTo>
                  <a:pt x="372339" y="276846"/>
                </a:moveTo>
                <a:lnTo>
                  <a:pt x="372339" y="524496"/>
                </a:lnTo>
                <a:lnTo>
                  <a:pt x="162789" y="524496"/>
                </a:lnTo>
                <a:lnTo>
                  <a:pt x="162789" y="276846"/>
                </a:lnTo>
                <a:lnTo>
                  <a:pt x="372339" y="276846"/>
                </a:lnTo>
                <a:close/>
                <a:moveTo>
                  <a:pt x="143739" y="114921"/>
                </a:moveTo>
                <a:lnTo>
                  <a:pt x="143739" y="153021"/>
                </a:lnTo>
                <a:lnTo>
                  <a:pt x="391389" y="153021"/>
                </a:lnTo>
                <a:lnTo>
                  <a:pt x="391389" y="114921"/>
                </a:lnTo>
                <a:lnTo>
                  <a:pt x="534264" y="114921"/>
                </a:lnTo>
                <a:lnTo>
                  <a:pt x="534264" y="410196"/>
                </a:lnTo>
                <a:lnTo>
                  <a:pt x="391389" y="410196"/>
                </a:lnTo>
                <a:lnTo>
                  <a:pt x="391389" y="257796"/>
                </a:lnTo>
                <a:lnTo>
                  <a:pt x="143739" y="257796"/>
                </a:lnTo>
                <a:lnTo>
                  <a:pt x="143739" y="410196"/>
                </a:lnTo>
                <a:lnTo>
                  <a:pt x="864" y="410196"/>
                </a:lnTo>
                <a:lnTo>
                  <a:pt x="864" y="186359"/>
                </a:lnTo>
                <a:lnTo>
                  <a:pt x="67539" y="114921"/>
                </a:lnTo>
                <a:lnTo>
                  <a:pt x="143739" y="114921"/>
                </a:lnTo>
                <a:close/>
                <a:moveTo>
                  <a:pt x="462827" y="172071"/>
                </a:moveTo>
                <a:cubicBezTo>
                  <a:pt x="454921" y="172071"/>
                  <a:pt x="448539" y="178453"/>
                  <a:pt x="448539" y="186359"/>
                </a:cubicBezTo>
                <a:cubicBezTo>
                  <a:pt x="448539" y="194264"/>
                  <a:pt x="454921" y="200646"/>
                  <a:pt x="462827" y="200646"/>
                </a:cubicBezTo>
                <a:cubicBezTo>
                  <a:pt x="470732" y="200646"/>
                  <a:pt x="477114" y="194264"/>
                  <a:pt x="477114" y="186359"/>
                </a:cubicBezTo>
                <a:cubicBezTo>
                  <a:pt x="477114" y="178453"/>
                  <a:pt x="470732" y="172071"/>
                  <a:pt x="462827" y="172071"/>
                </a:cubicBezTo>
                <a:close/>
                <a:moveTo>
                  <a:pt x="372339" y="621"/>
                </a:moveTo>
                <a:lnTo>
                  <a:pt x="372339" y="133971"/>
                </a:lnTo>
                <a:lnTo>
                  <a:pt x="162789" y="133971"/>
                </a:lnTo>
                <a:lnTo>
                  <a:pt x="162789" y="621"/>
                </a:lnTo>
                <a:lnTo>
                  <a:pt x="372339" y="621"/>
                </a:lnTo>
                <a:close/>
              </a:path>
            </a:pathLst>
          </a:custGeom>
          <a:solidFill>
            <a:srgbClr val="979797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-46113" y="5185"/>
            <a:ext cx="3513942" cy="1241614"/>
            <a:chOff x="-46113" y="5185"/>
            <a:chExt cx="3513942" cy="1241614"/>
          </a:xfrm>
        </p:grpSpPr>
        <p:sp>
          <p:nvSpPr>
            <p:cNvPr id="38" name="iṩļïḓè"/>
            <p:cNvSpPr txBox="1"/>
            <p:nvPr/>
          </p:nvSpPr>
          <p:spPr bwMode="auto">
            <a:xfrm>
              <a:off x="415605" y="409465"/>
              <a:ext cx="2475194" cy="421718"/>
            </a:xfrm>
            <a:prstGeom prst="rect">
              <a:avLst/>
            </a:prstGeom>
            <a:solidFill>
              <a:srgbClr val="E9939A"/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dist"/>
              <a:r>
                <a:rPr lang="zh-CN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包图 </a:t>
              </a:r>
              <a:r>
                <a:rPr lang="en-US" altLang="zh-CN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— </a:t>
              </a:r>
              <a:r>
                <a:rPr lang="zh-CN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包的可见性</a:t>
              </a:r>
            </a:p>
          </p:txBody>
        </p:sp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5013422">
              <a:off x="353462" y="-394390"/>
              <a:ext cx="736994" cy="1536144"/>
            </a:xfrm>
            <a:prstGeom prst="rect">
              <a:avLst/>
            </a:prstGeom>
          </p:spPr>
        </p:pic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16046210">
              <a:off x="2410926" y="189895"/>
              <a:ext cx="685336" cy="1428471"/>
            </a:xfrm>
            <a:prstGeom prst="rect">
              <a:avLst/>
            </a:prstGeom>
          </p:spPr>
        </p:pic>
      </p:grpSp>
      <p:sp>
        <p:nvSpPr>
          <p:cNvPr id="45" name="iṩļïḓè"/>
          <p:cNvSpPr txBox="1"/>
          <p:nvPr/>
        </p:nvSpPr>
        <p:spPr bwMode="auto">
          <a:xfrm>
            <a:off x="1416698" y="1335195"/>
            <a:ext cx="1456236" cy="481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dist"/>
            <a:r>
              <a:rPr lang="zh-CN" altLang="en-US" sz="2000" b="1" dirty="0">
                <a:solidFill>
                  <a:srgbClr val="E9939A"/>
                </a:solidFill>
              </a:rPr>
              <a:t>图形表示：</a:t>
            </a:r>
          </a:p>
        </p:txBody>
      </p:sp>
      <p:sp>
        <p:nvSpPr>
          <p:cNvPr id="46" name="iṩļïḓè"/>
          <p:cNvSpPr txBox="1"/>
          <p:nvPr/>
        </p:nvSpPr>
        <p:spPr bwMode="auto">
          <a:xfrm>
            <a:off x="4931016" y="2024343"/>
            <a:ext cx="1456236" cy="481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</a:rPr>
              <a:t>公有</a:t>
            </a:r>
          </a:p>
        </p:txBody>
      </p:sp>
      <p:sp>
        <p:nvSpPr>
          <p:cNvPr id="47" name="iṩļïḓè"/>
          <p:cNvSpPr txBox="1"/>
          <p:nvPr/>
        </p:nvSpPr>
        <p:spPr bwMode="auto">
          <a:xfrm>
            <a:off x="7255744" y="2019476"/>
            <a:ext cx="1456236" cy="481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</a:rPr>
              <a:t>保护</a:t>
            </a:r>
          </a:p>
        </p:txBody>
      </p:sp>
      <p:sp>
        <p:nvSpPr>
          <p:cNvPr id="48" name="iṩļïḓè"/>
          <p:cNvSpPr txBox="1"/>
          <p:nvPr/>
        </p:nvSpPr>
        <p:spPr bwMode="auto">
          <a:xfrm>
            <a:off x="9623178" y="2029532"/>
            <a:ext cx="1456236" cy="481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</a:rPr>
              <a:t>私有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4700113" y="2746610"/>
            <a:ext cx="1777022" cy="893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对所有引入该包的元素可见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7009298" y="2741373"/>
            <a:ext cx="1777022" cy="893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对继承该包的包中元素可见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9220809" y="2748085"/>
            <a:ext cx="2147757" cy="879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只能被同一个包内的元素访问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6CE4439-1E99-0ED9-1366-80C53CAAE1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7120" y="2489466"/>
            <a:ext cx="3626036" cy="635033"/>
          </a:xfrm>
          <a:prstGeom prst="rect">
            <a:avLst/>
          </a:prstGeom>
        </p:spPr>
      </p:pic>
      <p:sp>
        <p:nvSpPr>
          <p:cNvPr id="5" name="ïṣḷïḑê">
            <a:extLst>
              <a:ext uri="{FF2B5EF4-FFF2-40B4-BE49-F238E27FC236}">
                <a16:creationId xmlns:a16="http://schemas.microsoft.com/office/drawing/2014/main" id="{B68A28CA-5292-4412-5B8A-420E9BCA3875}"/>
              </a:ext>
            </a:extLst>
          </p:cNvPr>
          <p:cNvSpPr/>
          <p:nvPr/>
        </p:nvSpPr>
        <p:spPr>
          <a:xfrm flipH="1">
            <a:off x="297120" y="2563782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6" name="îš1íḓê">
            <a:extLst>
              <a:ext uri="{FF2B5EF4-FFF2-40B4-BE49-F238E27FC236}">
                <a16:creationId xmlns:a16="http://schemas.microsoft.com/office/drawing/2014/main" id="{4A7C40D7-EF1D-EF6E-5E55-C9711772BAD5}"/>
              </a:ext>
            </a:extLst>
          </p:cNvPr>
          <p:cNvSpPr/>
          <p:nvPr/>
        </p:nvSpPr>
        <p:spPr>
          <a:xfrm flipH="1">
            <a:off x="297120" y="2879314"/>
            <a:ext cx="180000" cy="180000"/>
          </a:xfrm>
          <a:prstGeom prst="roundRect">
            <a:avLst>
              <a:gd name="adj" fmla="val 0"/>
            </a:avLst>
          </a:prstGeom>
          <a:solidFill>
            <a:srgbClr val="E9939A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4400"/>
            <a:endParaRPr lang="zh-CN" altLang="en-US" sz="2000" b="1" spc="-150">
              <a:solidFill>
                <a:schemeClr val="bg1"/>
              </a:solidFill>
            </a:endParaRPr>
          </a:p>
        </p:txBody>
      </p:sp>
      <p:sp>
        <p:nvSpPr>
          <p:cNvPr id="7" name="iṩļïḓè">
            <a:extLst>
              <a:ext uri="{FF2B5EF4-FFF2-40B4-BE49-F238E27FC236}">
                <a16:creationId xmlns:a16="http://schemas.microsoft.com/office/drawing/2014/main" id="{0ABB3CEB-ACEB-41D5-9353-39E51BC44692}"/>
              </a:ext>
            </a:extLst>
          </p:cNvPr>
          <p:cNvSpPr txBox="1"/>
          <p:nvPr/>
        </p:nvSpPr>
        <p:spPr bwMode="auto">
          <a:xfrm>
            <a:off x="6266457" y="1129646"/>
            <a:ext cx="3520223" cy="5138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2">
                    <a:lumMod val="75000"/>
                  </a:schemeClr>
                </a:solidFill>
              </a:rPr>
              <a:t>包内元素的可见性：</a:t>
            </a:r>
          </a:p>
        </p:txBody>
      </p:sp>
      <p:sp>
        <p:nvSpPr>
          <p:cNvPr id="12" name="iṩļïḓè">
            <a:extLst>
              <a:ext uri="{FF2B5EF4-FFF2-40B4-BE49-F238E27FC236}">
                <a16:creationId xmlns:a16="http://schemas.microsoft.com/office/drawing/2014/main" id="{E715E596-3610-E098-82A9-D6113B487817}"/>
              </a:ext>
            </a:extLst>
          </p:cNvPr>
          <p:cNvSpPr txBox="1"/>
          <p:nvPr/>
        </p:nvSpPr>
        <p:spPr bwMode="auto">
          <a:xfrm>
            <a:off x="5707451" y="2158159"/>
            <a:ext cx="1456236" cy="481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+</a:t>
            </a:r>
            <a:endParaRPr lang="zh-CN" alt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iṩļïḓè">
            <a:extLst>
              <a:ext uri="{FF2B5EF4-FFF2-40B4-BE49-F238E27FC236}">
                <a16:creationId xmlns:a16="http://schemas.microsoft.com/office/drawing/2014/main" id="{0A71563E-C527-E207-5E23-03E5F67C2FEE}"/>
              </a:ext>
            </a:extLst>
          </p:cNvPr>
          <p:cNvSpPr txBox="1"/>
          <p:nvPr/>
        </p:nvSpPr>
        <p:spPr bwMode="auto">
          <a:xfrm>
            <a:off x="10351296" y="2119592"/>
            <a:ext cx="1456236" cy="481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-</a:t>
            </a:r>
            <a:endParaRPr lang="zh-CN" alt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iṩļïḓè">
            <a:extLst>
              <a:ext uri="{FF2B5EF4-FFF2-40B4-BE49-F238E27FC236}">
                <a16:creationId xmlns:a16="http://schemas.microsoft.com/office/drawing/2014/main" id="{D70BDE11-B27C-134C-282D-8078750F26F1}"/>
              </a:ext>
            </a:extLst>
          </p:cNvPr>
          <p:cNvSpPr txBox="1"/>
          <p:nvPr/>
        </p:nvSpPr>
        <p:spPr bwMode="auto">
          <a:xfrm>
            <a:off x="8021849" y="2158639"/>
            <a:ext cx="1456236" cy="4814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#</a:t>
            </a:r>
            <a:endParaRPr lang="zh-CN" altLang="en-US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1B6F4F77-E141-DF41-BAAE-C7810C75F5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020" y="3685557"/>
            <a:ext cx="3485380" cy="268953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8" grpId="0"/>
      <p:bldP spid="50" grpId="0"/>
      <p:bldP spid="51" grpId="0"/>
      <p:bldP spid="52" grpId="0"/>
      <p:bldP spid="7" grpId="0"/>
      <p:bldP spid="12" grpId="0"/>
      <p:bldP spid="13" grpId="0"/>
      <p:bldP spid="2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ïŝḻîḋé"/>
          <p:cNvSpPr/>
          <p:nvPr/>
        </p:nvSpPr>
        <p:spPr>
          <a:xfrm>
            <a:off x="557648" y="4898664"/>
            <a:ext cx="3390900" cy="1826711"/>
          </a:xfrm>
          <a:prstGeom prst="roundRect">
            <a:avLst>
              <a:gd name="adj" fmla="val 2333"/>
            </a:avLst>
          </a:pr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íSḻidé"/>
          <p:cNvSpPr/>
          <p:nvPr/>
        </p:nvSpPr>
        <p:spPr bwMode="auto">
          <a:xfrm>
            <a:off x="1338774" y="5033993"/>
            <a:ext cx="352836" cy="352836"/>
          </a:xfrm>
          <a:custGeom>
            <a:avLst/>
            <a:gdLst>
              <a:gd name="connsiteX0" fmla="*/ 343764 w 533400"/>
              <a:gd name="connsiteY0" fmla="*/ 621 h 533400"/>
              <a:gd name="connsiteX1" fmla="*/ 381864 w 533400"/>
              <a:gd name="connsiteY1" fmla="*/ 38721 h 533400"/>
              <a:gd name="connsiteX2" fmla="*/ 381864 w 533400"/>
              <a:gd name="connsiteY2" fmla="*/ 38721 h 533400"/>
              <a:gd name="connsiteX3" fmla="*/ 381864 w 533400"/>
              <a:gd name="connsiteY3" fmla="*/ 114921 h 533400"/>
              <a:gd name="connsiteX4" fmla="*/ 496164 w 533400"/>
              <a:gd name="connsiteY4" fmla="*/ 114921 h 533400"/>
              <a:gd name="connsiteX5" fmla="*/ 534264 w 533400"/>
              <a:gd name="connsiteY5" fmla="*/ 151116 h 533400"/>
              <a:gd name="connsiteX6" fmla="*/ 534264 w 533400"/>
              <a:gd name="connsiteY6" fmla="*/ 153021 h 533400"/>
              <a:gd name="connsiteX7" fmla="*/ 534264 w 533400"/>
              <a:gd name="connsiteY7" fmla="*/ 381621 h 533400"/>
              <a:gd name="connsiteX8" fmla="*/ 498069 w 533400"/>
              <a:gd name="connsiteY8" fmla="*/ 419721 h 533400"/>
              <a:gd name="connsiteX9" fmla="*/ 496164 w 533400"/>
              <a:gd name="connsiteY9" fmla="*/ 419721 h 533400"/>
              <a:gd name="connsiteX10" fmla="*/ 381864 w 533400"/>
              <a:gd name="connsiteY10" fmla="*/ 419721 h 533400"/>
              <a:gd name="connsiteX11" fmla="*/ 381864 w 533400"/>
              <a:gd name="connsiteY11" fmla="*/ 495921 h 533400"/>
              <a:gd name="connsiteX12" fmla="*/ 345669 w 533400"/>
              <a:gd name="connsiteY12" fmla="*/ 534021 h 533400"/>
              <a:gd name="connsiteX13" fmla="*/ 343764 w 533400"/>
              <a:gd name="connsiteY13" fmla="*/ 534021 h 533400"/>
              <a:gd name="connsiteX14" fmla="*/ 191364 w 533400"/>
              <a:gd name="connsiteY14" fmla="*/ 534021 h 533400"/>
              <a:gd name="connsiteX15" fmla="*/ 153264 w 533400"/>
              <a:gd name="connsiteY15" fmla="*/ 495921 h 533400"/>
              <a:gd name="connsiteX16" fmla="*/ 153264 w 533400"/>
              <a:gd name="connsiteY16" fmla="*/ 495921 h 533400"/>
              <a:gd name="connsiteX17" fmla="*/ 153264 w 533400"/>
              <a:gd name="connsiteY17" fmla="*/ 419721 h 533400"/>
              <a:gd name="connsiteX18" fmla="*/ 38964 w 533400"/>
              <a:gd name="connsiteY18" fmla="*/ 419721 h 533400"/>
              <a:gd name="connsiteX19" fmla="*/ 864 w 533400"/>
              <a:gd name="connsiteY19" fmla="*/ 383526 h 533400"/>
              <a:gd name="connsiteX20" fmla="*/ 864 w 533400"/>
              <a:gd name="connsiteY20" fmla="*/ 381621 h 533400"/>
              <a:gd name="connsiteX21" fmla="*/ 864 w 533400"/>
              <a:gd name="connsiteY21" fmla="*/ 197789 h 533400"/>
              <a:gd name="connsiteX22" fmla="*/ 9436 w 533400"/>
              <a:gd name="connsiteY22" fmla="*/ 173976 h 533400"/>
              <a:gd name="connsiteX23" fmla="*/ 11342 w 533400"/>
              <a:gd name="connsiteY23" fmla="*/ 172071 h 533400"/>
              <a:gd name="connsiteX24" fmla="*/ 52299 w 533400"/>
              <a:gd name="connsiteY24" fmla="*/ 127303 h 533400"/>
              <a:gd name="connsiteX25" fmla="*/ 78017 w 533400"/>
              <a:gd name="connsiteY25" fmla="*/ 114921 h 533400"/>
              <a:gd name="connsiteX26" fmla="*/ 79921 w 533400"/>
              <a:gd name="connsiteY26" fmla="*/ 114921 h 533400"/>
              <a:gd name="connsiteX27" fmla="*/ 153264 w 533400"/>
              <a:gd name="connsiteY27" fmla="*/ 114921 h 533400"/>
              <a:gd name="connsiteX28" fmla="*/ 153264 w 533400"/>
              <a:gd name="connsiteY28" fmla="*/ 38721 h 533400"/>
              <a:gd name="connsiteX29" fmla="*/ 189459 w 533400"/>
              <a:gd name="connsiteY29" fmla="*/ 621 h 533400"/>
              <a:gd name="connsiteX30" fmla="*/ 191364 w 533400"/>
              <a:gd name="connsiteY30" fmla="*/ 621 h 533400"/>
              <a:gd name="connsiteX31" fmla="*/ 343764 w 533400"/>
              <a:gd name="connsiteY31" fmla="*/ 621 h 533400"/>
              <a:gd name="connsiteX32" fmla="*/ 343764 w 533400"/>
              <a:gd name="connsiteY32" fmla="*/ 286371 h 533400"/>
              <a:gd name="connsiteX33" fmla="*/ 191364 w 533400"/>
              <a:gd name="connsiteY33" fmla="*/ 286371 h 533400"/>
              <a:gd name="connsiteX34" fmla="*/ 172314 w 533400"/>
              <a:gd name="connsiteY34" fmla="*/ 305421 h 533400"/>
              <a:gd name="connsiteX35" fmla="*/ 172314 w 533400"/>
              <a:gd name="connsiteY35" fmla="*/ 305421 h 533400"/>
              <a:gd name="connsiteX36" fmla="*/ 172314 w 533400"/>
              <a:gd name="connsiteY36" fmla="*/ 495921 h 533400"/>
              <a:gd name="connsiteX37" fmla="*/ 191364 w 533400"/>
              <a:gd name="connsiteY37" fmla="*/ 514971 h 533400"/>
              <a:gd name="connsiteX38" fmla="*/ 191364 w 533400"/>
              <a:gd name="connsiteY38" fmla="*/ 514971 h 533400"/>
              <a:gd name="connsiteX39" fmla="*/ 343764 w 533400"/>
              <a:gd name="connsiteY39" fmla="*/ 514971 h 533400"/>
              <a:gd name="connsiteX40" fmla="*/ 362814 w 533400"/>
              <a:gd name="connsiteY40" fmla="*/ 495921 h 533400"/>
              <a:gd name="connsiteX41" fmla="*/ 362814 w 533400"/>
              <a:gd name="connsiteY41" fmla="*/ 495921 h 533400"/>
              <a:gd name="connsiteX42" fmla="*/ 362814 w 533400"/>
              <a:gd name="connsiteY42" fmla="*/ 305421 h 533400"/>
              <a:gd name="connsiteX43" fmla="*/ 343764 w 533400"/>
              <a:gd name="connsiteY43" fmla="*/ 286371 h 533400"/>
              <a:gd name="connsiteX44" fmla="*/ 343764 w 533400"/>
              <a:gd name="connsiteY44" fmla="*/ 286371 h 533400"/>
              <a:gd name="connsiteX45" fmla="*/ 496164 w 533400"/>
              <a:gd name="connsiteY45" fmla="*/ 133971 h 533400"/>
              <a:gd name="connsiteX46" fmla="*/ 79921 w 533400"/>
              <a:gd name="connsiteY46" fmla="*/ 133971 h 533400"/>
              <a:gd name="connsiteX47" fmla="*/ 67539 w 533400"/>
              <a:gd name="connsiteY47" fmla="*/ 138734 h 533400"/>
              <a:gd name="connsiteX48" fmla="*/ 66586 w 533400"/>
              <a:gd name="connsiteY48" fmla="*/ 139686 h 533400"/>
              <a:gd name="connsiteX49" fmla="*/ 25629 w 533400"/>
              <a:gd name="connsiteY49" fmla="*/ 184453 h 533400"/>
              <a:gd name="connsiteX50" fmla="*/ 19914 w 533400"/>
              <a:gd name="connsiteY50" fmla="*/ 195884 h 533400"/>
              <a:gd name="connsiteX51" fmla="*/ 19914 w 533400"/>
              <a:gd name="connsiteY51" fmla="*/ 197789 h 533400"/>
              <a:gd name="connsiteX52" fmla="*/ 19914 w 533400"/>
              <a:gd name="connsiteY52" fmla="*/ 381621 h 533400"/>
              <a:gd name="connsiteX53" fmla="*/ 38011 w 533400"/>
              <a:gd name="connsiteY53" fmla="*/ 400671 h 533400"/>
              <a:gd name="connsiteX54" fmla="*/ 38964 w 533400"/>
              <a:gd name="connsiteY54" fmla="*/ 400671 h 533400"/>
              <a:gd name="connsiteX55" fmla="*/ 153264 w 533400"/>
              <a:gd name="connsiteY55" fmla="*/ 400671 h 533400"/>
              <a:gd name="connsiteX56" fmla="*/ 153264 w 533400"/>
              <a:gd name="connsiteY56" fmla="*/ 305421 h 533400"/>
              <a:gd name="connsiteX57" fmla="*/ 189459 w 533400"/>
              <a:gd name="connsiteY57" fmla="*/ 267321 h 533400"/>
              <a:gd name="connsiteX58" fmla="*/ 191364 w 533400"/>
              <a:gd name="connsiteY58" fmla="*/ 267321 h 533400"/>
              <a:gd name="connsiteX59" fmla="*/ 343764 w 533400"/>
              <a:gd name="connsiteY59" fmla="*/ 267321 h 533400"/>
              <a:gd name="connsiteX60" fmla="*/ 381864 w 533400"/>
              <a:gd name="connsiteY60" fmla="*/ 305421 h 533400"/>
              <a:gd name="connsiteX61" fmla="*/ 381864 w 533400"/>
              <a:gd name="connsiteY61" fmla="*/ 305421 h 533400"/>
              <a:gd name="connsiteX62" fmla="*/ 381864 w 533400"/>
              <a:gd name="connsiteY62" fmla="*/ 400671 h 533400"/>
              <a:gd name="connsiteX63" fmla="*/ 496164 w 533400"/>
              <a:gd name="connsiteY63" fmla="*/ 400671 h 533400"/>
              <a:gd name="connsiteX64" fmla="*/ 515214 w 533400"/>
              <a:gd name="connsiteY64" fmla="*/ 382573 h 533400"/>
              <a:gd name="connsiteX65" fmla="*/ 515214 w 533400"/>
              <a:gd name="connsiteY65" fmla="*/ 381621 h 533400"/>
              <a:gd name="connsiteX66" fmla="*/ 515214 w 533400"/>
              <a:gd name="connsiteY66" fmla="*/ 153021 h 533400"/>
              <a:gd name="connsiteX67" fmla="*/ 497117 w 533400"/>
              <a:gd name="connsiteY67" fmla="*/ 133971 h 533400"/>
              <a:gd name="connsiteX68" fmla="*/ 496164 w 533400"/>
              <a:gd name="connsiteY68" fmla="*/ 133971 h 533400"/>
              <a:gd name="connsiteX69" fmla="*/ 462827 w 533400"/>
              <a:gd name="connsiteY69" fmla="*/ 172071 h 533400"/>
              <a:gd name="connsiteX70" fmla="*/ 477114 w 533400"/>
              <a:gd name="connsiteY70" fmla="*/ 186359 h 533400"/>
              <a:gd name="connsiteX71" fmla="*/ 462827 w 533400"/>
              <a:gd name="connsiteY71" fmla="*/ 200646 h 533400"/>
              <a:gd name="connsiteX72" fmla="*/ 448539 w 533400"/>
              <a:gd name="connsiteY72" fmla="*/ 186359 h 533400"/>
              <a:gd name="connsiteX73" fmla="*/ 462827 w 533400"/>
              <a:gd name="connsiteY73" fmla="*/ 172071 h 533400"/>
              <a:gd name="connsiteX74" fmla="*/ 343764 w 533400"/>
              <a:gd name="connsiteY74" fmla="*/ 19671 h 533400"/>
              <a:gd name="connsiteX75" fmla="*/ 191364 w 533400"/>
              <a:gd name="connsiteY75" fmla="*/ 19671 h 533400"/>
              <a:gd name="connsiteX76" fmla="*/ 172314 w 533400"/>
              <a:gd name="connsiteY76" fmla="*/ 38721 h 533400"/>
              <a:gd name="connsiteX77" fmla="*/ 172314 w 533400"/>
              <a:gd name="connsiteY77" fmla="*/ 38721 h 533400"/>
              <a:gd name="connsiteX78" fmla="*/ 172314 w 533400"/>
              <a:gd name="connsiteY78" fmla="*/ 114921 h 533400"/>
              <a:gd name="connsiteX79" fmla="*/ 362814 w 533400"/>
              <a:gd name="connsiteY79" fmla="*/ 114921 h 533400"/>
              <a:gd name="connsiteX80" fmla="*/ 362814 w 533400"/>
              <a:gd name="connsiteY80" fmla="*/ 38721 h 533400"/>
              <a:gd name="connsiteX81" fmla="*/ 344717 w 533400"/>
              <a:gd name="connsiteY81" fmla="*/ 19671 h 533400"/>
              <a:gd name="connsiteX82" fmla="*/ 344717 w 533400"/>
              <a:gd name="connsiteY82" fmla="*/ 19671 h 533400"/>
              <a:gd name="connsiteX83" fmla="*/ 343764 w 533400"/>
              <a:gd name="connsiteY83" fmla="*/ 19671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33400" h="533400">
                <a:moveTo>
                  <a:pt x="343764" y="621"/>
                </a:moveTo>
                <a:cubicBezTo>
                  <a:pt x="364719" y="621"/>
                  <a:pt x="381864" y="17766"/>
                  <a:pt x="381864" y="38721"/>
                </a:cubicBezTo>
                <a:lnTo>
                  <a:pt x="381864" y="38721"/>
                </a:lnTo>
                <a:lnTo>
                  <a:pt x="381864" y="114921"/>
                </a:lnTo>
                <a:lnTo>
                  <a:pt x="496164" y="114921"/>
                </a:lnTo>
                <a:cubicBezTo>
                  <a:pt x="516167" y="114921"/>
                  <a:pt x="533311" y="131114"/>
                  <a:pt x="534264" y="151116"/>
                </a:cubicBezTo>
                <a:lnTo>
                  <a:pt x="534264" y="153021"/>
                </a:lnTo>
                <a:lnTo>
                  <a:pt x="534264" y="381621"/>
                </a:lnTo>
                <a:cubicBezTo>
                  <a:pt x="534264" y="401623"/>
                  <a:pt x="518071" y="418769"/>
                  <a:pt x="498069" y="419721"/>
                </a:cubicBezTo>
                <a:lnTo>
                  <a:pt x="496164" y="419721"/>
                </a:lnTo>
                <a:lnTo>
                  <a:pt x="381864" y="419721"/>
                </a:lnTo>
                <a:lnTo>
                  <a:pt x="381864" y="495921"/>
                </a:lnTo>
                <a:cubicBezTo>
                  <a:pt x="381864" y="515923"/>
                  <a:pt x="365671" y="533069"/>
                  <a:pt x="345669" y="534021"/>
                </a:cubicBezTo>
                <a:lnTo>
                  <a:pt x="343764" y="534021"/>
                </a:lnTo>
                <a:lnTo>
                  <a:pt x="191364" y="534021"/>
                </a:lnTo>
                <a:cubicBezTo>
                  <a:pt x="170409" y="534021"/>
                  <a:pt x="153264" y="516876"/>
                  <a:pt x="153264" y="495921"/>
                </a:cubicBezTo>
                <a:lnTo>
                  <a:pt x="153264" y="495921"/>
                </a:lnTo>
                <a:lnTo>
                  <a:pt x="153264" y="419721"/>
                </a:lnTo>
                <a:lnTo>
                  <a:pt x="38964" y="419721"/>
                </a:lnTo>
                <a:cubicBezTo>
                  <a:pt x="18961" y="419721"/>
                  <a:pt x="1817" y="403528"/>
                  <a:pt x="864" y="383526"/>
                </a:cubicBezTo>
                <a:lnTo>
                  <a:pt x="864" y="381621"/>
                </a:lnTo>
                <a:lnTo>
                  <a:pt x="864" y="197789"/>
                </a:lnTo>
                <a:cubicBezTo>
                  <a:pt x="864" y="189216"/>
                  <a:pt x="3721" y="180644"/>
                  <a:pt x="9436" y="173976"/>
                </a:cubicBezTo>
                <a:lnTo>
                  <a:pt x="11342" y="172071"/>
                </a:lnTo>
                <a:lnTo>
                  <a:pt x="52299" y="127303"/>
                </a:lnTo>
                <a:cubicBezTo>
                  <a:pt x="58967" y="119684"/>
                  <a:pt x="68492" y="115873"/>
                  <a:pt x="78017" y="114921"/>
                </a:cubicBezTo>
                <a:lnTo>
                  <a:pt x="79921" y="114921"/>
                </a:lnTo>
                <a:lnTo>
                  <a:pt x="153264" y="114921"/>
                </a:lnTo>
                <a:lnTo>
                  <a:pt x="153264" y="38721"/>
                </a:lnTo>
                <a:cubicBezTo>
                  <a:pt x="153264" y="18719"/>
                  <a:pt x="169457" y="1573"/>
                  <a:pt x="189459" y="621"/>
                </a:cubicBezTo>
                <a:lnTo>
                  <a:pt x="191364" y="621"/>
                </a:lnTo>
                <a:lnTo>
                  <a:pt x="343764" y="621"/>
                </a:lnTo>
                <a:close/>
                <a:moveTo>
                  <a:pt x="343764" y="286371"/>
                </a:moveTo>
                <a:lnTo>
                  <a:pt x="191364" y="286371"/>
                </a:lnTo>
                <a:cubicBezTo>
                  <a:pt x="180886" y="286371"/>
                  <a:pt x="172314" y="294944"/>
                  <a:pt x="172314" y="305421"/>
                </a:cubicBezTo>
                <a:lnTo>
                  <a:pt x="172314" y="305421"/>
                </a:lnTo>
                <a:lnTo>
                  <a:pt x="172314" y="495921"/>
                </a:lnTo>
                <a:cubicBezTo>
                  <a:pt x="172314" y="506398"/>
                  <a:pt x="180886" y="514971"/>
                  <a:pt x="191364" y="514971"/>
                </a:cubicBezTo>
                <a:lnTo>
                  <a:pt x="191364" y="514971"/>
                </a:lnTo>
                <a:lnTo>
                  <a:pt x="343764" y="514971"/>
                </a:lnTo>
                <a:cubicBezTo>
                  <a:pt x="354242" y="514971"/>
                  <a:pt x="362814" y="506398"/>
                  <a:pt x="362814" y="495921"/>
                </a:cubicBezTo>
                <a:lnTo>
                  <a:pt x="362814" y="495921"/>
                </a:lnTo>
                <a:lnTo>
                  <a:pt x="362814" y="305421"/>
                </a:lnTo>
                <a:cubicBezTo>
                  <a:pt x="362814" y="294944"/>
                  <a:pt x="354242" y="286371"/>
                  <a:pt x="343764" y="286371"/>
                </a:cubicBezTo>
                <a:lnTo>
                  <a:pt x="343764" y="286371"/>
                </a:lnTo>
                <a:close/>
                <a:moveTo>
                  <a:pt x="496164" y="133971"/>
                </a:moveTo>
                <a:lnTo>
                  <a:pt x="79921" y="133971"/>
                </a:lnTo>
                <a:cubicBezTo>
                  <a:pt x="75159" y="133971"/>
                  <a:pt x="70396" y="135876"/>
                  <a:pt x="67539" y="138734"/>
                </a:cubicBezTo>
                <a:lnTo>
                  <a:pt x="66586" y="139686"/>
                </a:lnTo>
                <a:lnTo>
                  <a:pt x="25629" y="184453"/>
                </a:lnTo>
                <a:cubicBezTo>
                  <a:pt x="21819" y="187311"/>
                  <a:pt x="19914" y="192073"/>
                  <a:pt x="19914" y="195884"/>
                </a:cubicBezTo>
                <a:lnTo>
                  <a:pt x="19914" y="197789"/>
                </a:lnTo>
                <a:lnTo>
                  <a:pt x="19914" y="381621"/>
                </a:lnTo>
                <a:cubicBezTo>
                  <a:pt x="19914" y="392098"/>
                  <a:pt x="27534" y="399719"/>
                  <a:pt x="38011" y="400671"/>
                </a:cubicBezTo>
                <a:lnTo>
                  <a:pt x="38964" y="400671"/>
                </a:lnTo>
                <a:lnTo>
                  <a:pt x="153264" y="400671"/>
                </a:lnTo>
                <a:lnTo>
                  <a:pt x="153264" y="305421"/>
                </a:lnTo>
                <a:cubicBezTo>
                  <a:pt x="153264" y="285419"/>
                  <a:pt x="169457" y="268273"/>
                  <a:pt x="189459" y="267321"/>
                </a:cubicBezTo>
                <a:lnTo>
                  <a:pt x="191364" y="267321"/>
                </a:lnTo>
                <a:lnTo>
                  <a:pt x="343764" y="267321"/>
                </a:lnTo>
                <a:cubicBezTo>
                  <a:pt x="364719" y="267321"/>
                  <a:pt x="381864" y="284466"/>
                  <a:pt x="381864" y="305421"/>
                </a:cubicBezTo>
                <a:lnTo>
                  <a:pt x="381864" y="305421"/>
                </a:lnTo>
                <a:lnTo>
                  <a:pt x="381864" y="400671"/>
                </a:lnTo>
                <a:lnTo>
                  <a:pt x="496164" y="400671"/>
                </a:lnTo>
                <a:cubicBezTo>
                  <a:pt x="506642" y="400671"/>
                  <a:pt x="514261" y="393051"/>
                  <a:pt x="515214" y="382573"/>
                </a:cubicBezTo>
                <a:lnTo>
                  <a:pt x="515214" y="381621"/>
                </a:lnTo>
                <a:lnTo>
                  <a:pt x="515214" y="153021"/>
                </a:lnTo>
                <a:cubicBezTo>
                  <a:pt x="515214" y="142544"/>
                  <a:pt x="507594" y="134923"/>
                  <a:pt x="497117" y="133971"/>
                </a:cubicBezTo>
                <a:lnTo>
                  <a:pt x="496164" y="133971"/>
                </a:lnTo>
                <a:close/>
                <a:moveTo>
                  <a:pt x="462827" y="172071"/>
                </a:moveTo>
                <a:cubicBezTo>
                  <a:pt x="470446" y="172071"/>
                  <a:pt x="477114" y="178739"/>
                  <a:pt x="477114" y="186359"/>
                </a:cubicBezTo>
                <a:cubicBezTo>
                  <a:pt x="477114" y="193978"/>
                  <a:pt x="470446" y="200646"/>
                  <a:pt x="462827" y="200646"/>
                </a:cubicBezTo>
                <a:cubicBezTo>
                  <a:pt x="455207" y="200646"/>
                  <a:pt x="448539" y="193978"/>
                  <a:pt x="448539" y="186359"/>
                </a:cubicBezTo>
                <a:cubicBezTo>
                  <a:pt x="448539" y="178739"/>
                  <a:pt x="455207" y="172071"/>
                  <a:pt x="462827" y="172071"/>
                </a:cubicBezTo>
                <a:close/>
                <a:moveTo>
                  <a:pt x="343764" y="19671"/>
                </a:moveTo>
                <a:lnTo>
                  <a:pt x="191364" y="19671"/>
                </a:lnTo>
                <a:cubicBezTo>
                  <a:pt x="180886" y="19671"/>
                  <a:pt x="172314" y="28244"/>
                  <a:pt x="172314" y="38721"/>
                </a:cubicBezTo>
                <a:lnTo>
                  <a:pt x="172314" y="38721"/>
                </a:lnTo>
                <a:lnTo>
                  <a:pt x="172314" y="114921"/>
                </a:lnTo>
                <a:lnTo>
                  <a:pt x="362814" y="114921"/>
                </a:lnTo>
                <a:lnTo>
                  <a:pt x="362814" y="38721"/>
                </a:lnTo>
                <a:cubicBezTo>
                  <a:pt x="362814" y="28244"/>
                  <a:pt x="355194" y="20623"/>
                  <a:pt x="344717" y="19671"/>
                </a:cubicBezTo>
                <a:lnTo>
                  <a:pt x="344717" y="19671"/>
                </a:lnTo>
                <a:lnTo>
                  <a:pt x="343764" y="19671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0" y="-59552"/>
            <a:ext cx="3574761" cy="1427682"/>
            <a:chOff x="-46113" y="5185"/>
            <a:chExt cx="3574761" cy="1427682"/>
          </a:xfrm>
        </p:grpSpPr>
        <p:sp>
          <p:nvSpPr>
            <p:cNvPr id="10" name="iṩļïḓè"/>
            <p:cNvSpPr txBox="1"/>
            <p:nvPr/>
          </p:nvSpPr>
          <p:spPr bwMode="auto">
            <a:xfrm>
              <a:off x="415605" y="409464"/>
              <a:ext cx="2629436" cy="636515"/>
            </a:xfrm>
            <a:prstGeom prst="rect">
              <a:avLst/>
            </a:prstGeom>
            <a:solidFill>
              <a:srgbClr val="E9939A"/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rmAutofit fontScale="925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dist"/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包图 </a:t>
              </a:r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— 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包间关系</a:t>
              </a: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5013422">
              <a:off x="353462" y="-394390"/>
              <a:ext cx="736994" cy="1536144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16046210">
              <a:off x="2471745" y="375963"/>
              <a:ext cx="685336" cy="1428471"/>
            </a:xfrm>
            <a:prstGeom prst="rect">
              <a:avLst/>
            </a:prstGeom>
          </p:spPr>
        </p:pic>
      </p:grpSp>
      <p:sp>
        <p:nvSpPr>
          <p:cNvPr id="20" name="文本框 19"/>
          <p:cNvSpPr txBox="1"/>
          <p:nvPr/>
        </p:nvSpPr>
        <p:spPr>
          <a:xfrm>
            <a:off x="734733" y="5461843"/>
            <a:ext cx="3213815" cy="1002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表示：带空心三角箭头的实线</a:t>
            </a:r>
          </a:p>
          <a:p>
            <a:pPr algn="ctr">
              <a:lnSpc>
                <a:spcPct val="20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含义：特殊包继承一般包的特性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8794906-4B69-7FDF-3709-1E76EAF6A9EA}"/>
              </a:ext>
            </a:extLst>
          </p:cNvPr>
          <p:cNvSpPr txBox="1"/>
          <p:nvPr/>
        </p:nvSpPr>
        <p:spPr>
          <a:xfrm>
            <a:off x="989631" y="4898664"/>
            <a:ext cx="2958917" cy="588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泛化关系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îṧliďé"/>
          <p:cNvSpPr/>
          <p:nvPr/>
        </p:nvSpPr>
        <p:spPr bwMode="auto">
          <a:xfrm>
            <a:off x="1404199" y="2970353"/>
            <a:ext cx="322853" cy="352836"/>
          </a:xfrm>
          <a:custGeom>
            <a:avLst/>
            <a:gdLst>
              <a:gd name="connsiteX0" fmla="*/ 368431 w 488073"/>
              <a:gd name="connsiteY0" fmla="*/ 621 h 533400"/>
              <a:gd name="connsiteX1" fmla="*/ 368431 w 488073"/>
              <a:gd name="connsiteY1" fmla="*/ 19671 h 533400"/>
              <a:gd name="connsiteX2" fmla="*/ 339856 w 488073"/>
              <a:gd name="connsiteY2" fmla="*/ 19671 h 533400"/>
              <a:gd name="connsiteX3" fmla="*/ 339856 w 488073"/>
              <a:gd name="connsiteY3" fmla="*/ 135876 h 533400"/>
              <a:gd name="connsiteX4" fmla="*/ 341761 w 488073"/>
              <a:gd name="connsiteY4" fmla="*/ 145401 h 533400"/>
              <a:gd name="connsiteX5" fmla="*/ 342713 w 488073"/>
              <a:gd name="connsiteY5" fmla="*/ 147306 h 533400"/>
              <a:gd name="connsiteX6" fmla="*/ 483683 w 488073"/>
              <a:gd name="connsiteY6" fmla="*/ 464489 h 533400"/>
              <a:gd name="connsiteX7" fmla="*/ 484636 w 488073"/>
              <a:gd name="connsiteY7" fmla="*/ 509256 h 533400"/>
              <a:gd name="connsiteX8" fmla="*/ 448441 w 488073"/>
              <a:gd name="connsiteY8" fmla="*/ 534021 h 533400"/>
              <a:gd name="connsiteX9" fmla="*/ 448441 w 488073"/>
              <a:gd name="connsiteY9" fmla="*/ 534021 h 533400"/>
              <a:gd name="connsiteX10" fmla="*/ 40771 w 488073"/>
              <a:gd name="connsiteY10" fmla="*/ 534021 h 533400"/>
              <a:gd name="connsiteX11" fmla="*/ 4576 w 488073"/>
              <a:gd name="connsiteY11" fmla="*/ 509256 h 533400"/>
              <a:gd name="connsiteX12" fmla="*/ 5528 w 488073"/>
              <a:gd name="connsiteY12" fmla="*/ 464489 h 533400"/>
              <a:gd name="connsiteX13" fmla="*/ 5528 w 488073"/>
              <a:gd name="connsiteY13" fmla="*/ 464489 h 533400"/>
              <a:gd name="connsiteX14" fmla="*/ 146498 w 488073"/>
              <a:gd name="connsiteY14" fmla="*/ 147306 h 533400"/>
              <a:gd name="connsiteX15" fmla="*/ 149356 w 488073"/>
              <a:gd name="connsiteY15" fmla="*/ 135876 h 533400"/>
              <a:gd name="connsiteX16" fmla="*/ 149356 w 488073"/>
              <a:gd name="connsiteY16" fmla="*/ 135876 h 533400"/>
              <a:gd name="connsiteX17" fmla="*/ 149356 w 488073"/>
              <a:gd name="connsiteY17" fmla="*/ 19671 h 533400"/>
              <a:gd name="connsiteX18" fmla="*/ 120781 w 488073"/>
              <a:gd name="connsiteY18" fmla="*/ 19671 h 533400"/>
              <a:gd name="connsiteX19" fmla="*/ 120781 w 488073"/>
              <a:gd name="connsiteY19" fmla="*/ 621 h 533400"/>
              <a:gd name="connsiteX20" fmla="*/ 368431 w 488073"/>
              <a:gd name="connsiteY20" fmla="*/ 621 h 533400"/>
              <a:gd name="connsiteX21" fmla="*/ 253178 w 488073"/>
              <a:gd name="connsiteY21" fmla="*/ 415911 h 533400"/>
              <a:gd name="connsiteX22" fmla="*/ 250321 w 488073"/>
              <a:gd name="connsiteY22" fmla="*/ 417816 h 533400"/>
              <a:gd name="connsiteX23" fmla="*/ 51248 w 488073"/>
              <a:gd name="connsiteY23" fmla="*/ 409244 h 533400"/>
              <a:gd name="connsiteX24" fmla="*/ 23626 w 488073"/>
              <a:gd name="connsiteY24" fmla="*/ 471156 h 533400"/>
              <a:gd name="connsiteX25" fmla="*/ 22673 w 488073"/>
              <a:gd name="connsiteY25" fmla="*/ 501636 h 533400"/>
              <a:gd name="connsiteX26" fmla="*/ 40771 w 488073"/>
              <a:gd name="connsiteY26" fmla="*/ 514971 h 533400"/>
              <a:gd name="connsiteX27" fmla="*/ 40771 w 488073"/>
              <a:gd name="connsiteY27" fmla="*/ 514971 h 533400"/>
              <a:gd name="connsiteX28" fmla="*/ 447488 w 488073"/>
              <a:gd name="connsiteY28" fmla="*/ 514971 h 533400"/>
              <a:gd name="connsiteX29" fmla="*/ 465586 w 488073"/>
              <a:gd name="connsiteY29" fmla="*/ 502589 h 533400"/>
              <a:gd name="connsiteX30" fmla="*/ 464633 w 488073"/>
              <a:gd name="connsiteY30" fmla="*/ 472109 h 533400"/>
              <a:gd name="connsiteX31" fmla="*/ 464633 w 488073"/>
              <a:gd name="connsiteY31" fmla="*/ 472109 h 533400"/>
              <a:gd name="connsiteX32" fmla="*/ 436058 w 488073"/>
              <a:gd name="connsiteY32" fmla="*/ 408291 h 533400"/>
              <a:gd name="connsiteX33" fmla="*/ 435106 w 488073"/>
              <a:gd name="connsiteY33" fmla="*/ 408291 h 533400"/>
              <a:gd name="connsiteX34" fmla="*/ 253178 w 488073"/>
              <a:gd name="connsiteY34" fmla="*/ 415911 h 533400"/>
              <a:gd name="connsiteX35" fmla="*/ 320806 w 488073"/>
              <a:gd name="connsiteY35" fmla="*/ 19671 h 533400"/>
              <a:gd name="connsiteX36" fmla="*/ 168406 w 488073"/>
              <a:gd name="connsiteY36" fmla="*/ 19671 h 533400"/>
              <a:gd name="connsiteX37" fmla="*/ 168406 w 488073"/>
              <a:gd name="connsiteY37" fmla="*/ 135876 h 533400"/>
              <a:gd name="connsiteX38" fmla="*/ 165548 w 488073"/>
              <a:gd name="connsiteY38" fmla="*/ 153021 h 533400"/>
              <a:gd name="connsiteX39" fmla="*/ 165548 w 488073"/>
              <a:gd name="connsiteY39" fmla="*/ 153021 h 533400"/>
              <a:gd name="connsiteX40" fmla="*/ 164596 w 488073"/>
              <a:gd name="connsiteY40" fmla="*/ 155878 h 533400"/>
              <a:gd name="connsiteX41" fmla="*/ 58868 w 488073"/>
              <a:gd name="connsiteY41" fmla="*/ 392098 h 533400"/>
              <a:gd name="connsiteX42" fmla="*/ 236033 w 488073"/>
              <a:gd name="connsiteY42" fmla="*/ 404481 h 533400"/>
              <a:gd name="connsiteX43" fmla="*/ 238891 w 488073"/>
              <a:gd name="connsiteY43" fmla="*/ 402576 h 533400"/>
              <a:gd name="connsiteX44" fmla="*/ 425581 w 488073"/>
              <a:gd name="connsiteY44" fmla="*/ 382573 h 533400"/>
              <a:gd name="connsiteX45" fmla="*/ 324616 w 488073"/>
              <a:gd name="connsiteY45" fmla="*/ 154926 h 533400"/>
              <a:gd name="connsiteX46" fmla="*/ 320806 w 488073"/>
              <a:gd name="connsiteY46" fmla="*/ 135876 h 533400"/>
              <a:gd name="connsiteX47" fmla="*/ 320806 w 488073"/>
              <a:gd name="connsiteY47" fmla="*/ 135876 h 533400"/>
              <a:gd name="connsiteX48" fmla="*/ 320806 w 488073"/>
              <a:gd name="connsiteY48" fmla="*/ 19671 h 533400"/>
              <a:gd name="connsiteX49" fmla="*/ 306518 w 488073"/>
              <a:gd name="connsiteY49" fmla="*/ 248271 h 533400"/>
              <a:gd name="connsiteX50" fmla="*/ 349381 w 488073"/>
              <a:gd name="connsiteY50" fmla="*/ 291134 h 533400"/>
              <a:gd name="connsiteX51" fmla="*/ 306518 w 488073"/>
              <a:gd name="connsiteY51" fmla="*/ 333996 h 533400"/>
              <a:gd name="connsiteX52" fmla="*/ 263656 w 488073"/>
              <a:gd name="connsiteY52" fmla="*/ 291134 h 533400"/>
              <a:gd name="connsiteX53" fmla="*/ 306518 w 488073"/>
              <a:gd name="connsiteY53" fmla="*/ 248271 h 533400"/>
              <a:gd name="connsiteX54" fmla="*/ 306518 w 488073"/>
              <a:gd name="connsiteY54" fmla="*/ 267321 h 533400"/>
              <a:gd name="connsiteX55" fmla="*/ 282706 w 488073"/>
              <a:gd name="connsiteY55" fmla="*/ 291134 h 533400"/>
              <a:gd name="connsiteX56" fmla="*/ 306518 w 488073"/>
              <a:gd name="connsiteY56" fmla="*/ 314946 h 533400"/>
              <a:gd name="connsiteX57" fmla="*/ 330331 w 488073"/>
              <a:gd name="connsiteY57" fmla="*/ 291134 h 533400"/>
              <a:gd name="connsiteX58" fmla="*/ 306518 w 488073"/>
              <a:gd name="connsiteY58" fmla="*/ 267321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488073" h="533400">
                <a:moveTo>
                  <a:pt x="368431" y="621"/>
                </a:moveTo>
                <a:lnTo>
                  <a:pt x="368431" y="19671"/>
                </a:lnTo>
                <a:lnTo>
                  <a:pt x="339856" y="19671"/>
                </a:lnTo>
                <a:lnTo>
                  <a:pt x="339856" y="135876"/>
                </a:lnTo>
                <a:cubicBezTo>
                  <a:pt x="339856" y="138734"/>
                  <a:pt x="340808" y="142544"/>
                  <a:pt x="341761" y="145401"/>
                </a:cubicBezTo>
                <a:lnTo>
                  <a:pt x="342713" y="147306"/>
                </a:lnTo>
                <a:lnTo>
                  <a:pt x="483683" y="464489"/>
                </a:lnTo>
                <a:cubicBezTo>
                  <a:pt x="490351" y="478776"/>
                  <a:pt x="490351" y="494969"/>
                  <a:pt x="484636" y="509256"/>
                </a:cubicBezTo>
                <a:cubicBezTo>
                  <a:pt x="478921" y="524496"/>
                  <a:pt x="464633" y="534021"/>
                  <a:pt x="448441" y="534021"/>
                </a:cubicBezTo>
                <a:lnTo>
                  <a:pt x="448441" y="534021"/>
                </a:lnTo>
                <a:lnTo>
                  <a:pt x="40771" y="534021"/>
                </a:lnTo>
                <a:cubicBezTo>
                  <a:pt x="24578" y="534021"/>
                  <a:pt x="10291" y="524496"/>
                  <a:pt x="4576" y="509256"/>
                </a:cubicBezTo>
                <a:cubicBezTo>
                  <a:pt x="-1139" y="494969"/>
                  <a:pt x="-187" y="478776"/>
                  <a:pt x="5528" y="464489"/>
                </a:cubicBezTo>
                <a:lnTo>
                  <a:pt x="5528" y="464489"/>
                </a:lnTo>
                <a:lnTo>
                  <a:pt x="146498" y="147306"/>
                </a:lnTo>
                <a:cubicBezTo>
                  <a:pt x="148403" y="143496"/>
                  <a:pt x="149356" y="139686"/>
                  <a:pt x="149356" y="135876"/>
                </a:cubicBezTo>
                <a:lnTo>
                  <a:pt x="149356" y="135876"/>
                </a:lnTo>
                <a:lnTo>
                  <a:pt x="149356" y="19671"/>
                </a:lnTo>
                <a:lnTo>
                  <a:pt x="120781" y="19671"/>
                </a:lnTo>
                <a:lnTo>
                  <a:pt x="120781" y="621"/>
                </a:lnTo>
                <a:lnTo>
                  <a:pt x="368431" y="621"/>
                </a:lnTo>
                <a:close/>
                <a:moveTo>
                  <a:pt x="253178" y="415911"/>
                </a:moveTo>
                <a:lnTo>
                  <a:pt x="250321" y="417816"/>
                </a:lnTo>
                <a:cubicBezTo>
                  <a:pt x="195076" y="456869"/>
                  <a:pt x="119828" y="453059"/>
                  <a:pt x="51248" y="409244"/>
                </a:cubicBezTo>
                <a:lnTo>
                  <a:pt x="23626" y="471156"/>
                </a:lnTo>
                <a:cubicBezTo>
                  <a:pt x="19816" y="480681"/>
                  <a:pt x="18863" y="491159"/>
                  <a:pt x="22673" y="501636"/>
                </a:cubicBezTo>
                <a:cubicBezTo>
                  <a:pt x="25531" y="510209"/>
                  <a:pt x="33151" y="514971"/>
                  <a:pt x="40771" y="514971"/>
                </a:cubicBezTo>
                <a:lnTo>
                  <a:pt x="40771" y="514971"/>
                </a:lnTo>
                <a:lnTo>
                  <a:pt x="447488" y="514971"/>
                </a:lnTo>
                <a:cubicBezTo>
                  <a:pt x="456061" y="514971"/>
                  <a:pt x="462728" y="510209"/>
                  <a:pt x="465586" y="502589"/>
                </a:cubicBezTo>
                <a:cubicBezTo>
                  <a:pt x="469396" y="493064"/>
                  <a:pt x="469396" y="481634"/>
                  <a:pt x="464633" y="472109"/>
                </a:cubicBezTo>
                <a:lnTo>
                  <a:pt x="464633" y="472109"/>
                </a:lnTo>
                <a:lnTo>
                  <a:pt x="436058" y="408291"/>
                </a:lnTo>
                <a:lnTo>
                  <a:pt x="435106" y="408291"/>
                </a:lnTo>
                <a:cubicBezTo>
                  <a:pt x="375098" y="378764"/>
                  <a:pt x="302708" y="382573"/>
                  <a:pt x="253178" y="415911"/>
                </a:cubicBezTo>
                <a:close/>
                <a:moveTo>
                  <a:pt x="320806" y="19671"/>
                </a:moveTo>
                <a:lnTo>
                  <a:pt x="168406" y="19671"/>
                </a:lnTo>
                <a:lnTo>
                  <a:pt x="168406" y="135876"/>
                </a:lnTo>
                <a:cubicBezTo>
                  <a:pt x="168406" y="141591"/>
                  <a:pt x="167453" y="147306"/>
                  <a:pt x="165548" y="153021"/>
                </a:cubicBezTo>
                <a:lnTo>
                  <a:pt x="165548" y="153021"/>
                </a:lnTo>
                <a:lnTo>
                  <a:pt x="164596" y="155878"/>
                </a:lnTo>
                <a:lnTo>
                  <a:pt x="58868" y="392098"/>
                </a:lnTo>
                <a:cubicBezTo>
                  <a:pt x="120781" y="432103"/>
                  <a:pt x="187456" y="436866"/>
                  <a:pt x="236033" y="404481"/>
                </a:cubicBezTo>
                <a:lnTo>
                  <a:pt x="238891" y="402576"/>
                </a:lnTo>
                <a:cubicBezTo>
                  <a:pt x="290326" y="366381"/>
                  <a:pt x="361763" y="359714"/>
                  <a:pt x="425581" y="382573"/>
                </a:cubicBezTo>
                <a:lnTo>
                  <a:pt x="324616" y="154926"/>
                </a:lnTo>
                <a:cubicBezTo>
                  <a:pt x="321758" y="149211"/>
                  <a:pt x="320806" y="142544"/>
                  <a:pt x="320806" y="135876"/>
                </a:cubicBezTo>
                <a:lnTo>
                  <a:pt x="320806" y="135876"/>
                </a:lnTo>
                <a:lnTo>
                  <a:pt x="320806" y="19671"/>
                </a:lnTo>
                <a:close/>
                <a:moveTo>
                  <a:pt x="306518" y="248271"/>
                </a:moveTo>
                <a:cubicBezTo>
                  <a:pt x="330331" y="248271"/>
                  <a:pt x="349381" y="267321"/>
                  <a:pt x="349381" y="291134"/>
                </a:cubicBezTo>
                <a:cubicBezTo>
                  <a:pt x="349381" y="314946"/>
                  <a:pt x="330331" y="333996"/>
                  <a:pt x="306518" y="333996"/>
                </a:cubicBezTo>
                <a:cubicBezTo>
                  <a:pt x="282706" y="333996"/>
                  <a:pt x="263656" y="314946"/>
                  <a:pt x="263656" y="291134"/>
                </a:cubicBezTo>
                <a:cubicBezTo>
                  <a:pt x="263656" y="267321"/>
                  <a:pt x="282706" y="248271"/>
                  <a:pt x="306518" y="248271"/>
                </a:cubicBezTo>
                <a:close/>
                <a:moveTo>
                  <a:pt x="306518" y="267321"/>
                </a:moveTo>
                <a:cubicBezTo>
                  <a:pt x="293183" y="267321"/>
                  <a:pt x="282706" y="277798"/>
                  <a:pt x="282706" y="291134"/>
                </a:cubicBezTo>
                <a:cubicBezTo>
                  <a:pt x="282706" y="304469"/>
                  <a:pt x="293183" y="314946"/>
                  <a:pt x="306518" y="314946"/>
                </a:cubicBezTo>
                <a:cubicBezTo>
                  <a:pt x="319853" y="314946"/>
                  <a:pt x="330331" y="304469"/>
                  <a:pt x="330331" y="291134"/>
                </a:cubicBezTo>
                <a:cubicBezTo>
                  <a:pt x="330331" y="277798"/>
                  <a:pt x="319853" y="267321"/>
                  <a:pt x="306518" y="26732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îsḻiḋê">
            <a:extLst>
              <a:ext uri="{FF2B5EF4-FFF2-40B4-BE49-F238E27FC236}">
                <a16:creationId xmlns:a16="http://schemas.microsoft.com/office/drawing/2014/main" id="{96178299-D716-97E8-00D7-D3EB7804A4EF}"/>
              </a:ext>
            </a:extLst>
          </p:cNvPr>
          <p:cNvSpPr/>
          <p:nvPr/>
        </p:nvSpPr>
        <p:spPr>
          <a:xfrm>
            <a:off x="332099" y="1443144"/>
            <a:ext cx="3774345" cy="3054418"/>
          </a:xfrm>
          <a:prstGeom prst="roundRect">
            <a:avLst>
              <a:gd name="adj" fmla="val 2333"/>
            </a:avLst>
          </a:prstGeom>
          <a:solidFill>
            <a:schemeClr val="bg1"/>
          </a:solidFill>
          <a:ln>
            <a:noFill/>
          </a:ln>
          <a:effectLst>
            <a:outerShdw blurRad="508000" dist="101600" algn="ctr" rotWithShape="0">
              <a:srgbClr val="000000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54E381-DDF8-BEAE-23C7-63BF2728EE05}"/>
              </a:ext>
            </a:extLst>
          </p:cNvPr>
          <p:cNvSpPr txBox="1"/>
          <p:nvPr/>
        </p:nvSpPr>
        <p:spPr>
          <a:xfrm>
            <a:off x="1539499" y="1411891"/>
            <a:ext cx="2515481" cy="588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依赖关系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iṥ1iḍé"/>
          <p:cNvSpPr/>
          <p:nvPr/>
        </p:nvSpPr>
        <p:spPr bwMode="auto">
          <a:xfrm>
            <a:off x="1193306" y="1609217"/>
            <a:ext cx="321886" cy="352836"/>
          </a:xfrm>
          <a:custGeom>
            <a:avLst/>
            <a:gdLst>
              <a:gd name="connsiteX0" fmla="*/ 248770 w 495300"/>
              <a:gd name="connsiteY0" fmla="*/ 621 h 542925"/>
              <a:gd name="connsiteX1" fmla="*/ 496420 w 495300"/>
              <a:gd name="connsiteY1" fmla="*/ 248271 h 542925"/>
              <a:gd name="connsiteX2" fmla="*/ 324017 w 495300"/>
              <a:gd name="connsiteY2" fmla="*/ 484491 h 542925"/>
              <a:gd name="connsiteX3" fmla="*/ 346877 w 495300"/>
              <a:gd name="connsiteY3" fmla="*/ 524496 h 542925"/>
              <a:gd name="connsiteX4" fmla="*/ 420220 w 495300"/>
              <a:gd name="connsiteY4" fmla="*/ 524496 h 542925"/>
              <a:gd name="connsiteX5" fmla="*/ 420220 w 495300"/>
              <a:gd name="connsiteY5" fmla="*/ 543546 h 542925"/>
              <a:gd name="connsiteX6" fmla="*/ 77320 w 495300"/>
              <a:gd name="connsiteY6" fmla="*/ 543546 h 542925"/>
              <a:gd name="connsiteX7" fmla="*/ 77320 w 495300"/>
              <a:gd name="connsiteY7" fmla="*/ 524496 h 542925"/>
              <a:gd name="connsiteX8" fmla="*/ 150663 w 495300"/>
              <a:gd name="connsiteY8" fmla="*/ 524496 h 542925"/>
              <a:gd name="connsiteX9" fmla="*/ 173523 w 495300"/>
              <a:gd name="connsiteY9" fmla="*/ 484491 h 542925"/>
              <a:gd name="connsiteX10" fmla="*/ 1120 w 495300"/>
              <a:gd name="connsiteY10" fmla="*/ 252081 h 542925"/>
              <a:gd name="connsiteX11" fmla="*/ 1120 w 495300"/>
              <a:gd name="connsiteY11" fmla="*/ 248271 h 542925"/>
              <a:gd name="connsiteX12" fmla="*/ 248770 w 495300"/>
              <a:gd name="connsiteY12" fmla="*/ 621 h 542925"/>
              <a:gd name="connsiteX13" fmla="*/ 304967 w 495300"/>
              <a:gd name="connsiteY13" fmla="*/ 489253 h 542925"/>
              <a:gd name="connsiteX14" fmla="*/ 248770 w 495300"/>
              <a:gd name="connsiteY14" fmla="*/ 495921 h 542925"/>
              <a:gd name="connsiteX15" fmla="*/ 192573 w 495300"/>
              <a:gd name="connsiteY15" fmla="*/ 489253 h 542925"/>
              <a:gd name="connsiteX16" fmla="*/ 172570 w 495300"/>
              <a:gd name="connsiteY16" fmla="*/ 524496 h 542925"/>
              <a:gd name="connsiteX17" fmla="*/ 324970 w 495300"/>
              <a:gd name="connsiteY17" fmla="*/ 524496 h 542925"/>
              <a:gd name="connsiteX18" fmla="*/ 304967 w 495300"/>
              <a:gd name="connsiteY18" fmla="*/ 489253 h 542925"/>
              <a:gd name="connsiteX19" fmla="*/ 248770 w 495300"/>
              <a:gd name="connsiteY19" fmla="*/ 19671 h 542925"/>
              <a:gd name="connsiteX20" fmla="*/ 20170 w 495300"/>
              <a:gd name="connsiteY20" fmla="*/ 248271 h 542925"/>
              <a:gd name="connsiteX21" fmla="*/ 248770 w 495300"/>
              <a:gd name="connsiteY21" fmla="*/ 476871 h 542925"/>
              <a:gd name="connsiteX22" fmla="*/ 477370 w 495300"/>
              <a:gd name="connsiteY22" fmla="*/ 248271 h 542925"/>
              <a:gd name="connsiteX23" fmla="*/ 248770 w 495300"/>
              <a:gd name="connsiteY23" fmla="*/ 19671 h 542925"/>
              <a:gd name="connsiteX24" fmla="*/ 248770 w 495300"/>
              <a:gd name="connsiteY24" fmla="*/ 133971 h 542925"/>
              <a:gd name="connsiteX25" fmla="*/ 363070 w 495300"/>
              <a:gd name="connsiteY25" fmla="*/ 248271 h 542925"/>
              <a:gd name="connsiteX26" fmla="*/ 248770 w 495300"/>
              <a:gd name="connsiteY26" fmla="*/ 362571 h 542925"/>
              <a:gd name="connsiteX27" fmla="*/ 134470 w 495300"/>
              <a:gd name="connsiteY27" fmla="*/ 248271 h 542925"/>
              <a:gd name="connsiteX28" fmla="*/ 248770 w 495300"/>
              <a:gd name="connsiteY28" fmla="*/ 133971 h 542925"/>
              <a:gd name="connsiteX29" fmla="*/ 248770 w 495300"/>
              <a:gd name="connsiteY29" fmla="*/ 153021 h 542925"/>
              <a:gd name="connsiteX30" fmla="*/ 153520 w 495300"/>
              <a:gd name="connsiteY30" fmla="*/ 248271 h 542925"/>
              <a:gd name="connsiteX31" fmla="*/ 248770 w 495300"/>
              <a:gd name="connsiteY31" fmla="*/ 343521 h 542925"/>
              <a:gd name="connsiteX32" fmla="*/ 344020 w 495300"/>
              <a:gd name="connsiteY32" fmla="*/ 248271 h 542925"/>
              <a:gd name="connsiteX33" fmla="*/ 248770 w 495300"/>
              <a:gd name="connsiteY33" fmla="*/ 153021 h 542925"/>
              <a:gd name="connsiteX34" fmla="*/ 367833 w 495300"/>
              <a:gd name="connsiteY34" fmla="*/ 114921 h 542925"/>
              <a:gd name="connsiteX35" fmla="*/ 382120 w 495300"/>
              <a:gd name="connsiteY35" fmla="*/ 129209 h 542925"/>
              <a:gd name="connsiteX36" fmla="*/ 367833 w 495300"/>
              <a:gd name="connsiteY36" fmla="*/ 143496 h 542925"/>
              <a:gd name="connsiteX37" fmla="*/ 353545 w 495300"/>
              <a:gd name="connsiteY37" fmla="*/ 129209 h 542925"/>
              <a:gd name="connsiteX38" fmla="*/ 367833 w 495300"/>
              <a:gd name="connsiteY38" fmla="*/ 114921 h 54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95300" h="542925">
                <a:moveTo>
                  <a:pt x="248770" y="621"/>
                </a:moveTo>
                <a:cubicBezTo>
                  <a:pt x="385930" y="621"/>
                  <a:pt x="496420" y="111111"/>
                  <a:pt x="496420" y="248271"/>
                </a:cubicBezTo>
                <a:cubicBezTo>
                  <a:pt x="496420" y="358761"/>
                  <a:pt x="424030" y="452106"/>
                  <a:pt x="324017" y="484491"/>
                </a:cubicBezTo>
                <a:lnTo>
                  <a:pt x="346877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663" y="524496"/>
                </a:lnTo>
                <a:lnTo>
                  <a:pt x="173523" y="484491"/>
                </a:lnTo>
                <a:cubicBezTo>
                  <a:pt x="74463" y="453059"/>
                  <a:pt x="3025" y="361619"/>
                  <a:pt x="1120" y="252081"/>
                </a:cubicBezTo>
                <a:lnTo>
                  <a:pt x="1120" y="248271"/>
                </a:lnTo>
                <a:cubicBezTo>
                  <a:pt x="1120" y="111111"/>
                  <a:pt x="111610" y="621"/>
                  <a:pt x="248770" y="621"/>
                </a:cubicBezTo>
                <a:close/>
                <a:moveTo>
                  <a:pt x="304967" y="489253"/>
                </a:moveTo>
                <a:cubicBezTo>
                  <a:pt x="286870" y="494016"/>
                  <a:pt x="267820" y="495921"/>
                  <a:pt x="248770" y="495921"/>
                </a:cubicBezTo>
                <a:cubicBezTo>
                  <a:pt x="229720" y="495921"/>
                  <a:pt x="210670" y="494016"/>
                  <a:pt x="192573" y="489253"/>
                </a:cubicBezTo>
                <a:lnTo>
                  <a:pt x="172570" y="524496"/>
                </a:lnTo>
                <a:lnTo>
                  <a:pt x="324970" y="524496"/>
                </a:lnTo>
                <a:lnTo>
                  <a:pt x="304967" y="489253"/>
                </a:lnTo>
                <a:close/>
                <a:moveTo>
                  <a:pt x="248770" y="19671"/>
                </a:moveTo>
                <a:cubicBezTo>
                  <a:pt x="122088" y="19671"/>
                  <a:pt x="20170" y="121589"/>
                  <a:pt x="20170" y="248271"/>
                </a:cubicBezTo>
                <a:cubicBezTo>
                  <a:pt x="20170" y="374953"/>
                  <a:pt x="122088" y="476871"/>
                  <a:pt x="248770" y="476871"/>
                </a:cubicBezTo>
                <a:cubicBezTo>
                  <a:pt x="375452" y="476871"/>
                  <a:pt x="477370" y="374953"/>
                  <a:pt x="477370" y="248271"/>
                </a:cubicBezTo>
                <a:cubicBezTo>
                  <a:pt x="477370" y="121589"/>
                  <a:pt x="375452" y="19671"/>
                  <a:pt x="248770" y="19671"/>
                </a:cubicBezTo>
                <a:close/>
                <a:moveTo>
                  <a:pt x="248770" y="133971"/>
                </a:moveTo>
                <a:cubicBezTo>
                  <a:pt x="311635" y="133971"/>
                  <a:pt x="363070" y="185406"/>
                  <a:pt x="363070" y="248271"/>
                </a:cubicBezTo>
                <a:cubicBezTo>
                  <a:pt x="363070" y="311136"/>
                  <a:pt x="311635" y="362571"/>
                  <a:pt x="248770" y="362571"/>
                </a:cubicBezTo>
                <a:cubicBezTo>
                  <a:pt x="185905" y="362571"/>
                  <a:pt x="134470" y="311136"/>
                  <a:pt x="134470" y="248271"/>
                </a:cubicBezTo>
                <a:cubicBezTo>
                  <a:pt x="134470" y="185406"/>
                  <a:pt x="185905" y="133971"/>
                  <a:pt x="248770" y="133971"/>
                </a:cubicBezTo>
                <a:close/>
                <a:moveTo>
                  <a:pt x="248770" y="153021"/>
                </a:moveTo>
                <a:cubicBezTo>
                  <a:pt x="196383" y="153021"/>
                  <a:pt x="153520" y="195884"/>
                  <a:pt x="153520" y="248271"/>
                </a:cubicBezTo>
                <a:cubicBezTo>
                  <a:pt x="153520" y="300659"/>
                  <a:pt x="196383" y="343521"/>
                  <a:pt x="248770" y="343521"/>
                </a:cubicBezTo>
                <a:cubicBezTo>
                  <a:pt x="301158" y="343521"/>
                  <a:pt x="344020" y="300659"/>
                  <a:pt x="344020" y="248271"/>
                </a:cubicBezTo>
                <a:cubicBezTo>
                  <a:pt x="344020" y="195884"/>
                  <a:pt x="301158" y="153021"/>
                  <a:pt x="248770" y="153021"/>
                </a:cubicBezTo>
                <a:close/>
                <a:moveTo>
                  <a:pt x="367833" y="114921"/>
                </a:moveTo>
                <a:cubicBezTo>
                  <a:pt x="375452" y="114921"/>
                  <a:pt x="382120" y="121589"/>
                  <a:pt x="382120" y="129209"/>
                </a:cubicBezTo>
                <a:cubicBezTo>
                  <a:pt x="382120" y="136828"/>
                  <a:pt x="375452" y="143496"/>
                  <a:pt x="367833" y="143496"/>
                </a:cubicBezTo>
                <a:cubicBezTo>
                  <a:pt x="360213" y="143496"/>
                  <a:pt x="353545" y="136828"/>
                  <a:pt x="353545" y="129209"/>
                </a:cubicBezTo>
                <a:cubicBezTo>
                  <a:pt x="353545" y="121589"/>
                  <a:pt x="360213" y="114921"/>
                  <a:pt x="367833" y="114921"/>
                </a:cubicBezTo>
                <a:close/>
              </a:path>
            </a:pathLst>
          </a:cu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E148BB4-01FE-4E81-875E-AEF5719E13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83" y="2482563"/>
            <a:ext cx="3688329" cy="100296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484A9DB-7099-34AA-599C-3BD40F272BB1}"/>
              </a:ext>
            </a:extLst>
          </p:cNvPr>
          <p:cNvSpPr txBox="1"/>
          <p:nvPr/>
        </p:nvSpPr>
        <p:spPr>
          <a:xfrm>
            <a:off x="329308" y="2060300"/>
            <a:ext cx="3942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表示：虚线箭头，由源包指向目标包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46BB771F-7C58-7F50-6925-FB79544B46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308" y="3429916"/>
            <a:ext cx="3677627" cy="1165893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2C84D914-1E7E-0D51-11A5-B002B6A924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3139" y="574439"/>
            <a:ext cx="6010821" cy="582218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  <p:bldP spid="3" grpId="0"/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F931C-DF9D-8BAF-3B9C-4D37F4C0D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íšľíde">
            <a:extLst>
              <a:ext uri="{FF2B5EF4-FFF2-40B4-BE49-F238E27FC236}">
                <a16:creationId xmlns:a16="http://schemas.microsoft.com/office/drawing/2014/main" id="{DF47B5FE-9D56-5D30-431A-41BDC56792E4}"/>
              </a:ext>
            </a:extLst>
          </p:cNvPr>
          <p:cNvSpPr/>
          <p:nvPr/>
        </p:nvSpPr>
        <p:spPr>
          <a:xfrm>
            <a:off x="11169122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iş1ïďê">
            <a:extLst>
              <a:ext uri="{FF2B5EF4-FFF2-40B4-BE49-F238E27FC236}">
                <a16:creationId xmlns:a16="http://schemas.microsoft.com/office/drawing/2014/main" id="{3B5B8413-88B3-AD5C-E1E9-8BB71CF60417}"/>
              </a:ext>
            </a:extLst>
          </p:cNvPr>
          <p:cNvSpPr/>
          <p:nvPr/>
        </p:nvSpPr>
        <p:spPr>
          <a:xfrm>
            <a:off x="11362274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" name="iśḻíḋe">
            <a:extLst>
              <a:ext uri="{FF2B5EF4-FFF2-40B4-BE49-F238E27FC236}">
                <a16:creationId xmlns:a16="http://schemas.microsoft.com/office/drawing/2014/main" id="{A1DD018D-30C3-0365-84F3-A6EED3CA4329}"/>
              </a:ext>
            </a:extLst>
          </p:cNvPr>
          <p:cNvSpPr/>
          <p:nvPr/>
        </p:nvSpPr>
        <p:spPr>
          <a:xfrm>
            <a:off x="11265698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îṡḻîdê">
            <a:extLst>
              <a:ext uri="{FF2B5EF4-FFF2-40B4-BE49-F238E27FC236}">
                <a16:creationId xmlns:a16="http://schemas.microsoft.com/office/drawing/2014/main" id="{021399B2-0E47-0C89-C9A0-8A15805D1CE8}"/>
              </a:ext>
            </a:extLst>
          </p:cNvPr>
          <p:cNvSpPr/>
          <p:nvPr/>
        </p:nvSpPr>
        <p:spPr>
          <a:xfrm>
            <a:off x="11458849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C95F408-8236-2212-6249-523C59CA4648}"/>
              </a:ext>
            </a:extLst>
          </p:cNvPr>
          <p:cNvGrpSpPr/>
          <p:nvPr/>
        </p:nvGrpSpPr>
        <p:grpSpPr>
          <a:xfrm>
            <a:off x="0" y="153352"/>
            <a:ext cx="3592774" cy="1327337"/>
            <a:chOff x="-124945" y="-80538"/>
            <a:chExt cx="3592774" cy="1327337"/>
          </a:xfrm>
        </p:grpSpPr>
        <p:sp>
          <p:nvSpPr>
            <p:cNvPr id="14" name="iṩļïḓè">
              <a:extLst>
                <a:ext uri="{FF2B5EF4-FFF2-40B4-BE49-F238E27FC236}">
                  <a16:creationId xmlns:a16="http://schemas.microsoft.com/office/drawing/2014/main" id="{AE318A2E-72AF-1646-9147-C721FCD4FFF0}"/>
                </a:ext>
              </a:extLst>
            </p:cNvPr>
            <p:cNvSpPr txBox="1"/>
            <p:nvPr/>
          </p:nvSpPr>
          <p:spPr bwMode="auto">
            <a:xfrm>
              <a:off x="415605" y="409465"/>
              <a:ext cx="2475194" cy="421718"/>
            </a:xfrm>
            <a:prstGeom prst="rect">
              <a:avLst/>
            </a:prstGeom>
            <a:solidFill>
              <a:srgbClr val="E9939A"/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rmAutofit fontScale="9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构件图 </a:t>
              </a:r>
              <a:r>
                <a:rPr lang="en-US" altLang="zh-CN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vs </a:t>
              </a: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类图</a:t>
              </a: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4FE3EC32-2C1E-9BD8-0090-038C0D48E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5013422">
              <a:off x="274630" y="-480113"/>
              <a:ext cx="736994" cy="1536144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29D64EA2-DEF6-CD47-7018-345DA052C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16046210">
              <a:off x="2410926" y="189895"/>
              <a:ext cx="685336" cy="1428471"/>
            </a:xfrm>
            <a:prstGeom prst="rect">
              <a:avLst/>
            </a:prstGeom>
          </p:spPr>
        </p:pic>
      </p:grpSp>
      <p:sp>
        <p:nvSpPr>
          <p:cNvPr id="2" name="ïṣḷïḑê">
            <a:extLst>
              <a:ext uri="{FF2B5EF4-FFF2-40B4-BE49-F238E27FC236}">
                <a16:creationId xmlns:a16="http://schemas.microsoft.com/office/drawing/2014/main" id="{D57393EA-E269-F083-0CF5-005BBF73817C}"/>
              </a:ext>
            </a:extLst>
          </p:cNvPr>
          <p:cNvSpPr/>
          <p:nvPr/>
        </p:nvSpPr>
        <p:spPr>
          <a:xfrm flipH="1">
            <a:off x="409260" y="5009228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3" name="ïṣḷïḑê">
            <a:extLst>
              <a:ext uri="{FF2B5EF4-FFF2-40B4-BE49-F238E27FC236}">
                <a16:creationId xmlns:a16="http://schemas.microsoft.com/office/drawing/2014/main" id="{F1C16FD6-B52B-0E1A-746D-4BE419EF0C16}"/>
              </a:ext>
            </a:extLst>
          </p:cNvPr>
          <p:cNvSpPr/>
          <p:nvPr/>
        </p:nvSpPr>
        <p:spPr>
          <a:xfrm flipH="1">
            <a:off x="399327" y="3742502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5" name="îš1íḓê">
            <a:extLst>
              <a:ext uri="{FF2B5EF4-FFF2-40B4-BE49-F238E27FC236}">
                <a16:creationId xmlns:a16="http://schemas.microsoft.com/office/drawing/2014/main" id="{57D6A536-D8DD-6BE5-339C-EF1E30E7D3C2}"/>
              </a:ext>
            </a:extLst>
          </p:cNvPr>
          <p:cNvSpPr/>
          <p:nvPr/>
        </p:nvSpPr>
        <p:spPr>
          <a:xfrm flipH="1">
            <a:off x="399327" y="4380096"/>
            <a:ext cx="180000" cy="180000"/>
          </a:xfrm>
          <a:prstGeom prst="roundRect">
            <a:avLst>
              <a:gd name="adj" fmla="val 0"/>
            </a:avLst>
          </a:prstGeom>
          <a:solidFill>
            <a:srgbClr val="E9939A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4400"/>
            <a:endParaRPr lang="zh-CN" altLang="en-US" sz="2000" b="1" spc="-150">
              <a:solidFill>
                <a:schemeClr val="bg1"/>
              </a:solidFill>
            </a:endParaRPr>
          </a:p>
        </p:txBody>
      </p:sp>
      <p:sp>
        <p:nvSpPr>
          <p:cNvPr id="6" name="îš1íḓê">
            <a:extLst>
              <a:ext uri="{FF2B5EF4-FFF2-40B4-BE49-F238E27FC236}">
                <a16:creationId xmlns:a16="http://schemas.microsoft.com/office/drawing/2014/main" id="{88415E82-47DB-9454-E54A-0C75D7BCC96A}"/>
              </a:ext>
            </a:extLst>
          </p:cNvPr>
          <p:cNvSpPr/>
          <p:nvPr/>
        </p:nvSpPr>
        <p:spPr>
          <a:xfrm flipH="1">
            <a:off x="409260" y="5680111"/>
            <a:ext cx="180000" cy="180000"/>
          </a:xfrm>
          <a:prstGeom prst="roundRect">
            <a:avLst>
              <a:gd name="adj" fmla="val 0"/>
            </a:avLst>
          </a:prstGeom>
          <a:solidFill>
            <a:srgbClr val="E9939A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4400"/>
            <a:endParaRPr lang="zh-CN" altLang="en-US" sz="2000" b="1" spc="-150">
              <a:solidFill>
                <a:schemeClr val="bg1"/>
              </a:solidFill>
            </a:endParaRP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2FBC6B1F-603F-16FA-9B35-BBFAF8283C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187596"/>
              </p:ext>
            </p:extLst>
          </p:nvPr>
        </p:nvGraphicFramePr>
        <p:xfrm>
          <a:off x="1180730" y="1616613"/>
          <a:ext cx="9880846" cy="424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317">
                  <a:extLst>
                    <a:ext uri="{9D8B030D-6E8A-4147-A177-3AD203B41FA5}">
                      <a16:colId xmlns:a16="http://schemas.microsoft.com/office/drawing/2014/main" val="1948437257"/>
                    </a:ext>
                  </a:extLst>
                </a:gridCol>
                <a:gridCol w="2982897">
                  <a:extLst>
                    <a:ext uri="{9D8B030D-6E8A-4147-A177-3AD203B41FA5}">
                      <a16:colId xmlns:a16="http://schemas.microsoft.com/office/drawing/2014/main" val="2293222488"/>
                    </a:ext>
                  </a:extLst>
                </a:gridCol>
                <a:gridCol w="4598632">
                  <a:extLst>
                    <a:ext uri="{9D8B030D-6E8A-4147-A177-3AD203B41FA5}">
                      <a16:colId xmlns:a16="http://schemas.microsoft.com/office/drawing/2014/main" val="3608240604"/>
                    </a:ext>
                  </a:extLst>
                </a:gridCol>
              </a:tblGrid>
              <a:tr h="70725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endParaRPr lang="en-US" altLang="zh-CN" sz="28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对比维度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endParaRPr lang="en-US" altLang="zh-CN" sz="28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类图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endParaRPr lang="en-US" altLang="zh-CN" sz="28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构件图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308006"/>
                  </a:ext>
                </a:extLst>
              </a:tr>
              <a:tr h="70725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抽象层级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>
                          <a:effectLst/>
                          <a:latin typeface="quote-cjk-patch"/>
                        </a:rPr>
                        <a:t>对</a:t>
                      </a:r>
                      <a:r>
                        <a:rPr lang="zh-CN" altLang="en-US" sz="2000" b="1">
                          <a:effectLst/>
                          <a:latin typeface="quote-cjk-patch"/>
                        </a:rPr>
                        <a:t>实体</a:t>
                      </a:r>
                      <a:r>
                        <a:rPr lang="zh-CN" altLang="en-US" sz="2000" b="0">
                          <a:effectLst/>
                          <a:latin typeface="quote-cjk-patch"/>
                        </a:rPr>
                        <a:t>的抽象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>
                          <a:effectLst/>
                          <a:latin typeface="quote-cjk-patch"/>
                        </a:rPr>
                        <a:t>对</a:t>
                      </a:r>
                      <a:r>
                        <a:rPr lang="zh-CN" altLang="en-US" sz="2000" b="1">
                          <a:effectLst/>
                          <a:latin typeface="quote-cjk-patch"/>
                        </a:rPr>
                        <a:t>物理部件</a:t>
                      </a:r>
                      <a:r>
                        <a:rPr lang="zh-CN" altLang="en-US" sz="2000" b="0">
                          <a:effectLst/>
                          <a:latin typeface="quote-cjk-patch"/>
                        </a:rPr>
                        <a:t>的抽象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953894"/>
                  </a:ext>
                </a:extLst>
              </a:tr>
              <a:tr h="70725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能否部署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类</a:t>
                      </a:r>
                      <a:r>
                        <a:rPr lang="zh-CN" altLang="en-US" sz="2000" b="1" dirty="0">
                          <a:effectLst/>
                          <a:latin typeface="quote-cjk-patch"/>
                        </a:rPr>
                        <a:t>不能部署</a:t>
                      </a:r>
                      <a:endParaRPr lang="zh-CN" altLang="en-US" sz="2000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>
                          <a:effectLst/>
                          <a:latin typeface="quote-cjk-patch"/>
                        </a:rPr>
                        <a:t>构件</a:t>
                      </a:r>
                      <a:r>
                        <a:rPr lang="zh-CN" altLang="en-US" sz="2000" b="1">
                          <a:effectLst/>
                          <a:latin typeface="quote-cjk-patch"/>
                        </a:rPr>
                        <a:t>可以部署</a:t>
                      </a:r>
                      <a:endParaRPr lang="zh-CN" altLang="en-US" sz="2000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669902"/>
                  </a:ext>
                </a:extLst>
              </a:tr>
              <a:tr h="70725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本质定位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逻辑模块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软件</a:t>
                      </a:r>
                      <a:r>
                        <a:rPr lang="en-US" altLang="zh-CN" sz="2000" b="0" dirty="0">
                          <a:effectLst/>
                          <a:latin typeface="quote-cjk-patch"/>
                        </a:rPr>
                        <a:t>/</a:t>
                      </a: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物理模块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987799"/>
                  </a:ext>
                </a:extLst>
              </a:tr>
              <a:tr h="70725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>
                          <a:effectLst/>
                          <a:latin typeface="quote-cjk-patch"/>
                        </a:rPr>
                        <a:t>组成关系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类直接定义属性和操作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构件由一组类通过协作完成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313559"/>
                  </a:ext>
                </a:extLst>
              </a:tr>
              <a:tr h="70725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>
                          <a:effectLst/>
                          <a:latin typeface="quote-cjk-patch"/>
                        </a:rPr>
                        <a:t>操作可见性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>
                          <a:effectLst/>
                          <a:latin typeface="quote-cjk-patch"/>
                        </a:rPr>
                        <a:t>类可以直接拥有操作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构件仅拥有</a:t>
                      </a:r>
                      <a:r>
                        <a:rPr lang="zh-CN" altLang="en-US" sz="2000" b="1" dirty="0">
                          <a:effectLst/>
                          <a:latin typeface="quote-cjk-patch"/>
                        </a:rPr>
                        <a:t>可通过其接口访问</a:t>
                      </a: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的操作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3498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455053478"/>
      </p:ext>
    </p:extLst>
  </p:cSld>
  <p:clrMapOvr>
    <a:masterClrMapping/>
  </p:clrMapOvr>
  <p:transition spd="slow" advClick="0" advTm="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D0AF5-E704-7EBA-6109-6E38B09F2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ļiḓe">
            <a:extLst>
              <a:ext uri="{FF2B5EF4-FFF2-40B4-BE49-F238E27FC236}">
                <a16:creationId xmlns:a16="http://schemas.microsoft.com/office/drawing/2014/main" id="{9FDDFAE9-BE7E-E73A-DC3D-9EBF19879876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A51DCFE-6FB0-14D7-3CFD-1BDE6DC5AE73}"/>
              </a:ext>
            </a:extLst>
          </p:cNvPr>
          <p:cNvGrpSpPr/>
          <p:nvPr/>
        </p:nvGrpSpPr>
        <p:grpSpPr>
          <a:xfrm>
            <a:off x="1783831" y="4739873"/>
            <a:ext cx="8931517" cy="1616306"/>
            <a:chOff x="660400" y="2510170"/>
            <a:chExt cx="10858500" cy="2806700"/>
          </a:xfrm>
        </p:grpSpPr>
        <p:sp>
          <p:nvSpPr>
            <p:cNvPr id="26" name="iŝḷîḓe">
              <a:extLst>
                <a:ext uri="{FF2B5EF4-FFF2-40B4-BE49-F238E27FC236}">
                  <a16:creationId xmlns:a16="http://schemas.microsoft.com/office/drawing/2014/main" id="{80E5642A-6D1F-6C86-2D2E-92C0C2A5EEB7}"/>
                </a:ext>
              </a:extLst>
            </p:cNvPr>
            <p:cNvSpPr/>
            <p:nvPr/>
          </p:nvSpPr>
          <p:spPr>
            <a:xfrm>
              <a:off x="660400" y="2510170"/>
              <a:ext cx="2542539" cy="2806700"/>
            </a:xfrm>
            <a:prstGeom prst="roundRect">
              <a:avLst>
                <a:gd name="adj" fmla="val 4353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>
                <a:solidFill>
                  <a:schemeClr val="bg1"/>
                </a:solidFill>
              </a:endParaRPr>
            </a:p>
          </p:txBody>
        </p:sp>
        <p:sp>
          <p:nvSpPr>
            <p:cNvPr id="28" name="iŝ1iḍe">
              <a:extLst>
                <a:ext uri="{FF2B5EF4-FFF2-40B4-BE49-F238E27FC236}">
                  <a16:creationId xmlns:a16="http://schemas.microsoft.com/office/drawing/2014/main" id="{E075C70F-8B39-C696-76B4-153A41B15108}"/>
                </a:ext>
              </a:extLst>
            </p:cNvPr>
            <p:cNvSpPr/>
            <p:nvPr/>
          </p:nvSpPr>
          <p:spPr>
            <a:xfrm>
              <a:off x="1771471" y="3041281"/>
              <a:ext cx="320397" cy="344547"/>
            </a:xfrm>
            <a:custGeom>
              <a:avLst/>
              <a:gdLst>
                <a:gd name="connsiteX0" fmla="*/ 8794 w 487156"/>
                <a:gd name="connsiteY0" fmla="*/ 514066 h 523875"/>
                <a:gd name="connsiteX1" fmla="*/ 8236 w 487156"/>
                <a:gd name="connsiteY1" fmla="*/ 513386 h 523875"/>
                <a:gd name="connsiteX2" fmla="*/ 8236 w 487156"/>
                <a:gd name="connsiteY2" fmla="*/ 513386 h 523875"/>
                <a:gd name="connsiteX3" fmla="*/ 7758 w 487156"/>
                <a:gd name="connsiteY3" fmla="*/ 512765 h 523875"/>
                <a:gd name="connsiteX4" fmla="*/ 5787 w 487156"/>
                <a:gd name="connsiteY4" fmla="*/ 509763 h 523875"/>
                <a:gd name="connsiteX5" fmla="*/ 5766 w 487156"/>
                <a:gd name="connsiteY5" fmla="*/ 509727 h 523875"/>
                <a:gd name="connsiteX6" fmla="*/ 5337 w 487156"/>
                <a:gd name="connsiteY6" fmla="*/ 508945 h 523875"/>
                <a:gd name="connsiteX7" fmla="*/ 4594 w 487156"/>
                <a:gd name="connsiteY7" fmla="*/ 507441 h 523875"/>
                <a:gd name="connsiteX8" fmla="*/ 3892 w 487156"/>
                <a:gd name="connsiteY8" fmla="*/ 505779 h 523875"/>
                <a:gd name="connsiteX9" fmla="*/ 3808 w 487156"/>
                <a:gd name="connsiteY9" fmla="*/ 505557 h 523875"/>
                <a:gd name="connsiteX10" fmla="*/ 3717 w 487156"/>
                <a:gd name="connsiteY10" fmla="*/ 505313 h 523875"/>
                <a:gd name="connsiteX11" fmla="*/ 3670 w 487156"/>
                <a:gd name="connsiteY11" fmla="*/ 505160 h 523875"/>
                <a:gd name="connsiteX12" fmla="*/ 2963 w 487156"/>
                <a:gd name="connsiteY12" fmla="*/ 503120 h 523875"/>
                <a:gd name="connsiteX13" fmla="*/ 2557 w 487156"/>
                <a:gd name="connsiteY13" fmla="*/ 501770 h 523875"/>
                <a:gd name="connsiteX14" fmla="*/ 2063 w 487156"/>
                <a:gd name="connsiteY14" fmla="*/ 499888 h 523875"/>
                <a:gd name="connsiteX15" fmla="*/ 1243 w 487156"/>
                <a:gd name="connsiteY15" fmla="*/ 495648 h 523875"/>
                <a:gd name="connsiteX16" fmla="*/ 946 w 487156"/>
                <a:gd name="connsiteY16" fmla="*/ 493187 h 523875"/>
                <a:gd name="connsiteX17" fmla="*/ 782 w 487156"/>
                <a:gd name="connsiteY17" fmla="*/ 486621 h 523875"/>
                <a:gd name="connsiteX18" fmla="*/ 5311 w 487156"/>
                <a:gd name="connsiteY18" fmla="*/ 468319 h 523875"/>
                <a:gd name="connsiteX19" fmla="*/ 154937 w 487156"/>
                <a:gd name="connsiteY19" fmla="*/ 151627 h 523875"/>
                <a:gd name="connsiteX20" fmla="*/ 158589 w 487156"/>
                <a:gd name="connsiteY20" fmla="*/ 135350 h 523875"/>
                <a:gd name="connsiteX21" fmla="*/ 158584 w 487156"/>
                <a:gd name="connsiteY21" fmla="*/ 19671 h 523875"/>
                <a:gd name="connsiteX22" fmla="*/ 120489 w 487156"/>
                <a:gd name="connsiteY22" fmla="*/ 19671 h 523875"/>
                <a:gd name="connsiteX23" fmla="*/ 120489 w 487156"/>
                <a:gd name="connsiteY23" fmla="*/ 621 h 523875"/>
                <a:gd name="connsiteX24" fmla="*/ 368139 w 487156"/>
                <a:gd name="connsiteY24" fmla="*/ 621 h 523875"/>
                <a:gd name="connsiteX25" fmla="*/ 368139 w 487156"/>
                <a:gd name="connsiteY25" fmla="*/ 19671 h 523875"/>
                <a:gd name="connsiteX26" fmla="*/ 330034 w 487156"/>
                <a:gd name="connsiteY26" fmla="*/ 19671 h 523875"/>
                <a:gd name="connsiteX27" fmla="*/ 330039 w 487156"/>
                <a:gd name="connsiteY27" fmla="*/ 135350 h 523875"/>
                <a:gd name="connsiteX28" fmla="*/ 333691 w 487156"/>
                <a:gd name="connsiteY28" fmla="*/ 151627 h 523875"/>
                <a:gd name="connsiteX29" fmla="*/ 483317 w 487156"/>
                <a:gd name="connsiteY29" fmla="*/ 468319 h 523875"/>
                <a:gd name="connsiteX30" fmla="*/ 484820 w 487156"/>
                <a:gd name="connsiteY30" fmla="*/ 505557 h 523875"/>
                <a:gd name="connsiteX31" fmla="*/ 484730 w 487156"/>
                <a:gd name="connsiteY31" fmla="*/ 505770 h 523875"/>
                <a:gd name="connsiteX32" fmla="*/ 484127 w 487156"/>
                <a:gd name="connsiteY32" fmla="*/ 507238 h 523875"/>
                <a:gd name="connsiteX33" fmla="*/ 459252 w 487156"/>
                <a:gd name="connsiteY33" fmla="*/ 524440 h 523875"/>
                <a:gd name="connsiteX34" fmla="*/ 457436 w 487156"/>
                <a:gd name="connsiteY34" fmla="*/ 524496 h 523875"/>
                <a:gd name="connsiteX35" fmla="*/ 31193 w 487156"/>
                <a:gd name="connsiteY35" fmla="*/ 524496 h 523875"/>
                <a:gd name="connsiteX36" fmla="*/ 29388 w 487156"/>
                <a:gd name="connsiteY36" fmla="*/ 524441 h 523875"/>
                <a:gd name="connsiteX37" fmla="*/ 26953 w 487156"/>
                <a:gd name="connsiteY37" fmla="*/ 524188 h 523875"/>
                <a:gd name="connsiteX38" fmla="*/ 23101 w 487156"/>
                <a:gd name="connsiteY38" fmla="*/ 523357 h 523875"/>
                <a:gd name="connsiteX39" fmla="*/ 23099 w 487156"/>
                <a:gd name="connsiteY39" fmla="*/ 523356 h 523875"/>
                <a:gd name="connsiteX40" fmla="*/ 17530 w 487156"/>
                <a:gd name="connsiteY40" fmla="*/ 521112 h 523875"/>
                <a:gd name="connsiteX41" fmla="*/ 16097 w 487156"/>
                <a:gd name="connsiteY41" fmla="*/ 520303 h 523875"/>
                <a:gd name="connsiteX42" fmla="*/ 15175 w 487156"/>
                <a:gd name="connsiteY42" fmla="*/ 519724 h 523875"/>
                <a:gd name="connsiteX43" fmla="*/ 10184 w 487156"/>
                <a:gd name="connsiteY43" fmla="*/ 515607 h 523875"/>
                <a:gd name="connsiteX44" fmla="*/ 8804 w 487156"/>
                <a:gd name="connsiteY44" fmla="*/ 514076 h 523875"/>
                <a:gd name="connsiteX45" fmla="*/ 8794 w 487156"/>
                <a:gd name="connsiteY45" fmla="*/ 514066 h 523875"/>
                <a:gd name="connsiteX46" fmla="*/ 255373 w 487156"/>
                <a:gd name="connsiteY46" fmla="*/ 404775 h 523875"/>
                <a:gd name="connsiteX47" fmla="*/ 252539 w 487156"/>
                <a:gd name="connsiteY47" fmla="*/ 406584 h 523875"/>
                <a:gd name="connsiteX48" fmla="*/ 247043 w 487156"/>
                <a:gd name="connsiteY48" fmla="*/ 410346 h 523875"/>
                <a:gd name="connsiteX49" fmla="*/ 55204 w 487156"/>
                <a:gd name="connsiteY49" fmla="*/ 416921 h 523875"/>
                <a:gd name="connsiteX50" fmla="*/ 51394 w 487156"/>
                <a:gd name="connsiteY50" fmla="*/ 415379 h 523875"/>
                <a:gd name="connsiteX51" fmla="*/ 22535 w 487156"/>
                <a:gd name="connsiteY51" fmla="*/ 476456 h 523875"/>
                <a:gd name="connsiteX52" fmla="*/ 21704 w 487156"/>
                <a:gd name="connsiteY52" fmla="*/ 478398 h 523875"/>
                <a:gd name="connsiteX53" fmla="*/ 21632 w 487156"/>
                <a:gd name="connsiteY53" fmla="*/ 498834 h 523875"/>
                <a:gd name="connsiteX54" fmla="*/ 28807 w 487156"/>
                <a:gd name="connsiteY54" fmla="*/ 505164 h 523875"/>
                <a:gd name="connsiteX55" fmla="*/ 30045 w 487156"/>
                <a:gd name="connsiteY55" fmla="*/ 505381 h 523875"/>
                <a:gd name="connsiteX56" fmla="*/ 31193 w 487156"/>
                <a:gd name="connsiteY56" fmla="*/ 505446 h 523875"/>
                <a:gd name="connsiteX57" fmla="*/ 457436 w 487156"/>
                <a:gd name="connsiteY57" fmla="*/ 505446 h 523875"/>
                <a:gd name="connsiteX58" fmla="*/ 458583 w 487156"/>
                <a:gd name="connsiteY58" fmla="*/ 505381 h 523875"/>
                <a:gd name="connsiteX59" fmla="*/ 466996 w 487156"/>
                <a:gd name="connsiteY59" fmla="*/ 498834 h 523875"/>
                <a:gd name="connsiteX60" fmla="*/ 467607 w 487156"/>
                <a:gd name="connsiteY60" fmla="*/ 480383 h 523875"/>
                <a:gd name="connsiteX61" fmla="*/ 466925 w 487156"/>
                <a:gd name="connsiteY61" fmla="*/ 478398 h 523875"/>
                <a:gd name="connsiteX62" fmla="*/ 466093 w 487156"/>
                <a:gd name="connsiteY62" fmla="*/ 476456 h 523875"/>
                <a:gd name="connsiteX63" fmla="*/ 424438 w 487156"/>
                <a:gd name="connsiteY63" fmla="*/ 388296 h 523875"/>
                <a:gd name="connsiteX64" fmla="*/ 255373 w 487156"/>
                <a:gd name="connsiteY64" fmla="*/ 404775 h 523875"/>
                <a:gd name="connsiteX65" fmla="*/ 306227 w 487156"/>
                <a:gd name="connsiteY65" fmla="*/ 257796 h 523875"/>
                <a:gd name="connsiteX66" fmla="*/ 272889 w 487156"/>
                <a:gd name="connsiteY66" fmla="*/ 291134 h 523875"/>
                <a:gd name="connsiteX67" fmla="*/ 306227 w 487156"/>
                <a:gd name="connsiteY67" fmla="*/ 324471 h 523875"/>
                <a:gd name="connsiteX68" fmla="*/ 339564 w 487156"/>
                <a:gd name="connsiteY68" fmla="*/ 291134 h 523875"/>
                <a:gd name="connsiteX69" fmla="*/ 306227 w 487156"/>
                <a:gd name="connsiteY69" fmla="*/ 257796 h 523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87155" h="523875">
                  <a:moveTo>
                    <a:pt x="8794" y="514066"/>
                  </a:moveTo>
                  <a:lnTo>
                    <a:pt x="8236" y="513386"/>
                  </a:lnTo>
                  <a:lnTo>
                    <a:pt x="8236" y="513386"/>
                  </a:lnTo>
                  <a:lnTo>
                    <a:pt x="7758" y="512765"/>
                  </a:lnTo>
                  <a:cubicBezTo>
                    <a:pt x="7044" y="511811"/>
                    <a:pt x="6385" y="510809"/>
                    <a:pt x="5787" y="509763"/>
                  </a:cubicBezTo>
                  <a:lnTo>
                    <a:pt x="5766" y="509727"/>
                  </a:lnTo>
                  <a:lnTo>
                    <a:pt x="5337" y="508945"/>
                  </a:lnTo>
                  <a:lnTo>
                    <a:pt x="4594" y="507441"/>
                  </a:lnTo>
                  <a:lnTo>
                    <a:pt x="3892" y="505779"/>
                  </a:lnTo>
                  <a:lnTo>
                    <a:pt x="3808" y="505557"/>
                  </a:lnTo>
                  <a:lnTo>
                    <a:pt x="3717" y="505313"/>
                  </a:lnTo>
                  <a:lnTo>
                    <a:pt x="3670" y="505160"/>
                  </a:lnTo>
                  <a:lnTo>
                    <a:pt x="2963" y="503120"/>
                  </a:lnTo>
                  <a:cubicBezTo>
                    <a:pt x="2821" y="502671"/>
                    <a:pt x="2686" y="502222"/>
                    <a:pt x="2557" y="501770"/>
                  </a:cubicBezTo>
                  <a:cubicBezTo>
                    <a:pt x="2379" y="501143"/>
                    <a:pt x="2214" y="500517"/>
                    <a:pt x="2063" y="499888"/>
                  </a:cubicBezTo>
                  <a:cubicBezTo>
                    <a:pt x="1725" y="498486"/>
                    <a:pt x="1452" y="497071"/>
                    <a:pt x="1243" y="495648"/>
                  </a:cubicBezTo>
                  <a:lnTo>
                    <a:pt x="946" y="493187"/>
                  </a:lnTo>
                  <a:cubicBezTo>
                    <a:pt x="741" y="491002"/>
                    <a:pt x="686" y="488809"/>
                    <a:pt x="782" y="486621"/>
                  </a:cubicBezTo>
                  <a:cubicBezTo>
                    <a:pt x="1056" y="480343"/>
                    <a:pt x="2571" y="474116"/>
                    <a:pt x="5311" y="468319"/>
                  </a:cubicBezTo>
                  <a:lnTo>
                    <a:pt x="154937" y="151627"/>
                  </a:lnTo>
                  <a:cubicBezTo>
                    <a:pt x="157342" y="146537"/>
                    <a:pt x="158589" y="140979"/>
                    <a:pt x="158589" y="135350"/>
                  </a:cubicBezTo>
                  <a:lnTo>
                    <a:pt x="158584" y="19671"/>
                  </a:lnTo>
                  <a:lnTo>
                    <a:pt x="120489" y="19671"/>
                  </a:lnTo>
                  <a:lnTo>
                    <a:pt x="120489" y="621"/>
                  </a:lnTo>
                  <a:lnTo>
                    <a:pt x="368139" y="621"/>
                  </a:lnTo>
                  <a:lnTo>
                    <a:pt x="368139" y="19671"/>
                  </a:lnTo>
                  <a:lnTo>
                    <a:pt x="330034" y="19671"/>
                  </a:lnTo>
                  <a:lnTo>
                    <a:pt x="330039" y="135350"/>
                  </a:lnTo>
                  <a:cubicBezTo>
                    <a:pt x="330039" y="140979"/>
                    <a:pt x="331286" y="146537"/>
                    <a:pt x="333691" y="151627"/>
                  </a:cubicBezTo>
                  <a:lnTo>
                    <a:pt x="483317" y="468319"/>
                  </a:lnTo>
                  <a:cubicBezTo>
                    <a:pt x="488844" y="480015"/>
                    <a:pt x="489386" y="493454"/>
                    <a:pt x="484820" y="505557"/>
                  </a:cubicBezTo>
                  <a:lnTo>
                    <a:pt x="484730" y="505770"/>
                  </a:lnTo>
                  <a:lnTo>
                    <a:pt x="484127" y="507238"/>
                  </a:lnTo>
                  <a:cubicBezTo>
                    <a:pt x="479675" y="517139"/>
                    <a:pt x="470087" y="523769"/>
                    <a:pt x="459252" y="524440"/>
                  </a:cubicBezTo>
                  <a:lnTo>
                    <a:pt x="457436" y="524496"/>
                  </a:lnTo>
                  <a:lnTo>
                    <a:pt x="31193" y="524496"/>
                  </a:lnTo>
                  <a:lnTo>
                    <a:pt x="29388" y="524441"/>
                  </a:lnTo>
                  <a:cubicBezTo>
                    <a:pt x="28569" y="524390"/>
                    <a:pt x="27757" y="524306"/>
                    <a:pt x="26953" y="524188"/>
                  </a:cubicBezTo>
                  <a:cubicBezTo>
                    <a:pt x="25641" y="523997"/>
                    <a:pt x="24356" y="523718"/>
                    <a:pt x="23101" y="523357"/>
                  </a:cubicBezTo>
                  <a:lnTo>
                    <a:pt x="23099" y="523356"/>
                  </a:lnTo>
                  <a:cubicBezTo>
                    <a:pt x="21162" y="522799"/>
                    <a:pt x="19296" y="522044"/>
                    <a:pt x="17530" y="521112"/>
                  </a:cubicBezTo>
                  <a:lnTo>
                    <a:pt x="16097" y="520303"/>
                  </a:lnTo>
                  <a:cubicBezTo>
                    <a:pt x="15786" y="520115"/>
                    <a:pt x="15479" y="519923"/>
                    <a:pt x="15175" y="519724"/>
                  </a:cubicBezTo>
                  <a:cubicBezTo>
                    <a:pt x="13368" y="518543"/>
                    <a:pt x="11693" y="517163"/>
                    <a:pt x="10184" y="515607"/>
                  </a:cubicBezTo>
                  <a:lnTo>
                    <a:pt x="8804" y="514076"/>
                  </a:lnTo>
                  <a:lnTo>
                    <a:pt x="8794" y="514066"/>
                  </a:lnTo>
                  <a:close/>
                  <a:moveTo>
                    <a:pt x="255373" y="404775"/>
                  </a:moveTo>
                  <a:lnTo>
                    <a:pt x="252539" y="406584"/>
                  </a:lnTo>
                  <a:lnTo>
                    <a:pt x="247043" y="410346"/>
                  </a:lnTo>
                  <a:cubicBezTo>
                    <a:pt x="199806" y="441653"/>
                    <a:pt x="120256" y="442611"/>
                    <a:pt x="55204" y="416921"/>
                  </a:cubicBezTo>
                  <a:lnTo>
                    <a:pt x="51394" y="415379"/>
                  </a:lnTo>
                  <a:lnTo>
                    <a:pt x="22535" y="476456"/>
                  </a:lnTo>
                  <a:lnTo>
                    <a:pt x="21704" y="478398"/>
                  </a:lnTo>
                  <a:cubicBezTo>
                    <a:pt x="19180" y="484946"/>
                    <a:pt x="19138" y="492221"/>
                    <a:pt x="21632" y="498834"/>
                  </a:cubicBezTo>
                  <a:cubicBezTo>
                    <a:pt x="22845" y="502049"/>
                    <a:pt x="25564" y="504386"/>
                    <a:pt x="28807" y="505164"/>
                  </a:cubicBezTo>
                  <a:lnTo>
                    <a:pt x="30045" y="505381"/>
                  </a:lnTo>
                  <a:lnTo>
                    <a:pt x="31193" y="505446"/>
                  </a:lnTo>
                  <a:lnTo>
                    <a:pt x="457436" y="505446"/>
                  </a:lnTo>
                  <a:lnTo>
                    <a:pt x="458583" y="505381"/>
                  </a:lnTo>
                  <a:cubicBezTo>
                    <a:pt x="462361" y="504956"/>
                    <a:pt x="465632" y="502451"/>
                    <a:pt x="466996" y="498834"/>
                  </a:cubicBezTo>
                  <a:cubicBezTo>
                    <a:pt x="469241" y="492883"/>
                    <a:pt x="469431" y="486395"/>
                    <a:pt x="467607" y="480383"/>
                  </a:cubicBezTo>
                  <a:lnTo>
                    <a:pt x="466925" y="478398"/>
                  </a:lnTo>
                  <a:lnTo>
                    <a:pt x="466093" y="476456"/>
                  </a:lnTo>
                  <a:lnTo>
                    <a:pt x="424438" y="388296"/>
                  </a:lnTo>
                  <a:cubicBezTo>
                    <a:pt x="366098" y="373766"/>
                    <a:pt x="296656" y="379310"/>
                    <a:pt x="255373" y="404775"/>
                  </a:cubicBezTo>
                  <a:close/>
                  <a:moveTo>
                    <a:pt x="306227" y="257796"/>
                  </a:moveTo>
                  <a:cubicBezTo>
                    <a:pt x="287815" y="257796"/>
                    <a:pt x="272889" y="272722"/>
                    <a:pt x="272889" y="291134"/>
                  </a:cubicBezTo>
                  <a:cubicBezTo>
                    <a:pt x="272889" y="309545"/>
                    <a:pt x="287815" y="324471"/>
                    <a:pt x="306227" y="324471"/>
                  </a:cubicBezTo>
                  <a:cubicBezTo>
                    <a:pt x="324638" y="324471"/>
                    <a:pt x="339564" y="309545"/>
                    <a:pt x="339564" y="291134"/>
                  </a:cubicBezTo>
                  <a:cubicBezTo>
                    <a:pt x="339564" y="272722"/>
                    <a:pt x="324638" y="257796"/>
                    <a:pt x="306227" y="257796"/>
                  </a:cubicBezTo>
                  <a:close/>
                </a:path>
              </a:pathLst>
            </a:custGeom>
            <a:solidFill>
              <a:srgbClr val="E993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1" name="ï$liḑé">
              <a:extLst>
                <a:ext uri="{FF2B5EF4-FFF2-40B4-BE49-F238E27FC236}">
                  <a16:creationId xmlns:a16="http://schemas.microsoft.com/office/drawing/2014/main" id="{ED558DAC-EBE3-6712-A50A-FA7D6E183135}"/>
                </a:ext>
              </a:extLst>
            </p:cNvPr>
            <p:cNvSpPr/>
            <p:nvPr/>
          </p:nvSpPr>
          <p:spPr>
            <a:xfrm>
              <a:off x="3432387" y="2510170"/>
              <a:ext cx="2542539" cy="2806700"/>
            </a:xfrm>
            <a:prstGeom prst="roundRect">
              <a:avLst>
                <a:gd name="adj" fmla="val 4353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>
                <a:solidFill>
                  <a:schemeClr val="bg1"/>
                </a:solidFill>
              </a:endParaRPr>
            </a:p>
          </p:txBody>
        </p:sp>
        <p:sp>
          <p:nvSpPr>
            <p:cNvPr id="23" name="iS1ïde">
              <a:extLst>
                <a:ext uri="{FF2B5EF4-FFF2-40B4-BE49-F238E27FC236}">
                  <a16:creationId xmlns:a16="http://schemas.microsoft.com/office/drawing/2014/main" id="{24DEF24F-B08B-A0BF-0C18-4A2A73C803F3}"/>
                </a:ext>
              </a:extLst>
            </p:cNvPr>
            <p:cNvSpPr/>
            <p:nvPr/>
          </p:nvSpPr>
          <p:spPr>
            <a:xfrm>
              <a:off x="4576047" y="3041281"/>
              <a:ext cx="255219" cy="344547"/>
            </a:xfrm>
            <a:custGeom>
              <a:avLst/>
              <a:gdLst>
                <a:gd name="connsiteX0" fmla="*/ 86973 w 381000"/>
                <a:gd name="connsiteY0" fmla="*/ 38721 h 514350"/>
                <a:gd name="connsiteX1" fmla="*/ 86973 w 381000"/>
                <a:gd name="connsiteY1" fmla="*/ 57771 h 514350"/>
                <a:gd name="connsiteX2" fmla="*/ 123172 w 381000"/>
                <a:gd name="connsiteY2" fmla="*/ 95824 h 514350"/>
                <a:gd name="connsiteX3" fmla="*/ 125073 w 381000"/>
                <a:gd name="connsiteY3" fmla="*/ 95871 h 514350"/>
                <a:gd name="connsiteX4" fmla="*/ 258423 w 381000"/>
                <a:gd name="connsiteY4" fmla="*/ 95871 h 514350"/>
                <a:gd name="connsiteX5" fmla="*/ 296476 w 381000"/>
                <a:gd name="connsiteY5" fmla="*/ 59672 h 514350"/>
                <a:gd name="connsiteX6" fmla="*/ 296523 w 381000"/>
                <a:gd name="connsiteY6" fmla="*/ 57771 h 514350"/>
                <a:gd name="connsiteX7" fmla="*/ 296523 w 381000"/>
                <a:gd name="connsiteY7" fmla="*/ 38721 h 514350"/>
                <a:gd name="connsiteX8" fmla="*/ 353673 w 381000"/>
                <a:gd name="connsiteY8" fmla="*/ 38721 h 514350"/>
                <a:gd name="connsiteX9" fmla="*/ 382248 w 381000"/>
                <a:gd name="connsiteY9" fmla="*/ 67296 h 514350"/>
                <a:gd name="connsiteX10" fmla="*/ 382248 w 381000"/>
                <a:gd name="connsiteY10" fmla="*/ 486396 h 514350"/>
                <a:gd name="connsiteX11" fmla="*/ 353673 w 381000"/>
                <a:gd name="connsiteY11" fmla="*/ 514971 h 514350"/>
                <a:gd name="connsiteX12" fmla="*/ 29823 w 381000"/>
                <a:gd name="connsiteY12" fmla="*/ 514971 h 514350"/>
                <a:gd name="connsiteX13" fmla="*/ 1248 w 381000"/>
                <a:gd name="connsiteY13" fmla="*/ 486396 h 514350"/>
                <a:gd name="connsiteX14" fmla="*/ 1248 w 381000"/>
                <a:gd name="connsiteY14" fmla="*/ 67296 h 514350"/>
                <a:gd name="connsiteX15" fmla="*/ 29823 w 381000"/>
                <a:gd name="connsiteY15" fmla="*/ 38721 h 514350"/>
                <a:gd name="connsiteX16" fmla="*/ 86973 w 381000"/>
                <a:gd name="connsiteY16" fmla="*/ 38721 h 514350"/>
                <a:gd name="connsiteX17" fmla="*/ 191748 w 381000"/>
                <a:gd name="connsiteY17" fmla="*/ 333996 h 514350"/>
                <a:gd name="connsiteX18" fmla="*/ 77448 w 381000"/>
                <a:gd name="connsiteY18" fmla="*/ 333996 h 514350"/>
                <a:gd name="connsiteX19" fmla="*/ 77448 w 381000"/>
                <a:gd name="connsiteY19" fmla="*/ 353046 h 514350"/>
                <a:gd name="connsiteX20" fmla="*/ 191748 w 381000"/>
                <a:gd name="connsiteY20" fmla="*/ 353046 h 514350"/>
                <a:gd name="connsiteX21" fmla="*/ 191748 w 381000"/>
                <a:gd name="connsiteY21" fmla="*/ 333996 h 514350"/>
                <a:gd name="connsiteX22" fmla="*/ 306048 w 381000"/>
                <a:gd name="connsiteY22" fmla="*/ 257796 h 514350"/>
                <a:gd name="connsiteX23" fmla="*/ 77448 w 381000"/>
                <a:gd name="connsiteY23" fmla="*/ 257796 h 514350"/>
                <a:gd name="connsiteX24" fmla="*/ 77448 w 381000"/>
                <a:gd name="connsiteY24" fmla="*/ 276846 h 514350"/>
                <a:gd name="connsiteX25" fmla="*/ 306048 w 381000"/>
                <a:gd name="connsiteY25" fmla="*/ 276846 h 514350"/>
                <a:gd name="connsiteX26" fmla="*/ 306048 w 381000"/>
                <a:gd name="connsiteY26" fmla="*/ 257796 h 514350"/>
                <a:gd name="connsiteX27" fmla="*/ 306048 w 381000"/>
                <a:gd name="connsiteY27" fmla="*/ 181596 h 514350"/>
                <a:gd name="connsiteX28" fmla="*/ 77448 w 381000"/>
                <a:gd name="connsiteY28" fmla="*/ 181596 h 514350"/>
                <a:gd name="connsiteX29" fmla="*/ 77448 w 381000"/>
                <a:gd name="connsiteY29" fmla="*/ 200646 h 514350"/>
                <a:gd name="connsiteX30" fmla="*/ 306048 w 381000"/>
                <a:gd name="connsiteY30" fmla="*/ 200646 h 514350"/>
                <a:gd name="connsiteX31" fmla="*/ 306048 w 381000"/>
                <a:gd name="connsiteY31" fmla="*/ 181596 h 514350"/>
                <a:gd name="connsiteX32" fmla="*/ 248898 w 381000"/>
                <a:gd name="connsiteY32" fmla="*/ 621 h 514350"/>
                <a:gd name="connsiteX33" fmla="*/ 277473 w 381000"/>
                <a:gd name="connsiteY33" fmla="*/ 29196 h 514350"/>
                <a:gd name="connsiteX34" fmla="*/ 277473 w 381000"/>
                <a:gd name="connsiteY34" fmla="*/ 48246 h 514350"/>
                <a:gd name="connsiteX35" fmla="*/ 248898 w 381000"/>
                <a:gd name="connsiteY35" fmla="*/ 76821 h 514350"/>
                <a:gd name="connsiteX36" fmla="*/ 134598 w 381000"/>
                <a:gd name="connsiteY36" fmla="*/ 76821 h 514350"/>
                <a:gd name="connsiteX37" fmla="*/ 106023 w 381000"/>
                <a:gd name="connsiteY37" fmla="*/ 48246 h 514350"/>
                <a:gd name="connsiteX38" fmla="*/ 106023 w 381000"/>
                <a:gd name="connsiteY38" fmla="*/ 29196 h 514350"/>
                <a:gd name="connsiteX39" fmla="*/ 134598 w 381000"/>
                <a:gd name="connsiteY39" fmla="*/ 621 h 514350"/>
                <a:gd name="connsiteX40" fmla="*/ 248898 w 381000"/>
                <a:gd name="connsiteY40" fmla="*/ 621 h 51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81000" h="514350">
                  <a:moveTo>
                    <a:pt x="86973" y="38721"/>
                  </a:moveTo>
                  <a:lnTo>
                    <a:pt x="86973" y="57771"/>
                  </a:lnTo>
                  <a:cubicBezTo>
                    <a:pt x="86973" y="78175"/>
                    <a:pt x="103013" y="94834"/>
                    <a:pt x="123172" y="95824"/>
                  </a:cubicBezTo>
                  <a:lnTo>
                    <a:pt x="125073" y="95871"/>
                  </a:lnTo>
                  <a:lnTo>
                    <a:pt x="258423" y="95871"/>
                  </a:lnTo>
                  <a:cubicBezTo>
                    <a:pt x="278827" y="95871"/>
                    <a:pt x="295486" y="79831"/>
                    <a:pt x="296476" y="59672"/>
                  </a:cubicBezTo>
                  <a:lnTo>
                    <a:pt x="296523" y="57771"/>
                  </a:lnTo>
                  <a:lnTo>
                    <a:pt x="296523" y="38721"/>
                  </a:lnTo>
                  <a:lnTo>
                    <a:pt x="353673" y="38721"/>
                  </a:lnTo>
                  <a:cubicBezTo>
                    <a:pt x="369455" y="38721"/>
                    <a:pt x="382248" y="51514"/>
                    <a:pt x="382248" y="67296"/>
                  </a:cubicBezTo>
                  <a:lnTo>
                    <a:pt x="382248" y="486396"/>
                  </a:lnTo>
                  <a:cubicBezTo>
                    <a:pt x="382248" y="502178"/>
                    <a:pt x="369455" y="514971"/>
                    <a:pt x="353673" y="514971"/>
                  </a:cubicBezTo>
                  <a:lnTo>
                    <a:pt x="29823" y="514971"/>
                  </a:lnTo>
                  <a:cubicBezTo>
                    <a:pt x="14041" y="514971"/>
                    <a:pt x="1248" y="502178"/>
                    <a:pt x="1248" y="486396"/>
                  </a:cubicBezTo>
                  <a:lnTo>
                    <a:pt x="1248" y="67296"/>
                  </a:lnTo>
                  <a:cubicBezTo>
                    <a:pt x="1248" y="51514"/>
                    <a:pt x="14041" y="38721"/>
                    <a:pt x="29823" y="38721"/>
                  </a:cubicBezTo>
                  <a:lnTo>
                    <a:pt x="86973" y="38721"/>
                  </a:lnTo>
                  <a:close/>
                  <a:moveTo>
                    <a:pt x="191748" y="333996"/>
                  </a:moveTo>
                  <a:lnTo>
                    <a:pt x="77448" y="333996"/>
                  </a:lnTo>
                  <a:lnTo>
                    <a:pt x="77448" y="353046"/>
                  </a:lnTo>
                  <a:lnTo>
                    <a:pt x="191748" y="353046"/>
                  </a:lnTo>
                  <a:lnTo>
                    <a:pt x="191748" y="333996"/>
                  </a:lnTo>
                  <a:close/>
                  <a:moveTo>
                    <a:pt x="306048" y="257796"/>
                  </a:moveTo>
                  <a:lnTo>
                    <a:pt x="77448" y="257796"/>
                  </a:lnTo>
                  <a:lnTo>
                    <a:pt x="77448" y="276846"/>
                  </a:lnTo>
                  <a:lnTo>
                    <a:pt x="306048" y="276846"/>
                  </a:lnTo>
                  <a:lnTo>
                    <a:pt x="306048" y="257796"/>
                  </a:lnTo>
                  <a:close/>
                  <a:moveTo>
                    <a:pt x="306048" y="181596"/>
                  </a:moveTo>
                  <a:lnTo>
                    <a:pt x="77448" y="181596"/>
                  </a:lnTo>
                  <a:lnTo>
                    <a:pt x="77448" y="200646"/>
                  </a:lnTo>
                  <a:lnTo>
                    <a:pt x="306048" y="200646"/>
                  </a:lnTo>
                  <a:lnTo>
                    <a:pt x="306048" y="181596"/>
                  </a:lnTo>
                  <a:close/>
                  <a:moveTo>
                    <a:pt x="248898" y="621"/>
                  </a:moveTo>
                  <a:cubicBezTo>
                    <a:pt x="264680" y="621"/>
                    <a:pt x="277473" y="13415"/>
                    <a:pt x="277473" y="29196"/>
                  </a:cubicBezTo>
                  <a:lnTo>
                    <a:pt x="277473" y="48246"/>
                  </a:lnTo>
                  <a:cubicBezTo>
                    <a:pt x="277473" y="64028"/>
                    <a:pt x="264680" y="76821"/>
                    <a:pt x="248898" y="76821"/>
                  </a:cubicBezTo>
                  <a:lnTo>
                    <a:pt x="134598" y="76821"/>
                  </a:lnTo>
                  <a:cubicBezTo>
                    <a:pt x="118816" y="76821"/>
                    <a:pt x="106023" y="64028"/>
                    <a:pt x="106023" y="48246"/>
                  </a:cubicBezTo>
                  <a:lnTo>
                    <a:pt x="106023" y="29196"/>
                  </a:lnTo>
                  <a:cubicBezTo>
                    <a:pt x="106023" y="13415"/>
                    <a:pt x="118816" y="621"/>
                    <a:pt x="134598" y="621"/>
                  </a:cubicBezTo>
                  <a:lnTo>
                    <a:pt x="248898" y="621"/>
                  </a:lnTo>
                  <a:close/>
                </a:path>
              </a:pathLst>
            </a:custGeom>
            <a:solidFill>
              <a:srgbClr val="E993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" name="íṡlíḍê">
              <a:extLst>
                <a:ext uri="{FF2B5EF4-FFF2-40B4-BE49-F238E27FC236}">
                  <a16:creationId xmlns:a16="http://schemas.microsoft.com/office/drawing/2014/main" id="{5EC9031F-47A7-F81F-6F94-0D23DE54F5EA}"/>
                </a:ext>
              </a:extLst>
            </p:cNvPr>
            <p:cNvSpPr/>
            <p:nvPr/>
          </p:nvSpPr>
          <p:spPr>
            <a:xfrm>
              <a:off x="6204374" y="2510170"/>
              <a:ext cx="2542539" cy="2806700"/>
            </a:xfrm>
            <a:prstGeom prst="roundRect">
              <a:avLst>
                <a:gd name="adj" fmla="val 4353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>
                <a:solidFill>
                  <a:schemeClr val="bg1"/>
                </a:solidFill>
              </a:endParaRPr>
            </a:p>
          </p:txBody>
        </p:sp>
        <p:sp>
          <p:nvSpPr>
            <p:cNvPr id="18" name="ïṥ1iḑê">
              <a:extLst>
                <a:ext uri="{FF2B5EF4-FFF2-40B4-BE49-F238E27FC236}">
                  <a16:creationId xmlns:a16="http://schemas.microsoft.com/office/drawing/2014/main" id="{7512FFD7-6B06-18AF-E013-23B98ED2241E}"/>
                </a:ext>
              </a:extLst>
            </p:cNvPr>
            <p:cNvSpPr/>
            <p:nvPr/>
          </p:nvSpPr>
          <p:spPr>
            <a:xfrm>
              <a:off x="7303370" y="3076374"/>
              <a:ext cx="344547" cy="274360"/>
            </a:xfrm>
            <a:custGeom>
              <a:avLst/>
              <a:gdLst>
                <a:gd name="connsiteX0" fmla="*/ 486767 w 514350"/>
                <a:gd name="connsiteY0" fmla="*/ 621 h 409575"/>
                <a:gd name="connsiteX1" fmla="*/ 515342 w 514350"/>
                <a:gd name="connsiteY1" fmla="*/ 29196 h 409575"/>
                <a:gd name="connsiteX2" fmla="*/ 515342 w 514350"/>
                <a:gd name="connsiteY2" fmla="*/ 324471 h 409575"/>
                <a:gd name="connsiteX3" fmla="*/ 486767 w 514350"/>
                <a:gd name="connsiteY3" fmla="*/ 353046 h 409575"/>
                <a:gd name="connsiteX4" fmla="*/ 192151 w 514350"/>
                <a:gd name="connsiteY4" fmla="*/ 353046 h 409575"/>
                <a:gd name="connsiteX5" fmla="*/ 115381 w 514350"/>
                <a:gd name="connsiteY5" fmla="*/ 410196 h 409575"/>
                <a:gd name="connsiteX6" fmla="*/ 115381 w 514350"/>
                <a:gd name="connsiteY6" fmla="*/ 353046 h 409575"/>
                <a:gd name="connsiteX7" fmla="*/ 29567 w 514350"/>
                <a:gd name="connsiteY7" fmla="*/ 353046 h 409575"/>
                <a:gd name="connsiteX8" fmla="*/ 992 w 514350"/>
                <a:gd name="connsiteY8" fmla="*/ 324471 h 409575"/>
                <a:gd name="connsiteX9" fmla="*/ 992 w 514350"/>
                <a:gd name="connsiteY9" fmla="*/ 29196 h 409575"/>
                <a:gd name="connsiteX10" fmla="*/ 29567 w 514350"/>
                <a:gd name="connsiteY10" fmla="*/ 621 h 409575"/>
                <a:gd name="connsiteX11" fmla="*/ 486767 w 514350"/>
                <a:gd name="connsiteY11" fmla="*/ 621 h 409575"/>
                <a:gd name="connsiteX12" fmla="*/ 124817 w 514350"/>
                <a:gd name="connsiteY12" fmla="*/ 143496 h 409575"/>
                <a:gd name="connsiteX13" fmla="*/ 91480 w 514350"/>
                <a:gd name="connsiteY13" fmla="*/ 176834 h 409575"/>
                <a:gd name="connsiteX14" fmla="*/ 124817 w 514350"/>
                <a:gd name="connsiteY14" fmla="*/ 210171 h 409575"/>
                <a:gd name="connsiteX15" fmla="*/ 158155 w 514350"/>
                <a:gd name="connsiteY15" fmla="*/ 176834 h 409575"/>
                <a:gd name="connsiteX16" fmla="*/ 124817 w 514350"/>
                <a:gd name="connsiteY16" fmla="*/ 143496 h 409575"/>
                <a:gd name="connsiteX17" fmla="*/ 258167 w 514350"/>
                <a:gd name="connsiteY17" fmla="*/ 143496 h 409575"/>
                <a:gd name="connsiteX18" fmla="*/ 224830 w 514350"/>
                <a:gd name="connsiteY18" fmla="*/ 176834 h 409575"/>
                <a:gd name="connsiteX19" fmla="*/ 258167 w 514350"/>
                <a:gd name="connsiteY19" fmla="*/ 210171 h 409575"/>
                <a:gd name="connsiteX20" fmla="*/ 291505 w 514350"/>
                <a:gd name="connsiteY20" fmla="*/ 176834 h 409575"/>
                <a:gd name="connsiteX21" fmla="*/ 258167 w 514350"/>
                <a:gd name="connsiteY21" fmla="*/ 143496 h 409575"/>
                <a:gd name="connsiteX22" fmla="*/ 391517 w 514350"/>
                <a:gd name="connsiteY22" fmla="*/ 143496 h 409575"/>
                <a:gd name="connsiteX23" fmla="*/ 358180 w 514350"/>
                <a:gd name="connsiteY23" fmla="*/ 176834 h 409575"/>
                <a:gd name="connsiteX24" fmla="*/ 391517 w 514350"/>
                <a:gd name="connsiteY24" fmla="*/ 210171 h 409575"/>
                <a:gd name="connsiteX25" fmla="*/ 424855 w 514350"/>
                <a:gd name="connsiteY25" fmla="*/ 176834 h 409575"/>
                <a:gd name="connsiteX26" fmla="*/ 391517 w 514350"/>
                <a:gd name="connsiteY26" fmla="*/ 143496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4350" h="409575">
                  <a:moveTo>
                    <a:pt x="486767" y="621"/>
                  </a:moveTo>
                  <a:cubicBezTo>
                    <a:pt x="502549" y="621"/>
                    <a:pt x="515342" y="13414"/>
                    <a:pt x="515342" y="29196"/>
                  </a:cubicBezTo>
                  <a:lnTo>
                    <a:pt x="515342" y="324471"/>
                  </a:lnTo>
                  <a:cubicBezTo>
                    <a:pt x="515342" y="340253"/>
                    <a:pt x="502549" y="353046"/>
                    <a:pt x="486767" y="353046"/>
                  </a:cubicBezTo>
                  <a:lnTo>
                    <a:pt x="192151" y="353046"/>
                  </a:lnTo>
                  <a:lnTo>
                    <a:pt x="115381" y="410196"/>
                  </a:lnTo>
                  <a:lnTo>
                    <a:pt x="115381" y="353046"/>
                  </a:lnTo>
                  <a:lnTo>
                    <a:pt x="29567" y="353046"/>
                  </a:lnTo>
                  <a:cubicBezTo>
                    <a:pt x="13786" y="353046"/>
                    <a:pt x="992" y="340253"/>
                    <a:pt x="992" y="324471"/>
                  </a:cubicBezTo>
                  <a:lnTo>
                    <a:pt x="992" y="29196"/>
                  </a:lnTo>
                  <a:cubicBezTo>
                    <a:pt x="992" y="13414"/>
                    <a:pt x="13786" y="621"/>
                    <a:pt x="29567" y="621"/>
                  </a:cubicBezTo>
                  <a:lnTo>
                    <a:pt x="486767" y="621"/>
                  </a:lnTo>
                  <a:close/>
                  <a:moveTo>
                    <a:pt x="124817" y="143496"/>
                  </a:moveTo>
                  <a:cubicBezTo>
                    <a:pt x="106405" y="143496"/>
                    <a:pt x="91480" y="158422"/>
                    <a:pt x="91480" y="176834"/>
                  </a:cubicBezTo>
                  <a:cubicBezTo>
                    <a:pt x="91480" y="195245"/>
                    <a:pt x="106405" y="210171"/>
                    <a:pt x="124817" y="210171"/>
                  </a:cubicBezTo>
                  <a:cubicBezTo>
                    <a:pt x="143229" y="210171"/>
                    <a:pt x="158155" y="195245"/>
                    <a:pt x="158155" y="176834"/>
                  </a:cubicBezTo>
                  <a:cubicBezTo>
                    <a:pt x="158155" y="158422"/>
                    <a:pt x="143229" y="143496"/>
                    <a:pt x="124817" y="143496"/>
                  </a:cubicBezTo>
                  <a:close/>
                  <a:moveTo>
                    <a:pt x="258167" y="143496"/>
                  </a:moveTo>
                  <a:cubicBezTo>
                    <a:pt x="239755" y="143496"/>
                    <a:pt x="224830" y="158422"/>
                    <a:pt x="224830" y="176834"/>
                  </a:cubicBezTo>
                  <a:cubicBezTo>
                    <a:pt x="224830" y="195245"/>
                    <a:pt x="239755" y="210171"/>
                    <a:pt x="258167" y="210171"/>
                  </a:cubicBezTo>
                  <a:cubicBezTo>
                    <a:pt x="276579" y="210171"/>
                    <a:pt x="291505" y="195245"/>
                    <a:pt x="291505" y="176834"/>
                  </a:cubicBezTo>
                  <a:cubicBezTo>
                    <a:pt x="291505" y="158422"/>
                    <a:pt x="276579" y="143496"/>
                    <a:pt x="258167" y="143496"/>
                  </a:cubicBezTo>
                  <a:close/>
                  <a:moveTo>
                    <a:pt x="391517" y="143496"/>
                  </a:moveTo>
                  <a:cubicBezTo>
                    <a:pt x="373105" y="143496"/>
                    <a:pt x="358180" y="158422"/>
                    <a:pt x="358180" y="176834"/>
                  </a:cubicBezTo>
                  <a:cubicBezTo>
                    <a:pt x="358180" y="195245"/>
                    <a:pt x="373105" y="210171"/>
                    <a:pt x="391517" y="210171"/>
                  </a:cubicBezTo>
                  <a:cubicBezTo>
                    <a:pt x="409929" y="210171"/>
                    <a:pt x="424855" y="195245"/>
                    <a:pt x="424855" y="176834"/>
                  </a:cubicBezTo>
                  <a:cubicBezTo>
                    <a:pt x="424855" y="158422"/>
                    <a:pt x="409929" y="143496"/>
                    <a:pt x="391517" y="143496"/>
                  </a:cubicBezTo>
                  <a:close/>
                </a:path>
              </a:pathLst>
            </a:custGeom>
            <a:solidFill>
              <a:srgbClr val="E993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îṥlïďè">
              <a:extLst>
                <a:ext uri="{FF2B5EF4-FFF2-40B4-BE49-F238E27FC236}">
                  <a16:creationId xmlns:a16="http://schemas.microsoft.com/office/drawing/2014/main" id="{DC794CA5-95A4-AE0B-FB3C-472F8E129BAD}"/>
                </a:ext>
              </a:extLst>
            </p:cNvPr>
            <p:cNvSpPr/>
            <p:nvPr/>
          </p:nvSpPr>
          <p:spPr>
            <a:xfrm>
              <a:off x="8976361" y="2510170"/>
              <a:ext cx="2542539" cy="2806700"/>
            </a:xfrm>
            <a:prstGeom prst="roundRect">
              <a:avLst>
                <a:gd name="adj" fmla="val 4353"/>
              </a:avLst>
            </a:pr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>
                <a:solidFill>
                  <a:schemeClr val="bg1"/>
                </a:solidFill>
              </a:endParaRPr>
            </a:p>
          </p:txBody>
        </p:sp>
        <p:sp>
          <p:nvSpPr>
            <p:cNvPr id="13" name="í$ḻïḓê">
              <a:extLst>
                <a:ext uri="{FF2B5EF4-FFF2-40B4-BE49-F238E27FC236}">
                  <a16:creationId xmlns:a16="http://schemas.microsoft.com/office/drawing/2014/main" id="{7BC5DDC9-D654-173A-EFCA-CFF962B2973F}"/>
                </a:ext>
              </a:extLst>
            </p:cNvPr>
            <p:cNvSpPr/>
            <p:nvPr/>
          </p:nvSpPr>
          <p:spPr>
            <a:xfrm>
              <a:off x="10090468" y="3041281"/>
              <a:ext cx="314324" cy="344547"/>
            </a:xfrm>
            <a:custGeom>
              <a:avLst/>
              <a:gdLst>
                <a:gd name="connsiteX0" fmla="*/ 248770 w 495300"/>
                <a:gd name="connsiteY0" fmla="*/ 621 h 542925"/>
                <a:gd name="connsiteX1" fmla="*/ 496420 w 495300"/>
                <a:gd name="connsiteY1" fmla="*/ 248271 h 542925"/>
                <a:gd name="connsiteX2" fmla="*/ 323792 w 495300"/>
                <a:gd name="connsiteY2" fmla="*/ 484354 h 542925"/>
                <a:gd name="connsiteX3" fmla="*/ 346963 w 495300"/>
                <a:gd name="connsiteY3" fmla="*/ 524496 h 542925"/>
                <a:gd name="connsiteX4" fmla="*/ 420220 w 495300"/>
                <a:gd name="connsiteY4" fmla="*/ 524496 h 542925"/>
                <a:gd name="connsiteX5" fmla="*/ 420220 w 495300"/>
                <a:gd name="connsiteY5" fmla="*/ 543546 h 542925"/>
                <a:gd name="connsiteX6" fmla="*/ 77320 w 495300"/>
                <a:gd name="connsiteY6" fmla="*/ 543546 h 542925"/>
                <a:gd name="connsiteX7" fmla="*/ 77320 w 495300"/>
                <a:gd name="connsiteY7" fmla="*/ 524496 h 542925"/>
                <a:gd name="connsiteX8" fmla="*/ 150567 w 495300"/>
                <a:gd name="connsiteY8" fmla="*/ 524496 h 542925"/>
                <a:gd name="connsiteX9" fmla="*/ 173748 w 495300"/>
                <a:gd name="connsiteY9" fmla="*/ 484354 h 542925"/>
                <a:gd name="connsiteX10" fmla="*/ 1120 w 495300"/>
                <a:gd name="connsiteY10" fmla="*/ 248271 h 542925"/>
                <a:gd name="connsiteX11" fmla="*/ 248770 w 495300"/>
                <a:gd name="connsiteY11" fmla="*/ 621 h 542925"/>
                <a:gd name="connsiteX12" fmla="*/ 192747 w 495300"/>
                <a:gd name="connsiteY12" fmla="*/ 489557 h 542925"/>
                <a:gd name="connsiteX13" fmla="*/ 172570 w 495300"/>
                <a:gd name="connsiteY13" fmla="*/ 524496 h 542925"/>
                <a:gd name="connsiteX14" fmla="*/ 324960 w 495300"/>
                <a:gd name="connsiteY14" fmla="*/ 524496 h 542925"/>
                <a:gd name="connsiteX15" fmla="*/ 304793 w 495300"/>
                <a:gd name="connsiteY15" fmla="*/ 489557 h 542925"/>
                <a:gd name="connsiteX16" fmla="*/ 248770 w 495300"/>
                <a:gd name="connsiteY16" fmla="*/ 495921 h 542925"/>
                <a:gd name="connsiteX17" fmla="*/ 192747 w 495300"/>
                <a:gd name="connsiteY17" fmla="*/ 489557 h 542925"/>
                <a:gd name="connsiteX18" fmla="*/ 248770 w 495300"/>
                <a:gd name="connsiteY18" fmla="*/ 143496 h 542925"/>
                <a:gd name="connsiteX19" fmla="*/ 143995 w 495300"/>
                <a:gd name="connsiteY19" fmla="*/ 248271 h 542925"/>
                <a:gd name="connsiteX20" fmla="*/ 248770 w 495300"/>
                <a:gd name="connsiteY20" fmla="*/ 353046 h 542925"/>
                <a:gd name="connsiteX21" fmla="*/ 353545 w 495300"/>
                <a:gd name="connsiteY21" fmla="*/ 248271 h 542925"/>
                <a:gd name="connsiteX22" fmla="*/ 248770 w 495300"/>
                <a:gd name="connsiteY22" fmla="*/ 143496 h 542925"/>
                <a:gd name="connsiteX23" fmla="*/ 367833 w 495300"/>
                <a:gd name="connsiteY23" fmla="*/ 114921 h 542925"/>
                <a:gd name="connsiteX24" fmla="*/ 353545 w 495300"/>
                <a:gd name="connsiteY24" fmla="*/ 129209 h 542925"/>
                <a:gd name="connsiteX25" fmla="*/ 367833 w 495300"/>
                <a:gd name="connsiteY25" fmla="*/ 143496 h 542925"/>
                <a:gd name="connsiteX26" fmla="*/ 382120 w 495300"/>
                <a:gd name="connsiteY26" fmla="*/ 129209 h 542925"/>
                <a:gd name="connsiteX27" fmla="*/ 367833 w 495300"/>
                <a:gd name="connsiteY27" fmla="*/ 114921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543" y="621"/>
                    <a:pt x="496420" y="111498"/>
                    <a:pt x="496420" y="248271"/>
                  </a:cubicBezTo>
                  <a:cubicBezTo>
                    <a:pt x="496420" y="358892"/>
                    <a:pt x="423891" y="452573"/>
                    <a:pt x="323792" y="484354"/>
                  </a:cubicBezTo>
                  <a:lnTo>
                    <a:pt x="346963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567" y="524496"/>
                  </a:lnTo>
                  <a:lnTo>
                    <a:pt x="173748" y="484354"/>
                  </a:lnTo>
                  <a:cubicBezTo>
                    <a:pt x="73649" y="452573"/>
                    <a:pt x="1120" y="358892"/>
                    <a:pt x="1120" y="248271"/>
                  </a:cubicBezTo>
                  <a:cubicBezTo>
                    <a:pt x="1120" y="111498"/>
                    <a:pt x="111997" y="621"/>
                    <a:pt x="248770" y="621"/>
                  </a:cubicBezTo>
                  <a:close/>
                  <a:moveTo>
                    <a:pt x="192747" y="489557"/>
                  </a:moveTo>
                  <a:lnTo>
                    <a:pt x="172570" y="524496"/>
                  </a:lnTo>
                  <a:lnTo>
                    <a:pt x="324960" y="524496"/>
                  </a:lnTo>
                  <a:lnTo>
                    <a:pt x="304793" y="489557"/>
                  </a:lnTo>
                  <a:cubicBezTo>
                    <a:pt x="286791" y="493721"/>
                    <a:pt x="268037" y="495921"/>
                    <a:pt x="248770" y="495921"/>
                  </a:cubicBezTo>
                  <a:cubicBezTo>
                    <a:pt x="229503" y="495921"/>
                    <a:pt x="210749" y="493721"/>
                    <a:pt x="192747" y="489557"/>
                  </a:cubicBezTo>
                  <a:close/>
                  <a:moveTo>
                    <a:pt x="248770" y="143496"/>
                  </a:moveTo>
                  <a:cubicBezTo>
                    <a:pt x="190905" y="143496"/>
                    <a:pt x="143995" y="190406"/>
                    <a:pt x="143995" y="248271"/>
                  </a:cubicBezTo>
                  <a:cubicBezTo>
                    <a:pt x="143995" y="306136"/>
                    <a:pt x="190905" y="353046"/>
                    <a:pt x="248770" y="353046"/>
                  </a:cubicBezTo>
                  <a:cubicBezTo>
                    <a:pt x="306635" y="353046"/>
                    <a:pt x="353545" y="306136"/>
                    <a:pt x="353545" y="248271"/>
                  </a:cubicBezTo>
                  <a:cubicBezTo>
                    <a:pt x="353545" y="190406"/>
                    <a:pt x="306635" y="143496"/>
                    <a:pt x="248770" y="143496"/>
                  </a:cubicBezTo>
                  <a:close/>
                  <a:moveTo>
                    <a:pt x="367833" y="114921"/>
                  </a:moveTo>
                  <a:cubicBezTo>
                    <a:pt x="359942" y="114921"/>
                    <a:pt x="353545" y="121318"/>
                    <a:pt x="353545" y="129209"/>
                  </a:cubicBezTo>
                  <a:cubicBezTo>
                    <a:pt x="353545" y="137099"/>
                    <a:pt x="359942" y="143496"/>
                    <a:pt x="367833" y="143496"/>
                  </a:cubicBezTo>
                  <a:cubicBezTo>
                    <a:pt x="375723" y="143496"/>
                    <a:pt x="382120" y="137099"/>
                    <a:pt x="382120" y="129209"/>
                  </a:cubicBezTo>
                  <a:cubicBezTo>
                    <a:pt x="382120" y="121318"/>
                    <a:pt x="375723" y="114921"/>
                    <a:pt x="367833" y="114921"/>
                  </a:cubicBezTo>
                  <a:close/>
                </a:path>
              </a:pathLst>
            </a:custGeom>
            <a:solidFill>
              <a:srgbClr val="E993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EDC3A688-41D9-0BB5-52DB-5157472E40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30" b="24000"/>
          <a:stretch>
            <a:fillRect/>
          </a:stretch>
        </p:blipFill>
        <p:spPr>
          <a:xfrm>
            <a:off x="9990725" y="0"/>
            <a:ext cx="2201275" cy="311107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E20EBFE-837A-712C-2EEB-78A169AE4D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30" b="24000"/>
          <a:stretch>
            <a:fillRect/>
          </a:stretch>
        </p:blipFill>
        <p:spPr>
          <a:xfrm rot="10800000">
            <a:off x="-1" y="3746926"/>
            <a:ext cx="2201275" cy="3111074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8AAAEC64-084D-E4BE-0272-5E437F329E23}"/>
              </a:ext>
            </a:extLst>
          </p:cNvPr>
          <p:cNvSpPr txBox="1"/>
          <p:nvPr/>
        </p:nvSpPr>
        <p:spPr>
          <a:xfrm>
            <a:off x="1832864" y="5510462"/>
            <a:ext cx="207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大型软件系统管理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3AE6F19-23E8-7421-F546-1D433E1259CA}"/>
              </a:ext>
            </a:extLst>
          </p:cNvPr>
          <p:cNvSpPr txBox="1"/>
          <p:nvPr/>
        </p:nvSpPr>
        <p:spPr>
          <a:xfrm>
            <a:off x="4263949" y="5510462"/>
            <a:ext cx="195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多团队协作分工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EE812A2-66BC-8558-69EC-DE5AEF0D7E82}"/>
              </a:ext>
            </a:extLst>
          </p:cNvPr>
          <p:cNvSpPr txBox="1"/>
          <p:nvPr/>
        </p:nvSpPr>
        <p:spPr>
          <a:xfrm>
            <a:off x="6553106" y="5517708"/>
            <a:ext cx="1645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软件架构设计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45BFFA2-4C0E-4B38-6D9D-D9BB8A0B0F46}"/>
              </a:ext>
            </a:extLst>
          </p:cNvPr>
          <p:cNvSpPr txBox="1"/>
          <p:nvPr/>
        </p:nvSpPr>
        <p:spPr>
          <a:xfrm>
            <a:off x="8560166" y="5447188"/>
            <a:ext cx="2490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代码组织与工程管理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59144DB-2A5F-9AE9-7FEA-A07A7CB623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 rot="5136356">
            <a:off x="700943" y="-477438"/>
            <a:ext cx="969207" cy="2020154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ED433F9-81D9-741D-9361-A83074E94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552301"/>
              </p:ext>
            </p:extLst>
          </p:nvPr>
        </p:nvGraphicFramePr>
        <p:xfrm>
          <a:off x="1707801" y="1165042"/>
          <a:ext cx="8690028" cy="2787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0777">
                  <a:extLst>
                    <a:ext uri="{9D8B030D-6E8A-4147-A177-3AD203B41FA5}">
                      <a16:colId xmlns:a16="http://schemas.microsoft.com/office/drawing/2014/main" val="2058823794"/>
                    </a:ext>
                  </a:extLst>
                </a:gridCol>
                <a:gridCol w="4509251">
                  <a:extLst>
                    <a:ext uri="{9D8B030D-6E8A-4147-A177-3AD203B41FA5}">
                      <a16:colId xmlns:a16="http://schemas.microsoft.com/office/drawing/2014/main" val="2801868050"/>
                    </a:ext>
                  </a:extLst>
                </a:gridCol>
              </a:tblGrid>
              <a:tr h="45266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endParaRPr lang="en-US" altLang="zh-CN" sz="24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quote-cjk-patch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4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quote-cjk-patch"/>
                        </a:rPr>
                        <a:t>作用</a:t>
                      </a:r>
                    </a:p>
                  </a:txBody>
                  <a:tcPr marR="101600" marT="63500" marB="635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endParaRPr lang="en-US" altLang="zh-CN" sz="24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quote-cjk-patch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4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quote-cjk-patch"/>
                        </a:rPr>
                        <a:t>说明</a:t>
                      </a:r>
                    </a:p>
                  </a:txBody>
                  <a:tcPr marL="101600" marR="101600" marT="63500" marB="635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492215"/>
                  </a:ext>
                </a:extLst>
              </a:tr>
              <a:tr h="43131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模块化</a:t>
                      </a:r>
                    </a:p>
                  </a:txBody>
                  <a:tcPr marR="101600" marT="63500" marB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将相关元素分组</a:t>
                      </a:r>
                    </a:p>
                  </a:txBody>
                  <a:tcPr marL="101600" marT="63500" marB="635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947817"/>
                  </a:ext>
                </a:extLst>
              </a:tr>
              <a:tr h="43131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可见性控制</a:t>
                      </a:r>
                    </a:p>
                  </a:txBody>
                  <a:tcPr marR="101600" marT="63500" marB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控制内部元素的访问级别</a:t>
                      </a:r>
                    </a:p>
                  </a:txBody>
                  <a:tcPr marL="101600" marT="63500" marB="635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693667"/>
                  </a:ext>
                </a:extLst>
              </a:tr>
              <a:tr h="43131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避免命名冲突</a:t>
                      </a:r>
                    </a:p>
                  </a:txBody>
                  <a:tcPr marR="101600" marT="63500" marB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不同包的相同命名可共存</a:t>
                      </a:r>
                    </a:p>
                  </a:txBody>
                  <a:tcPr marL="101600" marT="63500" marB="635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237947"/>
                  </a:ext>
                </a:extLst>
              </a:tr>
              <a:tr h="43131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简化模型</a:t>
                      </a:r>
                    </a:p>
                  </a:txBody>
                  <a:tcPr marR="101600" marT="63500" marB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隐藏内部细节，提供概览</a:t>
                      </a:r>
                    </a:p>
                  </a:txBody>
                  <a:tcPr marL="101600" marT="63500" marB="635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741461"/>
                  </a:ext>
                </a:extLst>
              </a:tr>
              <a:tr h="43131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宏观框架表达</a:t>
                      </a:r>
                    </a:p>
                  </a:txBody>
                  <a:tcPr marR="101600" marT="63500" marB="635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展示系统的高层架构</a:t>
                      </a:r>
                    </a:p>
                  </a:txBody>
                  <a:tcPr marL="101600" marT="63500" marB="635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361094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E7A5EBB2-8D54-4AB5-70C6-52EA9A4B78B5}"/>
              </a:ext>
            </a:extLst>
          </p:cNvPr>
          <p:cNvSpPr txBox="1"/>
          <p:nvPr/>
        </p:nvSpPr>
        <p:spPr>
          <a:xfrm>
            <a:off x="1318932" y="322063"/>
            <a:ext cx="3871998" cy="670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</a:rPr>
              <a:t>包图的作用与应用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F54F74-E4D8-6DED-FE77-DCDD4E074C0F}"/>
              </a:ext>
            </a:extLst>
          </p:cNvPr>
          <p:cNvSpPr txBox="1"/>
          <p:nvPr/>
        </p:nvSpPr>
        <p:spPr>
          <a:xfrm>
            <a:off x="761729" y="3967961"/>
            <a:ext cx="3871998" cy="670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</a:rPr>
              <a:t>应用场景：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5738110"/>
      </p:ext>
    </p:ext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9" grpId="0"/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09227-7667-96E7-6173-DC71A43E8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ïşḷíḑe">
            <a:extLst>
              <a:ext uri="{FF2B5EF4-FFF2-40B4-BE49-F238E27FC236}">
                <a16:creationId xmlns:a16="http://schemas.microsoft.com/office/drawing/2014/main" id="{33E398A1-636E-B97A-BBE0-E608C4C476FA}"/>
              </a:ext>
            </a:extLst>
          </p:cNvPr>
          <p:cNvSpPr/>
          <p:nvPr/>
        </p:nvSpPr>
        <p:spPr>
          <a:xfrm>
            <a:off x="0" y="0"/>
            <a:ext cx="5121840" cy="6410120"/>
          </a:xfrm>
          <a:custGeom>
            <a:avLst/>
            <a:gdLst>
              <a:gd name="connsiteX0" fmla="*/ 3530905 w 5121840"/>
              <a:gd name="connsiteY0" fmla="*/ 0 h 6410120"/>
              <a:gd name="connsiteX1" fmla="*/ 4976487 w 5121840"/>
              <a:gd name="connsiteY1" fmla="*/ 0 h 6410120"/>
              <a:gd name="connsiteX2" fmla="*/ 5016343 w 5121840"/>
              <a:gd name="connsiteY2" fmla="*/ 172687 h 6410120"/>
              <a:gd name="connsiteX3" fmla="*/ 5121840 w 5121840"/>
              <a:gd name="connsiteY3" fmla="*/ 1219200 h 6410120"/>
              <a:gd name="connsiteX4" fmla="*/ 196344 w 5121840"/>
              <a:gd name="connsiteY4" fmla="*/ 6405155 h 6410120"/>
              <a:gd name="connsiteX5" fmla="*/ 0 w 5121840"/>
              <a:gd name="connsiteY5" fmla="*/ 6410120 h 6410120"/>
              <a:gd name="connsiteX6" fmla="*/ 0 w 5121840"/>
              <a:gd name="connsiteY6" fmla="*/ 5020059 h 6410120"/>
              <a:gd name="connsiteX7" fmla="*/ 124812 w 5121840"/>
              <a:gd name="connsiteY7" fmla="*/ 5016903 h 6410120"/>
              <a:gd name="connsiteX8" fmla="*/ 3731779 w 5121840"/>
              <a:gd name="connsiteY8" fmla="*/ 1219200 h 6410120"/>
              <a:gd name="connsiteX9" fmla="*/ 3560819 w 5121840"/>
              <a:gd name="connsiteY9" fmla="*/ 88408 h 6410120"/>
              <a:gd name="connsiteX10" fmla="*/ 3530905 w 5121840"/>
              <a:gd name="connsiteY10" fmla="*/ 0 h 641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21840" h="6410120">
                <a:moveTo>
                  <a:pt x="3530905" y="0"/>
                </a:moveTo>
                <a:lnTo>
                  <a:pt x="4976487" y="0"/>
                </a:lnTo>
                <a:lnTo>
                  <a:pt x="5016343" y="172687"/>
                </a:lnTo>
                <a:cubicBezTo>
                  <a:pt x="5085514" y="510720"/>
                  <a:pt x="5121840" y="860718"/>
                  <a:pt x="5121840" y="1219200"/>
                </a:cubicBezTo>
                <a:cubicBezTo>
                  <a:pt x="5121840" y="3997436"/>
                  <a:pt x="2940017" y="6266078"/>
                  <a:pt x="196344" y="6405155"/>
                </a:cubicBezTo>
                <a:lnTo>
                  <a:pt x="0" y="6410120"/>
                </a:lnTo>
                <a:lnTo>
                  <a:pt x="0" y="5020059"/>
                </a:lnTo>
                <a:lnTo>
                  <a:pt x="124812" y="5016903"/>
                </a:lnTo>
                <a:cubicBezTo>
                  <a:pt x="2134018" y="4915056"/>
                  <a:pt x="3731779" y="3253717"/>
                  <a:pt x="3731779" y="1219200"/>
                </a:cubicBezTo>
                <a:cubicBezTo>
                  <a:pt x="3731779" y="825423"/>
                  <a:pt x="3671925" y="445625"/>
                  <a:pt x="3560819" y="88408"/>
                </a:cubicBezTo>
                <a:lnTo>
                  <a:pt x="3530905" y="0"/>
                </a:lnTo>
                <a:close/>
              </a:path>
            </a:pathLst>
          </a:cu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íṥḷíďé">
            <a:extLst>
              <a:ext uri="{FF2B5EF4-FFF2-40B4-BE49-F238E27FC236}">
                <a16:creationId xmlns:a16="http://schemas.microsoft.com/office/drawing/2014/main" id="{F31CA7D6-1DD3-DE31-A7D8-C6039A5C647B}"/>
              </a:ext>
            </a:extLst>
          </p:cNvPr>
          <p:cNvSpPr/>
          <p:nvPr/>
        </p:nvSpPr>
        <p:spPr>
          <a:xfrm>
            <a:off x="212085" y="291351"/>
            <a:ext cx="9176114" cy="50017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127000" dir="42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06D9B52-E4FA-A9E8-B98D-217FED25EBDC}"/>
              </a:ext>
            </a:extLst>
          </p:cNvPr>
          <p:cNvSpPr txBox="1"/>
          <p:nvPr/>
        </p:nvSpPr>
        <p:spPr>
          <a:xfrm>
            <a:off x="827150" y="291351"/>
            <a:ext cx="3258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互动问题</a:t>
            </a:r>
            <a:r>
              <a:rPr lang="en-US" altLang="zh-CN" sz="2000" b="1" dirty="0"/>
              <a:t>3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9592326-A060-D9CB-4B4A-D45ACB0AE3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 rot="2310958">
            <a:off x="127949" y="-199526"/>
            <a:ext cx="783340" cy="163274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2C0EAC9-1744-E7D7-B10D-DB9C677AD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2591" y="3006439"/>
            <a:ext cx="6779409" cy="370067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5E9FF9A-AA67-F1F2-AE10-0647AFB27A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619" y="616847"/>
            <a:ext cx="7493079" cy="308126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B90F959-B089-C470-56A2-9811B2E64B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8621" y="3006439"/>
            <a:ext cx="347587" cy="1986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03362233"/>
      </p:ext>
    </p:ext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F9D4A-6D3F-7EC6-6A09-57BCD60E5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ïşḷíḑe">
            <a:extLst>
              <a:ext uri="{FF2B5EF4-FFF2-40B4-BE49-F238E27FC236}">
                <a16:creationId xmlns:a16="http://schemas.microsoft.com/office/drawing/2014/main" id="{4F40107A-75D4-3373-3463-738B027038AD}"/>
              </a:ext>
            </a:extLst>
          </p:cNvPr>
          <p:cNvSpPr/>
          <p:nvPr/>
        </p:nvSpPr>
        <p:spPr>
          <a:xfrm>
            <a:off x="0" y="0"/>
            <a:ext cx="5121840" cy="6410120"/>
          </a:xfrm>
          <a:custGeom>
            <a:avLst/>
            <a:gdLst>
              <a:gd name="connsiteX0" fmla="*/ 3530905 w 5121840"/>
              <a:gd name="connsiteY0" fmla="*/ 0 h 6410120"/>
              <a:gd name="connsiteX1" fmla="*/ 4976487 w 5121840"/>
              <a:gd name="connsiteY1" fmla="*/ 0 h 6410120"/>
              <a:gd name="connsiteX2" fmla="*/ 5016343 w 5121840"/>
              <a:gd name="connsiteY2" fmla="*/ 172687 h 6410120"/>
              <a:gd name="connsiteX3" fmla="*/ 5121840 w 5121840"/>
              <a:gd name="connsiteY3" fmla="*/ 1219200 h 6410120"/>
              <a:gd name="connsiteX4" fmla="*/ 196344 w 5121840"/>
              <a:gd name="connsiteY4" fmla="*/ 6405155 h 6410120"/>
              <a:gd name="connsiteX5" fmla="*/ 0 w 5121840"/>
              <a:gd name="connsiteY5" fmla="*/ 6410120 h 6410120"/>
              <a:gd name="connsiteX6" fmla="*/ 0 w 5121840"/>
              <a:gd name="connsiteY6" fmla="*/ 5020059 h 6410120"/>
              <a:gd name="connsiteX7" fmla="*/ 124812 w 5121840"/>
              <a:gd name="connsiteY7" fmla="*/ 5016903 h 6410120"/>
              <a:gd name="connsiteX8" fmla="*/ 3731779 w 5121840"/>
              <a:gd name="connsiteY8" fmla="*/ 1219200 h 6410120"/>
              <a:gd name="connsiteX9" fmla="*/ 3560819 w 5121840"/>
              <a:gd name="connsiteY9" fmla="*/ 88408 h 6410120"/>
              <a:gd name="connsiteX10" fmla="*/ 3530905 w 5121840"/>
              <a:gd name="connsiteY10" fmla="*/ 0 h 641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21840" h="6410120">
                <a:moveTo>
                  <a:pt x="3530905" y="0"/>
                </a:moveTo>
                <a:lnTo>
                  <a:pt x="4976487" y="0"/>
                </a:lnTo>
                <a:lnTo>
                  <a:pt x="5016343" y="172687"/>
                </a:lnTo>
                <a:cubicBezTo>
                  <a:pt x="5085514" y="510720"/>
                  <a:pt x="5121840" y="860718"/>
                  <a:pt x="5121840" y="1219200"/>
                </a:cubicBezTo>
                <a:cubicBezTo>
                  <a:pt x="5121840" y="3997436"/>
                  <a:pt x="2940017" y="6266078"/>
                  <a:pt x="196344" y="6405155"/>
                </a:cubicBezTo>
                <a:lnTo>
                  <a:pt x="0" y="6410120"/>
                </a:lnTo>
                <a:lnTo>
                  <a:pt x="0" y="5020059"/>
                </a:lnTo>
                <a:lnTo>
                  <a:pt x="124812" y="5016903"/>
                </a:lnTo>
                <a:cubicBezTo>
                  <a:pt x="2134018" y="4915056"/>
                  <a:pt x="3731779" y="3253717"/>
                  <a:pt x="3731779" y="1219200"/>
                </a:cubicBezTo>
                <a:cubicBezTo>
                  <a:pt x="3731779" y="825423"/>
                  <a:pt x="3671925" y="445625"/>
                  <a:pt x="3560819" y="88408"/>
                </a:cubicBezTo>
                <a:lnTo>
                  <a:pt x="3530905" y="0"/>
                </a:lnTo>
                <a:close/>
              </a:path>
            </a:pathLst>
          </a:cu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íṥḷíďé">
            <a:extLst>
              <a:ext uri="{FF2B5EF4-FFF2-40B4-BE49-F238E27FC236}">
                <a16:creationId xmlns:a16="http://schemas.microsoft.com/office/drawing/2014/main" id="{81DB22A9-8943-55ED-D2D0-020ECEF79329}"/>
              </a:ext>
            </a:extLst>
          </p:cNvPr>
          <p:cNvSpPr/>
          <p:nvPr/>
        </p:nvSpPr>
        <p:spPr>
          <a:xfrm>
            <a:off x="824827" y="393510"/>
            <a:ext cx="10440203" cy="57339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127000" dir="42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6B02B21-5072-F08E-1800-746E79B0F639}"/>
              </a:ext>
            </a:extLst>
          </p:cNvPr>
          <p:cNvSpPr txBox="1"/>
          <p:nvPr/>
        </p:nvSpPr>
        <p:spPr>
          <a:xfrm>
            <a:off x="1052146" y="1184372"/>
            <a:ext cx="3258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包划分及内容（示例）</a:t>
            </a:r>
            <a:r>
              <a:rPr lang="zh-CN" altLang="en-US" dirty="0"/>
              <a:t>：</a:t>
            </a:r>
            <a:endParaRPr lang="en-US" altLang="zh-CN" sz="2000" b="1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8379FF8-7365-5BD9-78C1-9C0028E9DC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 rot="2310958">
            <a:off x="423168" y="-179802"/>
            <a:ext cx="783340" cy="163274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08BB135-B57C-7645-3E42-3550E4516637}"/>
              </a:ext>
            </a:extLst>
          </p:cNvPr>
          <p:cNvSpPr txBox="1"/>
          <p:nvPr/>
        </p:nvSpPr>
        <p:spPr>
          <a:xfrm>
            <a:off x="1147973" y="564574"/>
            <a:ext cx="325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参考答案：</a:t>
            </a:r>
            <a:endParaRPr lang="en-US" altLang="zh-CN" sz="28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35D53B6-4893-E015-B75D-19D29DAA9097}"/>
              </a:ext>
            </a:extLst>
          </p:cNvPr>
          <p:cNvGraphicFramePr>
            <a:graphicFrameLocks noGrp="1"/>
          </p:cNvGraphicFramePr>
          <p:nvPr/>
        </p:nvGraphicFramePr>
        <p:xfrm>
          <a:off x="1225484" y="1765330"/>
          <a:ext cx="9634194" cy="383419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16578">
                  <a:extLst>
                    <a:ext uri="{9D8B030D-6E8A-4147-A177-3AD203B41FA5}">
                      <a16:colId xmlns:a16="http://schemas.microsoft.com/office/drawing/2014/main" val="2480022893"/>
                    </a:ext>
                  </a:extLst>
                </a:gridCol>
                <a:gridCol w="6617616">
                  <a:extLst>
                    <a:ext uri="{9D8B030D-6E8A-4147-A177-3AD203B41FA5}">
                      <a16:colId xmlns:a16="http://schemas.microsoft.com/office/drawing/2014/main" val="382791306"/>
                    </a:ext>
                  </a:extLst>
                </a:gridCol>
              </a:tblGrid>
              <a:tr h="40035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包名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包含的主要模型元素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4181293231"/>
                  </a:ext>
                </a:extLst>
              </a:tr>
              <a:tr h="65812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用户模块包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User, UserService, UserDAO, IAuthentication 接口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308966395"/>
                  </a:ext>
                </a:extLst>
              </a:tr>
              <a:tr h="65812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订单模块包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Order, OrderService, OrderStateMachine, IOrder 接口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443448027"/>
                  </a:ext>
                </a:extLst>
              </a:tr>
              <a:tr h="65812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支付模块包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Payment, PaymentService, GatewayAdapter, IPayment 接口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413176048"/>
                  </a:ext>
                </a:extLst>
              </a:tr>
              <a:tr h="40035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配送模块包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Dispatch, RiderTracker, IDispatch </a:t>
                      </a:r>
                      <a:r>
                        <a:rPr lang="zh-CN" altLang="en-US" b="0">
                          <a:effectLst/>
                        </a:rPr>
                        <a:t>接口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835713039"/>
                  </a:ext>
                </a:extLst>
              </a:tr>
              <a:tr h="65874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商家模块包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Merchant, MenuManager, IMerchant </a:t>
                      </a:r>
                      <a:r>
                        <a:rPr lang="zh-CN" altLang="en-US" b="0">
                          <a:effectLst/>
                        </a:rPr>
                        <a:t>接口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612573744"/>
                  </a:ext>
                </a:extLst>
              </a:tr>
              <a:tr h="40035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基础工具包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 err="1">
                          <a:effectLst/>
                        </a:rPr>
                        <a:t>DateUtils</a:t>
                      </a:r>
                      <a:r>
                        <a:rPr lang="en-US" b="0" dirty="0">
                          <a:effectLst/>
                        </a:rPr>
                        <a:t>, Logger, </a:t>
                      </a:r>
                      <a:r>
                        <a:rPr lang="en-US" b="0" dirty="0" err="1">
                          <a:effectLst/>
                        </a:rPr>
                        <a:t>StringUtil</a:t>
                      </a:r>
                      <a:r>
                        <a:rPr lang="en-US" b="0" dirty="0">
                          <a:effectLst/>
                        </a:rPr>
                        <a:t>, </a:t>
                      </a:r>
                      <a:r>
                        <a:rPr lang="zh-CN" altLang="en-US" b="0" dirty="0">
                          <a:effectLst/>
                        </a:rPr>
                        <a:t>异常处理类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49709802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52950513"/>
      </p:ext>
    </p:ext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327A3-1950-6C34-2DD8-896ADBB39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ïşḷíḑe">
            <a:extLst>
              <a:ext uri="{FF2B5EF4-FFF2-40B4-BE49-F238E27FC236}">
                <a16:creationId xmlns:a16="http://schemas.microsoft.com/office/drawing/2014/main" id="{120AA8F8-F5A7-33E4-E77E-FD440ADD26B7}"/>
              </a:ext>
            </a:extLst>
          </p:cNvPr>
          <p:cNvSpPr/>
          <p:nvPr/>
        </p:nvSpPr>
        <p:spPr>
          <a:xfrm>
            <a:off x="0" y="0"/>
            <a:ext cx="5121840" cy="6410120"/>
          </a:xfrm>
          <a:custGeom>
            <a:avLst/>
            <a:gdLst>
              <a:gd name="connsiteX0" fmla="*/ 3530905 w 5121840"/>
              <a:gd name="connsiteY0" fmla="*/ 0 h 6410120"/>
              <a:gd name="connsiteX1" fmla="*/ 4976487 w 5121840"/>
              <a:gd name="connsiteY1" fmla="*/ 0 h 6410120"/>
              <a:gd name="connsiteX2" fmla="*/ 5016343 w 5121840"/>
              <a:gd name="connsiteY2" fmla="*/ 172687 h 6410120"/>
              <a:gd name="connsiteX3" fmla="*/ 5121840 w 5121840"/>
              <a:gd name="connsiteY3" fmla="*/ 1219200 h 6410120"/>
              <a:gd name="connsiteX4" fmla="*/ 196344 w 5121840"/>
              <a:gd name="connsiteY4" fmla="*/ 6405155 h 6410120"/>
              <a:gd name="connsiteX5" fmla="*/ 0 w 5121840"/>
              <a:gd name="connsiteY5" fmla="*/ 6410120 h 6410120"/>
              <a:gd name="connsiteX6" fmla="*/ 0 w 5121840"/>
              <a:gd name="connsiteY6" fmla="*/ 5020059 h 6410120"/>
              <a:gd name="connsiteX7" fmla="*/ 124812 w 5121840"/>
              <a:gd name="connsiteY7" fmla="*/ 5016903 h 6410120"/>
              <a:gd name="connsiteX8" fmla="*/ 3731779 w 5121840"/>
              <a:gd name="connsiteY8" fmla="*/ 1219200 h 6410120"/>
              <a:gd name="connsiteX9" fmla="*/ 3560819 w 5121840"/>
              <a:gd name="connsiteY9" fmla="*/ 88408 h 6410120"/>
              <a:gd name="connsiteX10" fmla="*/ 3530905 w 5121840"/>
              <a:gd name="connsiteY10" fmla="*/ 0 h 641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21840" h="6410120">
                <a:moveTo>
                  <a:pt x="3530905" y="0"/>
                </a:moveTo>
                <a:lnTo>
                  <a:pt x="4976487" y="0"/>
                </a:lnTo>
                <a:lnTo>
                  <a:pt x="5016343" y="172687"/>
                </a:lnTo>
                <a:cubicBezTo>
                  <a:pt x="5085514" y="510720"/>
                  <a:pt x="5121840" y="860718"/>
                  <a:pt x="5121840" y="1219200"/>
                </a:cubicBezTo>
                <a:cubicBezTo>
                  <a:pt x="5121840" y="3997436"/>
                  <a:pt x="2940017" y="6266078"/>
                  <a:pt x="196344" y="6405155"/>
                </a:cubicBezTo>
                <a:lnTo>
                  <a:pt x="0" y="6410120"/>
                </a:lnTo>
                <a:lnTo>
                  <a:pt x="0" y="5020059"/>
                </a:lnTo>
                <a:lnTo>
                  <a:pt x="124812" y="5016903"/>
                </a:lnTo>
                <a:cubicBezTo>
                  <a:pt x="2134018" y="4915056"/>
                  <a:pt x="3731779" y="3253717"/>
                  <a:pt x="3731779" y="1219200"/>
                </a:cubicBezTo>
                <a:cubicBezTo>
                  <a:pt x="3731779" y="825423"/>
                  <a:pt x="3671925" y="445625"/>
                  <a:pt x="3560819" y="88408"/>
                </a:cubicBezTo>
                <a:lnTo>
                  <a:pt x="3530905" y="0"/>
                </a:lnTo>
                <a:close/>
              </a:path>
            </a:pathLst>
          </a:cu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íṥḷíďé">
            <a:extLst>
              <a:ext uri="{FF2B5EF4-FFF2-40B4-BE49-F238E27FC236}">
                <a16:creationId xmlns:a16="http://schemas.microsoft.com/office/drawing/2014/main" id="{0CD2A76B-1720-13A1-8BAA-BA78F8DBB865}"/>
              </a:ext>
            </a:extLst>
          </p:cNvPr>
          <p:cNvSpPr/>
          <p:nvPr/>
        </p:nvSpPr>
        <p:spPr>
          <a:xfrm>
            <a:off x="824827" y="393510"/>
            <a:ext cx="10440203" cy="57339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127000" dir="42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1D46FFB-0094-56FA-D98D-1BADFFF838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 rot="2310958">
            <a:off x="423168" y="-179802"/>
            <a:ext cx="783340" cy="163274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0107EBD-59D7-83AC-494E-D40F4006ABE1}"/>
              </a:ext>
            </a:extLst>
          </p:cNvPr>
          <p:cNvSpPr txBox="1"/>
          <p:nvPr/>
        </p:nvSpPr>
        <p:spPr>
          <a:xfrm>
            <a:off x="1147973" y="564574"/>
            <a:ext cx="325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参考答案：</a:t>
            </a:r>
            <a:endParaRPr lang="en-US" altLang="zh-CN" sz="28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248E86-7DB0-DE35-9E77-8713EC7FEA10}"/>
              </a:ext>
            </a:extLst>
          </p:cNvPr>
          <p:cNvSpPr txBox="1"/>
          <p:nvPr/>
        </p:nvSpPr>
        <p:spPr>
          <a:xfrm>
            <a:off x="1147973" y="1026239"/>
            <a:ext cx="99269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依赖关系及构造型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dirty="0"/>
              <a:t>订单模块包 </a:t>
            </a:r>
            <a:r>
              <a:rPr lang="en-US" altLang="zh-CN" dirty="0"/>
              <a:t>《use》 </a:t>
            </a:r>
            <a:r>
              <a:rPr lang="zh-CN" altLang="en-US" dirty="0"/>
              <a:t>用户模块包</a:t>
            </a:r>
          </a:p>
          <a:p>
            <a:pPr lvl="1"/>
            <a:r>
              <a:rPr lang="zh-CN" altLang="en-US" dirty="0"/>
              <a:t>订单模块包 </a:t>
            </a:r>
            <a:r>
              <a:rPr lang="en-US" altLang="zh-CN" dirty="0"/>
              <a:t>《use》 </a:t>
            </a:r>
            <a:r>
              <a:rPr lang="zh-CN" altLang="en-US" dirty="0"/>
              <a:t>支付模块包</a:t>
            </a:r>
          </a:p>
          <a:p>
            <a:pPr lvl="1"/>
            <a:r>
              <a:rPr lang="zh-CN" altLang="en-US" dirty="0"/>
              <a:t>订单模块包 </a:t>
            </a:r>
            <a:r>
              <a:rPr lang="en-US" altLang="zh-CN" dirty="0"/>
              <a:t>《use》 </a:t>
            </a:r>
            <a:r>
              <a:rPr lang="zh-CN" altLang="en-US" dirty="0"/>
              <a:t>配送模块包</a:t>
            </a:r>
          </a:p>
          <a:p>
            <a:pPr lvl="1"/>
            <a:r>
              <a:rPr lang="zh-CN" altLang="en-US" dirty="0"/>
              <a:t>商家模块包 </a:t>
            </a:r>
            <a:r>
              <a:rPr lang="en-US" altLang="zh-CN" dirty="0"/>
              <a:t>《use》 </a:t>
            </a:r>
            <a:r>
              <a:rPr lang="zh-CN" altLang="en-US" dirty="0"/>
              <a:t>基础工具包</a:t>
            </a:r>
          </a:p>
          <a:p>
            <a:pPr lvl="1"/>
            <a:r>
              <a:rPr lang="zh-CN" altLang="en-US" dirty="0"/>
              <a:t>配送模块包 </a:t>
            </a:r>
            <a:r>
              <a:rPr lang="en-US" altLang="zh-CN" dirty="0"/>
              <a:t>《use》 </a:t>
            </a:r>
            <a:r>
              <a:rPr lang="zh-CN" altLang="en-US" dirty="0"/>
              <a:t>基础工具包</a:t>
            </a:r>
          </a:p>
          <a:p>
            <a:pPr lvl="1"/>
            <a:r>
              <a:rPr lang="zh-CN" altLang="en-US" dirty="0"/>
              <a:t>商家模块包 </a:t>
            </a:r>
            <a:r>
              <a:rPr lang="en-US" altLang="zh-CN" dirty="0"/>
              <a:t>《access》 </a:t>
            </a:r>
            <a:r>
              <a:rPr lang="zh-CN" altLang="en-US" dirty="0"/>
              <a:t>基础工具包</a:t>
            </a:r>
            <a:endParaRPr lang="en-US" altLang="zh-CN" dirty="0"/>
          </a:p>
          <a:p>
            <a:pPr lvl="1"/>
            <a:endParaRPr lang="zh-CN" altLang="en-US" dirty="0"/>
          </a:p>
          <a:p>
            <a:r>
              <a:rPr lang="zh-CN" altLang="en-US" b="1" dirty="0"/>
              <a:t>循环依赖分析与重构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dirty="0"/>
              <a:t>当前设计 </a:t>
            </a:r>
            <a:r>
              <a:rPr lang="zh-CN" altLang="en-US" b="1" dirty="0"/>
              <a:t>没有循环依赖</a:t>
            </a:r>
            <a:r>
              <a:rPr lang="zh-CN" altLang="en-US" dirty="0"/>
              <a:t>，依赖方向是单向的。</a:t>
            </a:r>
          </a:p>
          <a:p>
            <a:pPr lvl="1"/>
            <a:r>
              <a:rPr lang="zh-CN" altLang="en-US" b="1" dirty="0"/>
              <a:t>可能出现的循环依赖示例</a:t>
            </a:r>
            <a:r>
              <a:rPr lang="zh-CN" altLang="en-US" dirty="0"/>
              <a:t>：如果配送模块包又依赖订单模块包，而订单模块包已经依赖配送模块包，就会形成 订单模块包 ⇄ 配送模块包 循环。</a:t>
            </a:r>
          </a:p>
          <a:p>
            <a:pPr lvl="1"/>
            <a:r>
              <a:rPr lang="zh-CN" altLang="en-US" b="1" dirty="0"/>
              <a:t>重构方法</a:t>
            </a:r>
            <a:r>
              <a:rPr lang="zh-CN" altLang="en-US" dirty="0"/>
              <a:t>：</a:t>
            </a:r>
          </a:p>
          <a:p>
            <a:pPr lvl="2"/>
            <a:r>
              <a:rPr lang="zh-CN" altLang="en-US" dirty="0"/>
              <a:t>提取 </a:t>
            </a:r>
            <a:r>
              <a:rPr lang="zh-CN" altLang="en-US" b="1" dirty="0"/>
              <a:t>公共事件接口</a:t>
            </a:r>
            <a:r>
              <a:rPr lang="zh-CN" altLang="en-US" dirty="0"/>
              <a:t> 到独立的包（如 订单事件包），订单模块包只发送事件，配送模块包监听事件，将双向依赖变为单向依赖。</a:t>
            </a:r>
          </a:p>
          <a:p>
            <a:pPr lvl="2"/>
            <a:r>
              <a:rPr lang="zh-CN" altLang="en-US" dirty="0"/>
              <a:t>或者引入 </a:t>
            </a:r>
            <a:r>
              <a:rPr lang="zh-CN" altLang="en-US" b="1" dirty="0"/>
              <a:t>中介包</a:t>
            </a:r>
            <a:r>
              <a:rPr lang="zh-CN" altLang="en-US" dirty="0"/>
              <a:t>（如 调度协调包），两个模块都依赖中介包，消除直接循环。</a:t>
            </a:r>
          </a:p>
        </p:txBody>
      </p:sp>
      <p:sp>
        <p:nvSpPr>
          <p:cNvPr id="8" name="ïṣḷïḑê">
            <a:extLst>
              <a:ext uri="{FF2B5EF4-FFF2-40B4-BE49-F238E27FC236}">
                <a16:creationId xmlns:a16="http://schemas.microsoft.com/office/drawing/2014/main" id="{7893BCF7-5173-8A1A-39B4-AE4AEB0F194D}"/>
              </a:ext>
            </a:extLst>
          </p:cNvPr>
          <p:cNvSpPr/>
          <p:nvPr/>
        </p:nvSpPr>
        <p:spPr>
          <a:xfrm flipH="1">
            <a:off x="1449677" y="3601393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9" name="ïṣḷïḑê">
            <a:extLst>
              <a:ext uri="{FF2B5EF4-FFF2-40B4-BE49-F238E27FC236}">
                <a16:creationId xmlns:a16="http://schemas.microsoft.com/office/drawing/2014/main" id="{59ECBE44-07BD-0ED6-BDAC-79EA1074ED35}"/>
              </a:ext>
            </a:extLst>
          </p:cNvPr>
          <p:cNvSpPr/>
          <p:nvPr/>
        </p:nvSpPr>
        <p:spPr>
          <a:xfrm flipH="1">
            <a:off x="1449677" y="4414122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10" name="îš1íḓê">
            <a:extLst>
              <a:ext uri="{FF2B5EF4-FFF2-40B4-BE49-F238E27FC236}">
                <a16:creationId xmlns:a16="http://schemas.microsoft.com/office/drawing/2014/main" id="{CF20E575-091C-DDBE-00FE-7B458A2282AB}"/>
              </a:ext>
            </a:extLst>
          </p:cNvPr>
          <p:cNvSpPr/>
          <p:nvPr/>
        </p:nvSpPr>
        <p:spPr>
          <a:xfrm flipH="1">
            <a:off x="1449677" y="3874678"/>
            <a:ext cx="180000" cy="180000"/>
          </a:xfrm>
          <a:prstGeom prst="roundRect">
            <a:avLst>
              <a:gd name="adj" fmla="val 0"/>
            </a:avLst>
          </a:prstGeom>
          <a:solidFill>
            <a:srgbClr val="E9939A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4400"/>
            <a:endParaRPr lang="zh-CN" altLang="en-US" sz="2000" b="1" spc="-15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0473453"/>
      </p:ext>
    </p:ext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499" y="35321"/>
            <a:ext cx="5026753" cy="1448492"/>
            <a:chOff x="-167802" y="-132091"/>
            <a:chExt cx="5026753" cy="1448492"/>
          </a:xfrm>
        </p:grpSpPr>
        <p:sp>
          <p:nvSpPr>
            <p:cNvPr id="3" name="iṩļïḓè"/>
            <p:cNvSpPr txBox="1"/>
            <p:nvPr/>
          </p:nvSpPr>
          <p:spPr bwMode="auto">
            <a:xfrm>
              <a:off x="415604" y="227931"/>
              <a:ext cx="3996483" cy="763390"/>
            </a:xfrm>
            <a:prstGeom prst="rect">
              <a:avLst/>
            </a:prstGeom>
            <a:solidFill>
              <a:srgbClr val="E9939A"/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dist"/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课堂总结 </a:t>
              </a:r>
              <a:r>
                <a:rPr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— </a:t>
              </a: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三种图横向对比</a:t>
              </a: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5013422">
              <a:off x="231773" y="-531666"/>
              <a:ext cx="736994" cy="1536144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16046210">
              <a:off x="3802048" y="259497"/>
              <a:ext cx="685336" cy="1428471"/>
            </a:xfrm>
            <a:prstGeom prst="rect">
              <a:avLst/>
            </a:prstGeom>
          </p:spPr>
        </p:pic>
      </p:grp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9B6DD46-38DB-D3F2-55CB-35C3DA985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389470"/>
              </p:ext>
            </p:extLst>
          </p:nvPr>
        </p:nvGraphicFramePr>
        <p:xfrm>
          <a:off x="619905" y="1530268"/>
          <a:ext cx="10761268" cy="46130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79412">
                  <a:extLst>
                    <a:ext uri="{9D8B030D-6E8A-4147-A177-3AD203B41FA5}">
                      <a16:colId xmlns:a16="http://schemas.microsoft.com/office/drawing/2014/main" val="1224905293"/>
                    </a:ext>
                  </a:extLst>
                </a:gridCol>
                <a:gridCol w="3089429">
                  <a:extLst>
                    <a:ext uri="{9D8B030D-6E8A-4147-A177-3AD203B41FA5}">
                      <a16:colId xmlns:a16="http://schemas.microsoft.com/office/drawing/2014/main" val="666239064"/>
                    </a:ext>
                  </a:extLst>
                </a:gridCol>
                <a:gridCol w="2989155">
                  <a:extLst>
                    <a:ext uri="{9D8B030D-6E8A-4147-A177-3AD203B41FA5}">
                      <a16:colId xmlns:a16="http://schemas.microsoft.com/office/drawing/2014/main" val="3981668915"/>
                    </a:ext>
                  </a:extLst>
                </a:gridCol>
                <a:gridCol w="3003272">
                  <a:extLst>
                    <a:ext uri="{9D8B030D-6E8A-4147-A177-3AD203B41FA5}">
                      <a16:colId xmlns:a16="http://schemas.microsoft.com/office/drawing/2014/main" val="1549201924"/>
                    </a:ext>
                  </a:extLst>
                </a:gridCol>
              </a:tblGrid>
              <a:tr h="529202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effectLst/>
                        </a:rPr>
                        <a:t>维度</a:t>
                      </a:r>
                      <a:endParaRPr lang="zh-CN" altLang="en-US" sz="2000" b="1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effectLst/>
                        </a:rPr>
                        <a:t>对象图</a:t>
                      </a:r>
                      <a:endParaRPr lang="zh-CN" altLang="en-US" sz="2000" b="1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effectLst/>
                        </a:rPr>
                        <a:t>构件图</a:t>
                      </a:r>
                      <a:endParaRPr lang="zh-CN" altLang="en-US" sz="2000" b="1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1" dirty="0">
                          <a:effectLst/>
                        </a:rPr>
                        <a:t>包图</a:t>
                      </a:r>
                      <a:endParaRPr lang="zh-CN" altLang="en-US" sz="2000" b="1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2522160049"/>
                  </a:ext>
                </a:extLst>
              </a:tr>
              <a:tr h="64560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作用层级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运行时实例层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物理实现层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逻辑设计层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481001177"/>
                  </a:ext>
                </a:extLst>
              </a:tr>
              <a:tr h="767402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关注点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对象和具体属性值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系统的物理模块结构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模型元素的逻辑分组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715366629"/>
                  </a:ext>
                </a:extLst>
              </a:tr>
              <a:tr h="60384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与类图关系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类图的实例化快照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类图的物理封装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类图的逻辑容器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377300500"/>
                  </a:ext>
                </a:extLst>
              </a:tr>
              <a:tr h="75313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核心元语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对象、链接、槽、容器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构件、端口、接口、依赖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包、依赖、泛化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7279263"/>
                  </a:ext>
                </a:extLst>
              </a:tr>
              <a:tr h="69245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核心动词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实例化、链接、快照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封装、提供、请求、部署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分组、导入、访问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514055558"/>
                  </a:ext>
                </a:extLst>
              </a:tr>
              <a:tr h="621437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典型问题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“此刻订单的状态是什么？”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“系统如何打包部署？”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“逻辑模块如何分文件夹？”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020045107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spd="slow" advClick="0" advTm="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ïşḷíḑe"/>
          <p:cNvSpPr/>
          <p:nvPr/>
        </p:nvSpPr>
        <p:spPr>
          <a:xfrm>
            <a:off x="0" y="0"/>
            <a:ext cx="5121840" cy="6410120"/>
          </a:xfrm>
          <a:custGeom>
            <a:avLst/>
            <a:gdLst>
              <a:gd name="connsiteX0" fmla="*/ 3530905 w 5121840"/>
              <a:gd name="connsiteY0" fmla="*/ 0 h 6410120"/>
              <a:gd name="connsiteX1" fmla="*/ 4976487 w 5121840"/>
              <a:gd name="connsiteY1" fmla="*/ 0 h 6410120"/>
              <a:gd name="connsiteX2" fmla="*/ 5016343 w 5121840"/>
              <a:gd name="connsiteY2" fmla="*/ 172687 h 6410120"/>
              <a:gd name="connsiteX3" fmla="*/ 5121840 w 5121840"/>
              <a:gd name="connsiteY3" fmla="*/ 1219200 h 6410120"/>
              <a:gd name="connsiteX4" fmla="*/ 196344 w 5121840"/>
              <a:gd name="connsiteY4" fmla="*/ 6405155 h 6410120"/>
              <a:gd name="connsiteX5" fmla="*/ 0 w 5121840"/>
              <a:gd name="connsiteY5" fmla="*/ 6410120 h 6410120"/>
              <a:gd name="connsiteX6" fmla="*/ 0 w 5121840"/>
              <a:gd name="connsiteY6" fmla="*/ 5020059 h 6410120"/>
              <a:gd name="connsiteX7" fmla="*/ 124812 w 5121840"/>
              <a:gd name="connsiteY7" fmla="*/ 5016903 h 6410120"/>
              <a:gd name="connsiteX8" fmla="*/ 3731779 w 5121840"/>
              <a:gd name="connsiteY8" fmla="*/ 1219200 h 6410120"/>
              <a:gd name="connsiteX9" fmla="*/ 3560819 w 5121840"/>
              <a:gd name="connsiteY9" fmla="*/ 88408 h 6410120"/>
              <a:gd name="connsiteX10" fmla="*/ 3530905 w 5121840"/>
              <a:gd name="connsiteY10" fmla="*/ 0 h 641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21840" h="6410120">
                <a:moveTo>
                  <a:pt x="3530905" y="0"/>
                </a:moveTo>
                <a:lnTo>
                  <a:pt x="4976487" y="0"/>
                </a:lnTo>
                <a:lnTo>
                  <a:pt x="5016343" y="172687"/>
                </a:lnTo>
                <a:cubicBezTo>
                  <a:pt x="5085514" y="510720"/>
                  <a:pt x="5121840" y="860718"/>
                  <a:pt x="5121840" y="1219200"/>
                </a:cubicBezTo>
                <a:cubicBezTo>
                  <a:pt x="5121840" y="3997436"/>
                  <a:pt x="2940017" y="6266078"/>
                  <a:pt x="196344" y="6405155"/>
                </a:cubicBezTo>
                <a:lnTo>
                  <a:pt x="0" y="6410120"/>
                </a:lnTo>
                <a:lnTo>
                  <a:pt x="0" y="5020059"/>
                </a:lnTo>
                <a:lnTo>
                  <a:pt x="124812" y="5016903"/>
                </a:lnTo>
                <a:cubicBezTo>
                  <a:pt x="2134018" y="4915056"/>
                  <a:pt x="3731779" y="3253717"/>
                  <a:pt x="3731779" y="1219200"/>
                </a:cubicBezTo>
                <a:cubicBezTo>
                  <a:pt x="3731779" y="825423"/>
                  <a:pt x="3671925" y="445625"/>
                  <a:pt x="3560819" y="88408"/>
                </a:cubicBezTo>
                <a:lnTo>
                  <a:pt x="3530905" y="0"/>
                </a:lnTo>
                <a:close/>
              </a:path>
            </a:pathLst>
          </a:cu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íṥḷíďé"/>
          <p:cNvSpPr/>
          <p:nvPr/>
        </p:nvSpPr>
        <p:spPr>
          <a:xfrm>
            <a:off x="1610255" y="1079404"/>
            <a:ext cx="9176114" cy="50017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127000" dir="42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860152" y="1756675"/>
            <a:ext cx="3258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互动问题</a:t>
            </a:r>
            <a:r>
              <a:rPr lang="en-US" altLang="zh-CN" sz="2000" b="1" dirty="0"/>
              <a:t>4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 rot="2310958">
            <a:off x="1921596" y="1309634"/>
            <a:ext cx="783340" cy="163274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4949CB6-28A1-169B-0B5B-E69994363ED2}"/>
              </a:ext>
            </a:extLst>
          </p:cNvPr>
          <p:cNvSpPr txBox="1"/>
          <p:nvPr/>
        </p:nvSpPr>
        <p:spPr>
          <a:xfrm>
            <a:off x="2815384" y="2344565"/>
            <a:ext cx="7833421" cy="2785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下列关于</a:t>
            </a:r>
            <a:r>
              <a:rPr lang="en-US" altLang="zh-CN" dirty="0"/>
              <a:t>UML</a:t>
            </a:r>
            <a:r>
              <a:rPr lang="zh-CN" altLang="en-US" dirty="0"/>
              <a:t>三种结构图的说法，</a:t>
            </a:r>
            <a:r>
              <a:rPr lang="zh-CN" altLang="en-US" b="1" dirty="0"/>
              <a:t>错误</a:t>
            </a:r>
            <a:r>
              <a:rPr lang="zh-CN" altLang="en-US" dirty="0"/>
              <a:t>的是？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A. </a:t>
            </a:r>
            <a:r>
              <a:rPr lang="zh-CN" altLang="en-US" dirty="0"/>
              <a:t>对象图是类图在特定时刻的实例化快照，可以展示对象属性的具体值。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B. </a:t>
            </a:r>
            <a:r>
              <a:rPr lang="zh-CN" altLang="en-US" dirty="0"/>
              <a:t>构件图描述系统的物理部署单元，构件可以部署到节点上。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C. </a:t>
            </a:r>
            <a:r>
              <a:rPr lang="zh-CN" altLang="en-US" dirty="0"/>
              <a:t>包图只能存在依赖关系，不能有泛化关系。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D. </a:t>
            </a:r>
            <a:r>
              <a:rPr lang="zh-CN" altLang="en-US" dirty="0"/>
              <a:t>对象图中的链接对应类图中关联关系的实例化。</a:t>
            </a:r>
          </a:p>
        </p:txBody>
      </p:sp>
    </p:spTree>
    <p:custDataLst>
      <p:tags r:id="rId1"/>
    </p:custData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43A19-5B8D-8AF2-47FA-2E9014790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ïşḷíḑe">
            <a:extLst>
              <a:ext uri="{FF2B5EF4-FFF2-40B4-BE49-F238E27FC236}">
                <a16:creationId xmlns:a16="http://schemas.microsoft.com/office/drawing/2014/main" id="{C799A11B-EC23-262D-C70C-7E903796FDD8}"/>
              </a:ext>
            </a:extLst>
          </p:cNvPr>
          <p:cNvSpPr/>
          <p:nvPr/>
        </p:nvSpPr>
        <p:spPr>
          <a:xfrm>
            <a:off x="0" y="0"/>
            <a:ext cx="5121840" cy="6410120"/>
          </a:xfrm>
          <a:custGeom>
            <a:avLst/>
            <a:gdLst>
              <a:gd name="connsiteX0" fmla="*/ 3530905 w 5121840"/>
              <a:gd name="connsiteY0" fmla="*/ 0 h 6410120"/>
              <a:gd name="connsiteX1" fmla="*/ 4976487 w 5121840"/>
              <a:gd name="connsiteY1" fmla="*/ 0 h 6410120"/>
              <a:gd name="connsiteX2" fmla="*/ 5016343 w 5121840"/>
              <a:gd name="connsiteY2" fmla="*/ 172687 h 6410120"/>
              <a:gd name="connsiteX3" fmla="*/ 5121840 w 5121840"/>
              <a:gd name="connsiteY3" fmla="*/ 1219200 h 6410120"/>
              <a:gd name="connsiteX4" fmla="*/ 196344 w 5121840"/>
              <a:gd name="connsiteY4" fmla="*/ 6405155 h 6410120"/>
              <a:gd name="connsiteX5" fmla="*/ 0 w 5121840"/>
              <a:gd name="connsiteY5" fmla="*/ 6410120 h 6410120"/>
              <a:gd name="connsiteX6" fmla="*/ 0 w 5121840"/>
              <a:gd name="connsiteY6" fmla="*/ 5020059 h 6410120"/>
              <a:gd name="connsiteX7" fmla="*/ 124812 w 5121840"/>
              <a:gd name="connsiteY7" fmla="*/ 5016903 h 6410120"/>
              <a:gd name="connsiteX8" fmla="*/ 3731779 w 5121840"/>
              <a:gd name="connsiteY8" fmla="*/ 1219200 h 6410120"/>
              <a:gd name="connsiteX9" fmla="*/ 3560819 w 5121840"/>
              <a:gd name="connsiteY9" fmla="*/ 88408 h 6410120"/>
              <a:gd name="connsiteX10" fmla="*/ 3530905 w 5121840"/>
              <a:gd name="connsiteY10" fmla="*/ 0 h 641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21840" h="6410120">
                <a:moveTo>
                  <a:pt x="3530905" y="0"/>
                </a:moveTo>
                <a:lnTo>
                  <a:pt x="4976487" y="0"/>
                </a:lnTo>
                <a:lnTo>
                  <a:pt x="5016343" y="172687"/>
                </a:lnTo>
                <a:cubicBezTo>
                  <a:pt x="5085514" y="510720"/>
                  <a:pt x="5121840" y="860718"/>
                  <a:pt x="5121840" y="1219200"/>
                </a:cubicBezTo>
                <a:cubicBezTo>
                  <a:pt x="5121840" y="3997436"/>
                  <a:pt x="2940017" y="6266078"/>
                  <a:pt x="196344" y="6405155"/>
                </a:cubicBezTo>
                <a:lnTo>
                  <a:pt x="0" y="6410120"/>
                </a:lnTo>
                <a:lnTo>
                  <a:pt x="0" y="5020059"/>
                </a:lnTo>
                <a:lnTo>
                  <a:pt x="124812" y="5016903"/>
                </a:lnTo>
                <a:cubicBezTo>
                  <a:pt x="2134018" y="4915056"/>
                  <a:pt x="3731779" y="3253717"/>
                  <a:pt x="3731779" y="1219200"/>
                </a:cubicBezTo>
                <a:cubicBezTo>
                  <a:pt x="3731779" y="825423"/>
                  <a:pt x="3671925" y="445625"/>
                  <a:pt x="3560819" y="88408"/>
                </a:cubicBezTo>
                <a:lnTo>
                  <a:pt x="3530905" y="0"/>
                </a:lnTo>
                <a:close/>
              </a:path>
            </a:pathLst>
          </a:custGeom>
          <a:solidFill>
            <a:srgbClr val="E993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íṥḷíďé">
            <a:extLst>
              <a:ext uri="{FF2B5EF4-FFF2-40B4-BE49-F238E27FC236}">
                <a16:creationId xmlns:a16="http://schemas.microsoft.com/office/drawing/2014/main" id="{FBEF8608-9134-B4C9-4A27-A0604D7F05F4}"/>
              </a:ext>
            </a:extLst>
          </p:cNvPr>
          <p:cNvSpPr/>
          <p:nvPr/>
        </p:nvSpPr>
        <p:spPr>
          <a:xfrm>
            <a:off x="824827" y="393510"/>
            <a:ext cx="10440203" cy="573391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127000" dir="4200000" algn="ctr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67D4174-7D40-4E1C-40FA-4DE58568C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 rot="2310958">
            <a:off x="423168" y="-179802"/>
            <a:ext cx="783340" cy="163274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DDB70E4-1B9A-5DC1-647A-18619E6A8FB3}"/>
              </a:ext>
            </a:extLst>
          </p:cNvPr>
          <p:cNvSpPr txBox="1"/>
          <p:nvPr/>
        </p:nvSpPr>
        <p:spPr>
          <a:xfrm>
            <a:off x="1147973" y="564574"/>
            <a:ext cx="3258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参考文献：</a:t>
            </a:r>
            <a:endParaRPr lang="en-US" altLang="zh-CN" sz="28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FBA7236-6C88-F386-FE76-E379078E4C1E}"/>
              </a:ext>
            </a:extLst>
          </p:cNvPr>
          <p:cNvSpPr txBox="1"/>
          <p:nvPr/>
        </p:nvSpPr>
        <p:spPr>
          <a:xfrm>
            <a:off x="1147973" y="1026239"/>
            <a:ext cx="9926950" cy="4620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/>
              <a:t>CSDN</a:t>
            </a:r>
            <a:r>
              <a:rPr lang="zh-CN" altLang="zh-CN" dirty="0"/>
              <a:t>博主</a:t>
            </a:r>
            <a:r>
              <a:rPr lang="en-US" altLang="zh-CN" dirty="0"/>
              <a:t> yewakui2253. </a:t>
            </a:r>
            <a:r>
              <a:rPr lang="en-US" altLang="zh-CN" b="1" dirty="0"/>
              <a:t>UML</a:t>
            </a:r>
            <a:r>
              <a:rPr lang="zh-CN" altLang="zh-CN" b="1" dirty="0"/>
              <a:t>静态图之对象图详解</a:t>
            </a:r>
            <a:r>
              <a:rPr lang="en-US" altLang="zh-CN" dirty="0"/>
              <a:t>[EB/OL]. CSDN</a:t>
            </a:r>
            <a:r>
              <a:rPr lang="zh-CN" altLang="zh-CN" dirty="0"/>
              <a:t>博客</a:t>
            </a:r>
            <a:r>
              <a:rPr lang="en-US" altLang="zh-CN" dirty="0"/>
              <a:t>, 2023.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/>
              <a:t>Visual Paradigm Guides. </a:t>
            </a:r>
            <a:r>
              <a:rPr lang="en-US" altLang="zh-CN" b="1" dirty="0"/>
              <a:t>UML</a:t>
            </a:r>
            <a:r>
              <a:rPr lang="zh-CN" altLang="zh-CN" b="1" dirty="0"/>
              <a:t>中的对象图：连接类与实例的桥梁</a:t>
            </a:r>
            <a:r>
              <a:rPr lang="en-US" altLang="zh-CN" dirty="0"/>
              <a:t>[EB/OL]. 2026.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dirty="0"/>
              <a:t>博客园博主</a:t>
            </a:r>
            <a:r>
              <a:rPr lang="en-US" altLang="zh-CN" dirty="0"/>
              <a:t> </a:t>
            </a:r>
            <a:r>
              <a:rPr lang="en-US" altLang="zh-CN" dirty="0" err="1"/>
              <a:t>kingwz</a:t>
            </a:r>
            <a:r>
              <a:rPr lang="en-US" altLang="zh-CN" dirty="0"/>
              <a:t>. </a:t>
            </a:r>
            <a:r>
              <a:rPr lang="en-US" altLang="zh-CN" b="1" dirty="0"/>
              <a:t>UML_</a:t>
            </a:r>
            <a:r>
              <a:rPr lang="zh-CN" altLang="zh-CN" b="1" dirty="0"/>
              <a:t>组件图</a:t>
            </a:r>
            <a:r>
              <a:rPr lang="en-US" altLang="zh-CN" b="1" dirty="0"/>
              <a:t>/</a:t>
            </a:r>
            <a:r>
              <a:rPr lang="zh-CN" altLang="zh-CN" b="1" dirty="0"/>
              <a:t>构件图</a:t>
            </a:r>
            <a:r>
              <a:rPr lang="en-US" altLang="zh-CN" dirty="0"/>
              <a:t>[EB/OL]. </a:t>
            </a:r>
            <a:r>
              <a:rPr lang="zh-CN" altLang="zh-CN" dirty="0"/>
              <a:t>博客园</a:t>
            </a:r>
            <a:r>
              <a:rPr lang="en-US" altLang="zh-CN" dirty="0"/>
              <a:t>, 2022.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dirty="0"/>
              <a:t>亿速云</a:t>
            </a:r>
            <a:r>
              <a:rPr lang="en-US" altLang="zh-CN" dirty="0"/>
              <a:t>. </a:t>
            </a:r>
            <a:r>
              <a:rPr lang="en-US" altLang="zh-CN" b="1" dirty="0"/>
              <a:t>UML</a:t>
            </a:r>
            <a:r>
              <a:rPr lang="zh-CN" altLang="zh-CN" b="1" dirty="0"/>
              <a:t>模型图及其功能是什么</a:t>
            </a:r>
            <a:r>
              <a:rPr lang="en-US" altLang="zh-CN" dirty="0"/>
              <a:t>[EB/OL]. 2022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dirty="0"/>
              <a:t>腾讯云</a:t>
            </a:r>
            <a:r>
              <a:rPr lang="en-US" altLang="zh-CN" dirty="0"/>
              <a:t>. </a:t>
            </a:r>
            <a:r>
              <a:rPr lang="en-US" altLang="zh-CN" b="1" dirty="0"/>
              <a:t>UML</a:t>
            </a:r>
            <a:r>
              <a:rPr lang="zh-CN" altLang="zh-CN" b="1" dirty="0"/>
              <a:t>建模简单入门</a:t>
            </a:r>
            <a:r>
              <a:rPr lang="en-US" altLang="zh-CN" dirty="0"/>
              <a:t>[EB/OL]. 2024.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dirty="0"/>
              <a:t>谷哥的小弟</a:t>
            </a:r>
            <a:r>
              <a:rPr lang="en-US" altLang="zh-CN" dirty="0"/>
              <a:t>(</a:t>
            </a:r>
            <a:r>
              <a:rPr lang="en-US" altLang="zh-CN" dirty="0" err="1"/>
              <a:t>lfdfhl</a:t>
            </a:r>
            <a:r>
              <a:rPr lang="en-US" altLang="zh-CN" dirty="0"/>
              <a:t>). </a:t>
            </a:r>
            <a:r>
              <a:rPr lang="en-US" altLang="zh-CN" b="1" dirty="0"/>
              <a:t>UML</a:t>
            </a:r>
            <a:r>
              <a:rPr lang="zh-CN" altLang="zh-CN" b="1" dirty="0"/>
              <a:t>建模图文详解教程</a:t>
            </a:r>
            <a:r>
              <a:rPr lang="en-US" altLang="zh-CN" b="1" dirty="0"/>
              <a:t>05——</a:t>
            </a:r>
            <a:r>
              <a:rPr lang="zh-CN" altLang="zh-CN" b="1" dirty="0"/>
              <a:t>包图</a:t>
            </a:r>
            <a:r>
              <a:rPr lang="en-US" altLang="zh-CN" dirty="0"/>
              <a:t>[EB/OL]. CSDN</a:t>
            </a:r>
            <a:r>
              <a:rPr lang="zh-CN" altLang="zh-CN" dirty="0"/>
              <a:t>博客</a:t>
            </a:r>
            <a:r>
              <a:rPr lang="en-US" altLang="zh-CN" dirty="0"/>
              <a:t>, 2023.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/>
              <a:t>CSDN</a:t>
            </a:r>
            <a:r>
              <a:rPr lang="zh-CN" altLang="zh-CN" dirty="0"/>
              <a:t>博主</a:t>
            </a:r>
            <a:r>
              <a:rPr lang="en-US" altLang="zh-CN" dirty="0"/>
              <a:t> a2939402202. </a:t>
            </a:r>
            <a:r>
              <a:rPr lang="zh-CN" altLang="zh-CN" b="1" dirty="0"/>
              <a:t>包图画法注意规范</a:t>
            </a:r>
            <a:r>
              <a:rPr lang="en-US" altLang="zh-CN" dirty="0"/>
              <a:t>[EB/OL]. CSDN</a:t>
            </a:r>
            <a:r>
              <a:rPr lang="zh-CN" altLang="zh-CN" dirty="0"/>
              <a:t>博客</a:t>
            </a:r>
            <a:r>
              <a:rPr lang="en-US" altLang="zh-CN" dirty="0"/>
              <a:t>, 2022.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zh-CN" dirty="0"/>
              <a:t>博客园博主</a:t>
            </a:r>
            <a:r>
              <a:rPr lang="en-US" altLang="zh-CN" dirty="0"/>
              <a:t> GGYS. </a:t>
            </a:r>
            <a:r>
              <a:rPr lang="zh-CN" altLang="zh-CN" b="1" dirty="0"/>
              <a:t>架构学习</a:t>
            </a:r>
            <a:r>
              <a:rPr lang="en-US" altLang="zh-CN" b="1" dirty="0"/>
              <a:t>-</a:t>
            </a:r>
            <a:r>
              <a:rPr lang="zh-CN" altLang="zh-CN" b="1" dirty="0"/>
              <a:t>包图</a:t>
            </a:r>
            <a:r>
              <a:rPr lang="en-US" altLang="zh-CN" dirty="0"/>
              <a:t>[EB/OL]. </a:t>
            </a:r>
            <a:r>
              <a:rPr lang="zh-CN" altLang="zh-CN" dirty="0"/>
              <a:t>博客园</a:t>
            </a:r>
            <a:r>
              <a:rPr lang="en-US" altLang="zh-CN" dirty="0"/>
              <a:t>, 2023.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/>
              <a:t>CSDN</a:t>
            </a:r>
            <a:r>
              <a:rPr lang="zh-CN" altLang="zh-CN" dirty="0"/>
              <a:t>博主</a:t>
            </a:r>
            <a:r>
              <a:rPr lang="en-US" altLang="zh-CN" dirty="0"/>
              <a:t> </a:t>
            </a:r>
            <a:r>
              <a:rPr lang="en-US" altLang="zh-CN" dirty="0" err="1"/>
              <a:t>giszz</a:t>
            </a:r>
            <a:r>
              <a:rPr lang="en-US" altLang="zh-CN" dirty="0"/>
              <a:t>. </a:t>
            </a:r>
            <a:r>
              <a:rPr lang="zh-CN" altLang="zh-CN" b="1" dirty="0"/>
              <a:t>〖</a:t>
            </a:r>
            <a:r>
              <a:rPr lang="en-US" altLang="zh-CN" b="1" dirty="0"/>
              <a:t>UML</a:t>
            </a:r>
            <a:r>
              <a:rPr lang="zh-CN" altLang="zh-CN" b="1" dirty="0"/>
              <a:t>〗第</a:t>
            </a:r>
            <a:r>
              <a:rPr lang="en-US" altLang="zh-CN" b="1" dirty="0"/>
              <a:t>17</a:t>
            </a:r>
            <a:r>
              <a:rPr lang="zh-CN" altLang="zh-CN" b="1" dirty="0"/>
              <a:t>篇 包图</a:t>
            </a:r>
            <a:r>
              <a:rPr lang="en-US" altLang="zh-CN" dirty="0"/>
              <a:t>[EB/OL]. CSDN</a:t>
            </a:r>
            <a:r>
              <a:rPr lang="zh-CN" altLang="zh-CN" dirty="0"/>
              <a:t>博客</a:t>
            </a:r>
            <a:r>
              <a:rPr lang="en-US" altLang="zh-CN" dirty="0"/>
              <a:t>, 2024.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/>
              <a:t>CSDN</a:t>
            </a:r>
            <a:r>
              <a:rPr lang="zh-CN" altLang="zh-CN" dirty="0"/>
              <a:t>博主</a:t>
            </a:r>
            <a:r>
              <a:rPr lang="en-US" altLang="zh-CN" dirty="0"/>
              <a:t> slty_123. </a:t>
            </a:r>
            <a:r>
              <a:rPr lang="en-US" altLang="zh-CN" b="1" dirty="0"/>
              <a:t>UML</a:t>
            </a:r>
            <a:r>
              <a:rPr lang="zh-CN" altLang="zh-CN" b="1" dirty="0"/>
              <a:t>包图主要要点和作用，举例说明</a:t>
            </a:r>
            <a:r>
              <a:rPr lang="en-US" altLang="zh-CN" dirty="0"/>
              <a:t>[EB/OL]. CSDN</a:t>
            </a:r>
            <a:r>
              <a:rPr lang="zh-CN" altLang="zh-CN" dirty="0"/>
              <a:t>博客</a:t>
            </a:r>
            <a:r>
              <a:rPr lang="en-US" altLang="zh-CN" dirty="0"/>
              <a:t>, 2019.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 err="1"/>
              <a:t>ProcessOn</a:t>
            </a:r>
            <a:r>
              <a:rPr lang="en-US" altLang="zh-CN" dirty="0"/>
              <a:t>. </a:t>
            </a:r>
            <a:r>
              <a:rPr lang="zh-CN" altLang="zh-CN" b="1" dirty="0"/>
              <a:t>《</a:t>
            </a:r>
            <a:r>
              <a:rPr lang="en-US" altLang="zh-CN" b="1" dirty="0"/>
              <a:t>‘</a:t>
            </a:r>
            <a:r>
              <a:rPr lang="zh-CN" altLang="zh-CN" b="1" dirty="0"/>
              <a:t>这就是</a:t>
            </a:r>
            <a:r>
              <a:rPr lang="en-US" altLang="zh-CN" b="1" dirty="0"/>
              <a:t>UML</a:t>
            </a:r>
            <a:r>
              <a:rPr lang="zh-CN" altLang="zh-CN" b="1" dirty="0"/>
              <a:t>！</a:t>
            </a:r>
            <a:r>
              <a:rPr lang="en-US" altLang="zh-CN" b="1" dirty="0"/>
              <a:t>’</a:t>
            </a:r>
            <a:r>
              <a:rPr lang="zh-CN" altLang="zh-CN" b="1" dirty="0"/>
              <a:t>系列内容第</a:t>
            </a:r>
            <a:r>
              <a:rPr lang="en-US" altLang="zh-CN" b="1" dirty="0"/>
              <a:t>11</a:t>
            </a:r>
            <a:r>
              <a:rPr lang="zh-CN" altLang="zh-CN" b="1" dirty="0"/>
              <a:t>讲：包图》</a:t>
            </a:r>
            <a:r>
              <a:rPr lang="en-US" altLang="zh-CN" dirty="0"/>
              <a:t>[EB/OL].</a:t>
            </a:r>
            <a:endParaRPr lang="zh-CN" altLang="en-US" dirty="0"/>
          </a:p>
        </p:txBody>
      </p:sp>
      <p:sp>
        <p:nvSpPr>
          <p:cNvPr id="8" name="ïṣḷïḑê">
            <a:extLst>
              <a:ext uri="{FF2B5EF4-FFF2-40B4-BE49-F238E27FC236}">
                <a16:creationId xmlns:a16="http://schemas.microsoft.com/office/drawing/2014/main" id="{E28601D3-54D6-2FE6-25E8-722C986DFAD4}"/>
              </a:ext>
            </a:extLst>
          </p:cNvPr>
          <p:cNvSpPr/>
          <p:nvPr/>
        </p:nvSpPr>
        <p:spPr>
          <a:xfrm flipH="1">
            <a:off x="1449677" y="3601393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9" name="ïṣḷïḑê">
            <a:extLst>
              <a:ext uri="{FF2B5EF4-FFF2-40B4-BE49-F238E27FC236}">
                <a16:creationId xmlns:a16="http://schemas.microsoft.com/office/drawing/2014/main" id="{B6BA11CE-DA72-0F93-D712-59150F3EFFE3}"/>
              </a:ext>
            </a:extLst>
          </p:cNvPr>
          <p:cNvSpPr/>
          <p:nvPr/>
        </p:nvSpPr>
        <p:spPr>
          <a:xfrm flipH="1">
            <a:off x="1449677" y="4414122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10" name="îš1íḓê">
            <a:extLst>
              <a:ext uri="{FF2B5EF4-FFF2-40B4-BE49-F238E27FC236}">
                <a16:creationId xmlns:a16="http://schemas.microsoft.com/office/drawing/2014/main" id="{37091D4B-DF4D-6AAF-7359-24FF8D81D2EF}"/>
              </a:ext>
            </a:extLst>
          </p:cNvPr>
          <p:cNvSpPr/>
          <p:nvPr/>
        </p:nvSpPr>
        <p:spPr>
          <a:xfrm flipH="1">
            <a:off x="1449677" y="3874678"/>
            <a:ext cx="180000" cy="180000"/>
          </a:xfrm>
          <a:prstGeom prst="roundRect">
            <a:avLst>
              <a:gd name="adj" fmla="val 0"/>
            </a:avLst>
          </a:prstGeom>
          <a:solidFill>
            <a:srgbClr val="E9939A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4400"/>
            <a:endParaRPr lang="zh-CN" altLang="en-US" sz="2000" b="1" spc="-15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4940578"/>
      </p:ext>
    </p:extLst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16A89-C547-F7D1-A707-FFC75D50C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íšľíde">
            <a:extLst>
              <a:ext uri="{FF2B5EF4-FFF2-40B4-BE49-F238E27FC236}">
                <a16:creationId xmlns:a16="http://schemas.microsoft.com/office/drawing/2014/main" id="{1D42A206-5F47-96AE-6FEB-A483F76811B1}"/>
              </a:ext>
            </a:extLst>
          </p:cNvPr>
          <p:cNvSpPr/>
          <p:nvPr/>
        </p:nvSpPr>
        <p:spPr>
          <a:xfrm>
            <a:off x="11169122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iş1ïďê">
            <a:extLst>
              <a:ext uri="{FF2B5EF4-FFF2-40B4-BE49-F238E27FC236}">
                <a16:creationId xmlns:a16="http://schemas.microsoft.com/office/drawing/2014/main" id="{368B48C7-DB7E-2CFD-38FF-3AC99A7FB353}"/>
              </a:ext>
            </a:extLst>
          </p:cNvPr>
          <p:cNvSpPr/>
          <p:nvPr/>
        </p:nvSpPr>
        <p:spPr>
          <a:xfrm>
            <a:off x="11362274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" name="iśḻíḋe">
            <a:extLst>
              <a:ext uri="{FF2B5EF4-FFF2-40B4-BE49-F238E27FC236}">
                <a16:creationId xmlns:a16="http://schemas.microsoft.com/office/drawing/2014/main" id="{0415FABF-BA71-D22C-F16E-C7C44E94AB3B}"/>
              </a:ext>
            </a:extLst>
          </p:cNvPr>
          <p:cNvSpPr/>
          <p:nvPr/>
        </p:nvSpPr>
        <p:spPr>
          <a:xfrm>
            <a:off x="11265698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îṡḻîdê">
            <a:extLst>
              <a:ext uri="{FF2B5EF4-FFF2-40B4-BE49-F238E27FC236}">
                <a16:creationId xmlns:a16="http://schemas.microsoft.com/office/drawing/2014/main" id="{179E43AB-0249-C65A-8058-E5916E0A1377}"/>
              </a:ext>
            </a:extLst>
          </p:cNvPr>
          <p:cNvSpPr/>
          <p:nvPr/>
        </p:nvSpPr>
        <p:spPr>
          <a:xfrm>
            <a:off x="11458849" y="6074049"/>
            <a:ext cx="60051" cy="60051"/>
          </a:xfrm>
          <a:prstGeom prst="ellipse">
            <a:avLst/>
          </a:prstGeom>
          <a:solidFill>
            <a:srgbClr val="E9939A"/>
          </a:solidFill>
          <a:ln w="3175">
            <a:solidFill>
              <a:srgbClr val="E993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300980B-F39E-5AEA-259A-660B68F92A01}"/>
              </a:ext>
            </a:extLst>
          </p:cNvPr>
          <p:cNvGrpSpPr/>
          <p:nvPr/>
        </p:nvGrpSpPr>
        <p:grpSpPr>
          <a:xfrm>
            <a:off x="0" y="153352"/>
            <a:ext cx="3592774" cy="1327337"/>
            <a:chOff x="-124945" y="-80538"/>
            <a:chExt cx="3592774" cy="1327337"/>
          </a:xfrm>
        </p:grpSpPr>
        <p:sp>
          <p:nvSpPr>
            <p:cNvPr id="14" name="iṩļïḓè">
              <a:extLst>
                <a:ext uri="{FF2B5EF4-FFF2-40B4-BE49-F238E27FC236}">
                  <a16:creationId xmlns:a16="http://schemas.microsoft.com/office/drawing/2014/main" id="{5F928AA1-EF0A-16BD-D9B0-1D07F6FB12A4}"/>
                </a:ext>
              </a:extLst>
            </p:cNvPr>
            <p:cNvSpPr txBox="1"/>
            <p:nvPr/>
          </p:nvSpPr>
          <p:spPr bwMode="auto">
            <a:xfrm>
              <a:off x="415605" y="409465"/>
              <a:ext cx="2475194" cy="421718"/>
            </a:xfrm>
            <a:prstGeom prst="rect">
              <a:avLst/>
            </a:prstGeom>
            <a:solidFill>
              <a:srgbClr val="E9939A"/>
            </a:solidFill>
            <a:ln w="9525">
              <a:noFill/>
              <a:miter lim="800000"/>
            </a:ln>
          </p:spPr>
          <p:txBody>
            <a:bodyPr wrap="square" lIns="91440" tIns="45720" rIns="91440" bIns="45720" anchor="ctr" anchorCtr="0">
              <a:normAutofit fontScale="850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小组分工及评分</a:t>
              </a: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BB453D38-6740-D6FC-C1E3-DE2C61DFE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5013422">
              <a:off x="274630" y="-480113"/>
              <a:ext cx="736994" cy="1536144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254FB0E5-E839-B22B-B90F-5075C9562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64" t="13333" r="23997" b="9778"/>
            <a:stretch>
              <a:fillRect/>
            </a:stretch>
          </p:blipFill>
          <p:spPr>
            <a:xfrm rot="16046210">
              <a:off x="2410926" y="189895"/>
              <a:ext cx="685336" cy="1428471"/>
            </a:xfrm>
            <a:prstGeom prst="rect">
              <a:avLst/>
            </a:prstGeom>
          </p:spPr>
        </p:pic>
      </p:grpSp>
      <p:sp>
        <p:nvSpPr>
          <p:cNvPr id="2" name="ïṣḷïḑê">
            <a:extLst>
              <a:ext uri="{FF2B5EF4-FFF2-40B4-BE49-F238E27FC236}">
                <a16:creationId xmlns:a16="http://schemas.microsoft.com/office/drawing/2014/main" id="{F64E9DA1-8923-65D1-05B1-A0066C127B25}"/>
              </a:ext>
            </a:extLst>
          </p:cNvPr>
          <p:cNvSpPr/>
          <p:nvPr/>
        </p:nvSpPr>
        <p:spPr>
          <a:xfrm flipH="1">
            <a:off x="409260" y="5009228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3" name="ïṣḷïḑê">
            <a:extLst>
              <a:ext uri="{FF2B5EF4-FFF2-40B4-BE49-F238E27FC236}">
                <a16:creationId xmlns:a16="http://schemas.microsoft.com/office/drawing/2014/main" id="{C2084B21-35E5-76EA-6571-CC0AD2400D6F}"/>
              </a:ext>
            </a:extLst>
          </p:cNvPr>
          <p:cNvSpPr/>
          <p:nvPr/>
        </p:nvSpPr>
        <p:spPr>
          <a:xfrm flipH="1">
            <a:off x="399327" y="3742502"/>
            <a:ext cx="180000" cy="180000"/>
          </a:xfrm>
          <a:prstGeom prst="round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 w="317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 fontScale="40000" lnSpcReduction="20000"/>
          </a:bodyPr>
          <a:lstStyle/>
          <a:p>
            <a:pPr algn="ctr"/>
            <a:endParaRPr lang="zh-CN" altLang="en-US"/>
          </a:p>
        </p:txBody>
      </p:sp>
      <p:sp>
        <p:nvSpPr>
          <p:cNvPr id="5" name="îš1íḓê">
            <a:extLst>
              <a:ext uri="{FF2B5EF4-FFF2-40B4-BE49-F238E27FC236}">
                <a16:creationId xmlns:a16="http://schemas.microsoft.com/office/drawing/2014/main" id="{C9DD7BB4-03E8-BDE6-0025-1A2DE4060EDE}"/>
              </a:ext>
            </a:extLst>
          </p:cNvPr>
          <p:cNvSpPr/>
          <p:nvPr/>
        </p:nvSpPr>
        <p:spPr>
          <a:xfrm flipH="1">
            <a:off x="399327" y="4380096"/>
            <a:ext cx="180000" cy="180000"/>
          </a:xfrm>
          <a:prstGeom prst="roundRect">
            <a:avLst>
              <a:gd name="adj" fmla="val 0"/>
            </a:avLst>
          </a:prstGeom>
          <a:solidFill>
            <a:srgbClr val="E9939A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4400"/>
            <a:endParaRPr lang="zh-CN" altLang="en-US" sz="2000" b="1" spc="-150">
              <a:solidFill>
                <a:schemeClr val="bg1"/>
              </a:solidFill>
            </a:endParaRPr>
          </a:p>
        </p:txBody>
      </p:sp>
      <p:sp>
        <p:nvSpPr>
          <p:cNvPr id="6" name="îš1íḓê">
            <a:extLst>
              <a:ext uri="{FF2B5EF4-FFF2-40B4-BE49-F238E27FC236}">
                <a16:creationId xmlns:a16="http://schemas.microsoft.com/office/drawing/2014/main" id="{025D7F2B-DD49-E55D-E859-144652897908}"/>
              </a:ext>
            </a:extLst>
          </p:cNvPr>
          <p:cNvSpPr/>
          <p:nvPr/>
        </p:nvSpPr>
        <p:spPr>
          <a:xfrm flipH="1">
            <a:off x="409260" y="5680111"/>
            <a:ext cx="180000" cy="180000"/>
          </a:xfrm>
          <a:prstGeom prst="roundRect">
            <a:avLst>
              <a:gd name="adj" fmla="val 0"/>
            </a:avLst>
          </a:prstGeom>
          <a:solidFill>
            <a:srgbClr val="E9939A"/>
          </a:solidFill>
          <a:ln w="12700" cap="rnd">
            <a:noFill/>
            <a:prstDash val="solid"/>
            <a:round/>
          </a:ln>
          <a:effectLst>
            <a:outerShdw blurRad="254000" dist="127000" algn="ctr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 defTabSz="914400"/>
            <a:endParaRPr lang="zh-CN" altLang="en-US" sz="2000" b="1" spc="-150">
              <a:solidFill>
                <a:schemeClr val="bg1"/>
              </a:solidFill>
            </a:endParaRP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C424A887-1F80-DE5B-6A59-3F83DBB0E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868023"/>
              </p:ext>
            </p:extLst>
          </p:nvPr>
        </p:nvGraphicFramePr>
        <p:xfrm>
          <a:off x="1203215" y="2073808"/>
          <a:ext cx="9880846" cy="2121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317">
                  <a:extLst>
                    <a:ext uri="{9D8B030D-6E8A-4147-A177-3AD203B41FA5}">
                      <a16:colId xmlns:a16="http://schemas.microsoft.com/office/drawing/2014/main" val="1948437257"/>
                    </a:ext>
                  </a:extLst>
                </a:gridCol>
                <a:gridCol w="3970065">
                  <a:extLst>
                    <a:ext uri="{9D8B030D-6E8A-4147-A177-3AD203B41FA5}">
                      <a16:colId xmlns:a16="http://schemas.microsoft.com/office/drawing/2014/main" val="2293222488"/>
                    </a:ext>
                  </a:extLst>
                </a:gridCol>
                <a:gridCol w="3611464">
                  <a:extLst>
                    <a:ext uri="{9D8B030D-6E8A-4147-A177-3AD203B41FA5}">
                      <a16:colId xmlns:a16="http://schemas.microsoft.com/office/drawing/2014/main" val="3608240604"/>
                    </a:ext>
                  </a:extLst>
                </a:gridCol>
              </a:tblGrid>
              <a:tr h="70725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endParaRPr lang="en-US" altLang="zh-CN" sz="28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成员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分工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endParaRPr lang="en-US" altLang="zh-CN" sz="28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quote-cjk-patch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quote-cjk-patch"/>
                        </a:rPr>
                        <a:t>评分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308006"/>
                  </a:ext>
                </a:extLst>
              </a:tr>
              <a:tr h="70725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陈天阳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2000" b="0" dirty="0">
                          <a:effectLst/>
                          <a:latin typeface="quote-cjk-patch"/>
                        </a:rPr>
                        <a:t>PPT</a:t>
                      </a: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大纲</a:t>
                      </a:r>
                      <a:r>
                        <a:rPr lang="en-US" altLang="zh-CN" sz="2000" b="0" dirty="0">
                          <a:effectLst/>
                          <a:latin typeface="quote-cjk-patch"/>
                        </a:rPr>
                        <a:t>+</a:t>
                      </a: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主要内容</a:t>
                      </a:r>
                      <a:r>
                        <a:rPr lang="en-US" altLang="zh-CN" sz="2000" b="0" dirty="0">
                          <a:effectLst/>
                          <a:latin typeface="quote-cjk-patch"/>
                        </a:rPr>
                        <a:t>+</a:t>
                      </a: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展示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2000" b="0" dirty="0">
                          <a:effectLst/>
                          <a:latin typeface="quote-cjk-patch"/>
                        </a:rPr>
                        <a:t>98</a:t>
                      </a:r>
                      <a:endParaRPr lang="zh-CN" altLang="en-US" sz="2000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953894"/>
                  </a:ext>
                </a:extLst>
              </a:tr>
              <a:tr h="70725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张明慧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2000" b="0" dirty="0">
                          <a:effectLst/>
                          <a:latin typeface="quote-cjk-patch"/>
                        </a:rPr>
                        <a:t>PPT</a:t>
                      </a: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制作</a:t>
                      </a:r>
                      <a:r>
                        <a:rPr lang="en-US" altLang="zh-CN" sz="2000" b="0" dirty="0">
                          <a:effectLst/>
                          <a:latin typeface="quote-cjk-patch"/>
                        </a:rPr>
                        <a:t>+</a:t>
                      </a:r>
                      <a:r>
                        <a:rPr lang="zh-CN" altLang="en-US" sz="2000" b="0" dirty="0">
                          <a:effectLst/>
                          <a:latin typeface="quote-cjk-patch"/>
                        </a:rPr>
                        <a:t>优化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2000" b="0" dirty="0">
                          <a:effectLst/>
                          <a:latin typeface="quote-cjk-patch"/>
                        </a:rPr>
                        <a:t>100</a:t>
                      </a:r>
                      <a:endParaRPr lang="zh-CN" altLang="en-US" sz="2000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6699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748243289"/>
      </p:ext>
    </p:extLst>
  </p:cSld>
  <p:clrMapOvr>
    <a:masterClrMapping/>
  </p:clrMapOvr>
  <p:transition spd="slow" advClick="0" advTm="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1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30" b="24000"/>
          <a:stretch>
            <a:fillRect/>
          </a:stretch>
        </p:blipFill>
        <p:spPr>
          <a:xfrm>
            <a:off x="9990725" y="0"/>
            <a:ext cx="2201275" cy="3111074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30" b="24000"/>
          <a:stretch>
            <a:fillRect/>
          </a:stretch>
        </p:blipFill>
        <p:spPr>
          <a:xfrm rot="10800000">
            <a:off x="-1" y="3746926"/>
            <a:ext cx="2201275" cy="3111074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1738930" y="1108710"/>
            <a:ext cx="8714140" cy="4640580"/>
            <a:chOff x="3279740" y="1363979"/>
            <a:chExt cx="5830644" cy="4130041"/>
          </a:xfrm>
        </p:grpSpPr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330" t="17556" r="15663" b="18444"/>
            <a:stretch>
              <a:fillRect/>
            </a:stretch>
          </p:blipFill>
          <p:spPr>
            <a:xfrm rot="5400000">
              <a:off x="4130041" y="513678"/>
              <a:ext cx="4130041" cy="5830644"/>
            </a:xfrm>
            <a:prstGeom prst="rect">
              <a:avLst/>
            </a:prstGeom>
          </p:spPr>
        </p:pic>
        <p:sp>
          <p:nvSpPr>
            <p:cNvPr id="27" name="íş1íďé"/>
            <p:cNvSpPr/>
            <p:nvPr/>
          </p:nvSpPr>
          <p:spPr>
            <a:xfrm>
              <a:off x="3836003" y="1961195"/>
              <a:ext cx="4805077" cy="2935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406400" dist="355600" dir="2880000" sx="92000" sy="92000" algn="ctr" rotWithShape="0">
                <a:srgbClr val="000000">
                  <a:alpha val="1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>
            <a:off x="1203874" y="851819"/>
            <a:ext cx="2472901" cy="5154361"/>
          </a:xfrm>
          <a:prstGeom prst="rect">
            <a:avLst/>
          </a:prstGeom>
        </p:spPr>
      </p:pic>
      <p:sp>
        <p:nvSpPr>
          <p:cNvPr id="29" name="îṣ1iďe"/>
          <p:cNvSpPr/>
          <p:nvPr/>
        </p:nvSpPr>
        <p:spPr>
          <a:xfrm flipH="1">
            <a:off x="3345089" y="3094383"/>
            <a:ext cx="330200" cy="330200"/>
          </a:xfrm>
          <a:prstGeom prst="ellipse">
            <a:avLst/>
          </a:prstGeom>
          <a:solidFill>
            <a:srgbClr val="ECA1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îsliḍe"/>
          <p:cNvSpPr/>
          <p:nvPr/>
        </p:nvSpPr>
        <p:spPr>
          <a:xfrm rot="5400000">
            <a:off x="3464263" y="3222306"/>
            <a:ext cx="115661" cy="7436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î$ḷíḋè"/>
          <p:cNvSpPr/>
          <p:nvPr/>
        </p:nvSpPr>
        <p:spPr>
          <a:xfrm>
            <a:off x="8556252" y="3094383"/>
            <a:ext cx="330200" cy="330200"/>
          </a:xfrm>
          <a:prstGeom prst="ellipse">
            <a:avLst/>
          </a:prstGeom>
          <a:solidFill>
            <a:srgbClr val="ECA1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ïṥḻiḍê"/>
          <p:cNvSpPr/>
          <p:nvPr/>
        </p:nvSpPr>
        <p:spPr>
          <a:xfrm rot="16200000" flipH="1">
            <a:off x="8651617" y="3222306"/>
            <a:ext cx="115661" cy="7436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3345089" y="2655597"/>
            <a:ext cx="5541363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E9939A"/>
                </a:solidFill>
                <a:latin typeface="思源宋体 CN Heavy" pitchFamily="18" charset="-122"/>
                <a:ea typeface="思源宋体 CN Heavy" pitchFamily="18" charset="-122"/>
              </a:rPr>
              <a:t>THANKS</a:t>
            </a:r>
            <a:endParaRPr lang="zh-CN" altLang="en-US" sz="8000" dirty="0">
              <a:solidFill>
                <a:srgbClr val="E9939A"/>
              </a:solidFill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34" name="iṩļïḓè"/>
          <p:cNvSpPr txBox="1"/>
          <p:nvPr/>
        </p:nvSpPr>
        <p:spPr bwMode="auto">
          <a:xfrm>
            <a:off x="4856916" y="2109218"/>
            <a:ext cx="2475194" cy="42171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altLang="zh-CN" b="1" dirty="0">
                <a:solidFill>
                  <a:srgbClr val="E9939A"/>
                </a:solidFill>
              </a:rPr>
              <a:t>G01</a:t>
            </a:r>
            <a:r>
              <a:rPr lang="zh-CN" altLang="en-US" b="1" dirty="0">
                <a:solidFill>
                  <a:srgbClr val="E9939A"/>
                </a:solidFill>
              </a:rPr>
              <a:t>小组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4" t="13333" r="23997" b="9778"/>
          <a:stretch>
            <a:fillRect/>
          </a:stretch>
        </p:blipFill>
        <p:spPr>
          <a:xfrm rot="11425656">
            <a:off x="8712771" y="851818"/>
            <a:ext cx="2472901" cy="5154361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3" grpId="0"/>
      <p:bldP spid="3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ISPRING_PRESENTATION_TITLE" val="PowerPoint 演示文稿"/>
  <p:tag name="OPCH-C3BCF9538100E8A4442990B258481E98E7D61B3F2D66BD3EC9354926ED0D12E9" val="[{&quot;GradientColorId&quot;:&quot;&quot;,&quot;IsFree&quot;:true,&quot;IsGradient&quot;:false,&quot;ImagePath&quot;:&quot;&quot;,&quot;GradientColor&quot;:null,&quot;SimpleColor&quot;:&quot;#953735&quot;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9946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9949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9938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9939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9949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7603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9921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9935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9935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63773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7597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7604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7604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9935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1159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1159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1159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1159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1159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1159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4636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1159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7604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7604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4640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9937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4652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1159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1153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7604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7604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7604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63773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7604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7604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451159;"/>
</p:tagLst>
</file>

<file path=ppt/theme/theme1.xml><?xml version="1.0" encoding="utf-8"?>
<a:theme xmlns:a="http://schemas.openxmlformats.org/drawingml/2006/main" name="第一PPT，www.1ppt.com">
  <a:themeElements>
    <a:clrScheme name="自定义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79646"/>
      </a:hlink>
      <a:folHlink>
        <a:srgbClr val="F79646"/>
      </a:folHlink>
    </a:clrScheme>
    <a:fontScheme name="Office 主题​​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450</TotalTime>
  <Words>2433</Words>
  <Application>Microsoft Office PowerPoint</Application>
  <PresentationFormat>宽屏</PresentationFormat>
  <Paragraphs>392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42</vt:i4>
      </vt:variant>
    </vt:vector>
  </HeadingPairs>
  <TitlesOfParts>
    <vt:vector size="53" baseType="lpstr">
      <vt:lpstr>-apple-system</vt:lpstr>
      <vt:lpstr>Menlo</vt:lpstr>
      <vt:lpstr>quote-cjk-patch</vt:lpstr>
      <vt:lpstr>等线</vt:lpstr>
      <vt:lpstr>楷体</vt:lpstr>
      <vt:lpstr>思源黑体 CN Heavy</vt:lpstr>
      <vt:lpstr>思源宋体 CN Heavy</vt:lpstr>
      <vt:lpstr>微软雅黑</vt:lpstr>
      <vt:lpstr>Arial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鎏金风</dc:title>
  <dc:creator>第一PPT</dc:creator>
  <cp:keywords>www.1ppt.com</cp:keywords>
  <dc:description>www.1ppt.com</dc:description>
  <cp:lastModifiedBy>haha li</cp:lastModifiedBy>
  <cp:revision>443</cp:revision>
  <dcterms:created xsi:type="dcterms:W3CDTF">2019-03-29T12:25:00Z</dcterms:created>
  <dcterms:modified xsi:type="dcterms:W3CDTF">2026-05-22T15:46:46Z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61C471E05DA9417EABA59EE6C24000A6_12</vt:lpwstr>
  </property>
  <property fmtid="{D5CDD505-2E9C-101B-9397-08002B2CF9AE}" pid="3" name="KSOProductBuildVer">
    <vt:lpwstr>2052-12.1.0.21915</vt:lpwstr>
  </property>
</Properties>
</file>