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95" r:id="rId17"/>
    <p:sldId id="301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99" r:id="rId28"/>
    <p:sldId id="302" r:id="rId29"/>
    <p:sldId id="300" r:id="rId30"/>
    <p:sldId id="303" r:id="rId31"/>
    <p:sldId id="279" r:id="rId32"/>
    <p:sldId id="280" r:id="rId33"/>
    <p:sldId id="281" r:id="rId34"/>
    <p:sldId id="282" r:id="rId35"/>
    <p:sldId id="283" r:id="rId36"/>
    <p:sldId id="284" r:id="rId37"/>
    <p:sldId id="298" r:id="rId38"/>
    <p:sldId id="304" r:id="rId39"/>
    <p:sldId id="285" r:id="rId40"/>
    <p:sldId id="286" r:id="rId41"/>
    <p:sldId id="287" r:id="rId42"/>
    <p:sldId id="288" r:id="rId43"/>
    <p:sldId id="289" r:id="rId44"/>
    <p:sldId id="290" r:id="rId45"/>
    <p:sldId id="297" r:id="rId46"/>
    <p:sldId id="291" r:id="rId47"/>
    <p:sldId id="292" r:id="rId48"/>
    <p:sldId id="293" r:id="rId49"/>
    <p:sldId id="29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90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 flipH="1">
            <a:off x="-6350" y="0"/>
            <a:ext cx="12192000" cy="6858000"/>
            <a:chOff x="0" y="0"/>
            <a:chExt cx="12192000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0070A">
                    <a:alpha val="40000"/>
                  </a:srgbClr>
                </a:gs>
                <a:gs pos="100000">
                  <a:srgbClr val="00070A">
                    <a:alpha val="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90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90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43000">
                  <a:srgbClr val="00070A">
                    <a:alpha val="100000"/>
                  </a:srgbClr>
                </a:gs>
                <a:gs pos="100000">
                  <a:srgbClr val="00070A">
                    <a:alpha val="50196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90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90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090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090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 flipH="1"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0070A">
                    <a:alpha val="40000"/>
                  </a:srgbClr>
                </a:gs>
                <a:gs pos="100000">
                  <a:srgbClr val="00070A">
                    <a:alpha val="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10055225" cy="22174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UML基础4——综合应用与问题解答</a:t>
            </a:r>
            <a:endParaRPr lang="en-US" sz="4800" b="1">
              <a:solidFill>
                <a:srgbClr val="FFFFFF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0400" y="3347418"/>
            <a:ext cx="7557477" cy="1828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翻转课堂 - 知识内化与实战解析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caed9d6-c0d5-402d-a13c-963d60d56e8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0" y="1130300"/>
            <a:ext cx="12192000" cy="4305311"/>
            <a:chOff x="0" y="1130300"/>
            <a:chExt cx="12192000" cy="4305311"/>
          </a:xfrm>
        </p:grpSpPr>
        <p:sp>
          <p:nvSpPr>
            <p:cNvPr id="4" name="AutoShape 4"/>
            <p:cNvSpPr/>
            <p:nvPr/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rgbClr val="F84D4D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0400" y="3944816"/>
              <a:ext cx="10858500" cy="0"/>
            </a:xfrm>
            <a:prstGeom prst="straightConnector1">
              <a:avLst/>
            </a:prstGeom>
            <a:ln w="6350">
              <a:gradFill>
                <a:gsLst>
                  <a:gs pos="0">
                    <a:srgbClr val="F84D4D">
                      <a:alpha val="0"/>
                    </a:srgbClr>
                  </a:gs>
                  <a:gs pos="100000">
                    <a:srgbClr val="F84D4D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triangl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6750" y="3650127"/>
              <a:ext cx="2108228" cy="1785484"/>
              <a:chOff x="666750" y="3650127"/>
              <a:chExt cx="2108228" cy="178548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75000">
                    <a:srgbClr val="F84D4D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grpSp>
            <p:nvGrpSpPr>
              <p:cNvPr id="8" name="Group 8"/>
              <p:cNvGrpSpPr/>
              <p:nvPr/>
            </p:nvGrpSpPr>
            <p:grpSpPr>
              <a:xfrm rot="0">
                <a:off x="666750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课程导入</a:t>
                  </a:r>
                  <a:endParaRPr lang="en-US" sz="1100"/>
                </a:p>
              </p:txBody>
            </p:sp>
            <p:sp>
              <p:nvSpPr>
                <p:cNvPr id="10" name="AutoShape 10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84D4D">
                          <a:alpha val="0"/>
                        </a:srgbClr>
                      </a:gs>
                      <a:gs pos="100000">
                        <a:srgbClr val="F84D4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11" name="Group 11"/>
            <p:cNvGrpSpPr/>
            <p:nvPr/>
          </p:nvGrpSpPr>
          <p:grpSpPr>
            <a:xfrm rot="0">
              <a:off x="2327623" y="2441361"/>
              <a:ext cx="2108228" cy="1795270"/>
              <a:chOff x="2327623" y="2441361"/>
              <a:chExt cx="2108228" cy="179527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F6B42">
                      <a:alpha val="100000"/>
                      <a:lumMod val="60000"/>
                      <a:lumOff val="40000"/>
                    </a:srgbClr>
                  </a:gs>
                  <a:gs pos="75000">
                    <a:srgbClr val="FF6B42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grpSp>
            <p:nvGrpSpPr>
              <p:cNvPr id="13" name="Group 13"/>
              <p:cNvGrpSpPr/>
              <p:nvPr/>
            </p:nvGrpSpPr>
            <p:grpSpPr>
              <a:xfrm rot="0">
                <a:off x="2327623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UML全周期应用</a:t>
                  </a:r>
                  <a:endParaRPr lang="en-US" sz="1100"/>
                </a:p>
              </p:txBody>
            </p:sp>
            <p:sp>
              <p:nvSpPr>
                <p:cNvPr id="15" name="AutoShape 15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84D4D">
                          <a:alpha val="0"/>
                        </a:srgbClr>
                      </a:gs>
                      <a:gs pos="100000">
                        <a:srgbClr val="F84D4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sp>
          <p:nvSpPr>
            <p:cNvPr id="16" name="AutoShape 16"/>
            <p:cNvSpPr/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grpSp>
          <p:nvGrpSpPr>
            <p:cNvPr id="17" name="Group 17"/>
            <p:cNvGrpSpPr/>
            <p:nvPr/>
          </p:nvGrpSpPr>
          <p:grpSpPr>
            <a:xfrm rot="0">
              <a:off x="3987772" y="3650127"/>
              <a:ext cx="2108228" cy="1785484"/>
              <a:chOff x="3987772" y="3650127"/>
              <a:chExt cx="2108228" cy="1785484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75000">
                    <a:srgbClr val="F84D4D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 rot="0">
                <a:off x="3987772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常见错误辨析</a:t>
                  </a:r>
                  <a:endParaRPr lang="en-US" sz="1100"/>
                </a:p>
              </p:txBody>
            </p:sp>
            <p:sp>
              <p:nvSpPr>
                <p:cNvPr id="21" name="AutoShape 21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84D4D">
                          <a:alpha val="0"/>
                        </a:srgbClr>
                      </a:gs>
                      <a:gs pos="100000">
                        <a:srgbClr val="F84D4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2" name="Group 22"/>
            <p:cNvGrpSpPr/>
            <p:nvPr/>
          </p:nvGrpSpPr>
          <p:grpSpPr>
            <a:xfrm rot="0">
              <a:off x="5680987" y="2441361"/>
              <a:ext cx="2108228" cy="1795270"/>
              <a:chOff x="5680987" y="2441361"/>
              <a:chExt cx="2108228" cy="179527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F6B42">
                      <a:alpha val="100000"/>
                      <a:lumMod val="60000"/>
                      <a:lumOff val="40000"/>
                    </a:srgbClr>
                  </a:gs>
                  <a:gs pos="75000">
                    <a:srgbClr val="FF6B42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 rot="0">
                <a:off x="5680987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UML与代码实战</a:t>
                  </a:r>
                  <a:endParaRPr lang="en-US" sz="1100"/>
                </a:p>
              </p:txBody>
            </p:sp>
            <p:sp>
              <p:nvSpPr>
                <p:cNvPr id="26" name="AutoShape 26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84D4D">
                          <a:alpha val="0"/>
                        </a:srgbClr>
                      </a:gs>
                      <a:gs pos="100000">
                        <a:srgbClr val="F84D4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7" name="Group 27"/>
            <p:cNvGrpSpPr/>
            <p:nvPr/>
          </p:nvGrpSpPr>
          <p:grpSpPr>
            <a:xfrm rot="0">
              <a:off x="7364019" y="3650127"/>
              <a:ext cx="2108228" cy="1785484"/>
              <a:chOff x="7364019" y="3650127"/>
              <a:chExt cx="2108228" cy="1785484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75000">
                    <a:srgbClr val="F84D4D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 rot="0">
                <a:off x="7364019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30" name="TextBox 30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知识回顾与总结</a:t>
                  </a:r>
                  <a:endParaRPr lang="en-US" sz="1100"/>
                </a:p>
              </p:txBody>
            </p:sp>
            <p:sp>
              <p:nvSpPr>
                <p:cNvPr id="31" name="AutoShape 31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84D4D">
                          <a:alpha val="0"/>
                        </a:srgbClr>
                      </a:gs>
                      <a:gs pos="100000">
                        <a:srgbClr val="F84D4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32" name="Group 32"/>
            <p:cNvGrpSpPr/>
            <p:nvPr/>
          </p:nvGrpSpPr>
          <p:grpSpPr>
            <a:xfrm rot="0">
              <a:off x="9034351" y="2441361"/>
              <a:ext cx="2108228" cy="1795270"/>
              <a:chOff x="9034351" y="2441361"/>
              <a:chExt cx="2108228" cy="179527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979521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F6B42">
                      <a:alpha val="100000"/>
                      <a:lumMod val="60000"/>
                      <a:lumOff val="40000"/>
                    </a:srgbClr>
                  </a:gs>
                  <a:gs pos="75000">
                    <a:srgbClr val="FF6B42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</a:t>
                </a:r>
                <a:endParaRPr lang="en-US" sz="1100"/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 rot="0">
                <a:off x="9034351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结束语与问答</a:t>
                  </a:r>
                  <a:endParaRPr lang="en-US" sz="1100"/>
                </a:p>
              </p:txBody>
            </p:sp>
            <p:sp>
              <p:nvSpPr>
                <p:cNvPr id="36" name="AutoShape 36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84D4D">
                          <a:alpha val="0"/>
                        </a:srgbClr>
                      </a:gs>
                      <a:gs pos="100000">
                        <a:srgbClr val="F84D4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</p:grpSp>
      <p:sp>
        <p:nvSpPr>
          <p:cNvPr id="37" name="TextBox 3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7754" y="1436914"/>
            <a:ext cx="5751146" cy="20500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课程导入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767754" y="3492500"/>
            <a:ext cx="5751146" cy="19285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温故知新，明确本次课程的学习目标与核心议题，为后续内容的学习做好铺垫。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8759a7f-0abd-4e9d-8ac0-5bc5ea77bb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 flipH="1">
              <a:off x="660400" y="1130300"/>
              <a:ext cx="10858500" cy="84456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知识体系回顾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1203055" y="2164081"/>
              <a:ext cx="4225450" cy="1864359"/>
              <a:chOff x="673100" y="2164081"/>
              <a:chExt cx="3458593" cy="1864359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73100" y="216408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 rot="0">
                <a:off x="803918" y="2331720"/>
                <a:ext cx="3327775" cy="1507501"/>
                <a:chOff x="803918" y="2331720"/>
                <a:chExt cx="3327775" cy="1507501"/>
              </a:xfrm>
            </p:grpSpPr>
            <p:sp>
              <p:nvSpPr>
                <p:cNvPr id="8" name="TextBox 8"/>
                <p:cNvSpPr txBox="1"/>
                <p:nvPr/>
              </p:nvSpPr>
              <p:spPr>
                <a:xfrm>
                  <a:off x="803918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UML基础与图分类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803918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回顾UML简介及其14种图的分类，包括结构图和行为图两大类别。</a:t>
                  </a:r>
                  <a:endParaRPr lang="en-US" sz="1100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3328953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  <p:sp>
            <p:nvSpPr>
              <p:cNvPr id="11" name="AutoShape 11"/>
              <p:cNvSpPr/>
              <p:nvPr/>
            </p:nvSpPr>
            <p:spPr>
              <a:xfrm>
                <a:off x="3328953" y="3839221"/>
                <a:ext cx="786865" cy="4571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 rot="0">
              <a:off x="6750796" y="2164081"/>
              <a:ext cx="4225450" cy="1864359"/>
              <a:chOff x="8060306" y="2164081"/>
              <a:chExt cx="3458593" cy="1864359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8060306" y="216408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 rot="0">
                <a:off x="8191124" y="2331720"/>
                <a:ext cx="3327775" cy="1507501"/>
                <a:chOff x="8191124" y="2331720"/>
                <a:chExt cx="3327775" cy="1507501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8191124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核心设计原则</a:t>
                  </a:r>
                  <a:endParaRPr lang="en-US" sz="11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191124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重温LSP、OCP、SRP、DIP等关键原则，理解其指导设计的重要性。</a:t>
                  </a:r>
                  <a:endParaRPr lang="en-US" sz="1100"/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0716159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8" name="AutoShape 18"/>
              <p:cNvSpPr/>
              <p:nvPr/>
            </p:nvSpPr>
            <p:spPr>
              <a:xfrm>
                <a:off x="10716159" y="3839221"/>
                <a:ext cx="786865" cy="4571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 rot="0">
              <a:off x="1203055" y="4269741"/>
              <a:ext cx="4225450" cy="1864359"/>
              <a:chOff x="673100" y="4269741"/>
              <a:chExt cx="3458593" cy="1864359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673100" y="426974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 rot="0">
                <a:off x="803918" y="4437380"/>
                <a:ext cx="3327775" cy="1507501"/>
                <a:chOff x="803918" y="4437380"/>
                <a:chExt cx="3327775" cy="1507501"/>
              </a:xfrm>
            </p:grpSpPr>
            <p:sp>
              <p:nvSpPr>
                <p:cNvPr id="22" name="TextBox 22"/>
                <p:cNvSpPr txBox="1"/>
                <p:nvPr/>
              </p:nvSpPr>
              <p:spPr>
                <a:xfrm>
                  <a:off x="803918" y="443738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经典设计模式</a:t>
                  </a:r>
                  <a:endParaRPr lang="en-US" sz="110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3918" y="485521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复习State、Decorator、Adapter等常用模式，掌握其应用场景。</a:t>
                  </a:r>
                  <a:endParaRPr lang="en-US" sz="1100"/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328953" y="539778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5" name="AutoShape 25"/>
              <p:cNvSpPr/>
              <p:nvPr/>
            </p:nvSpPr>
            <p:spPr>
              <a:xfrm>
                <a:off x="3328953" y="5944881"/>
                <a:ext cx="786865" cy="4571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 rot="0">
              <a:off x="6750796" y="4269741"/>
              <a:ext cx="4225450" cy="1864359"/>
              <a:chOff x="8060306" y="4269741"/>
              <a:chExt cx="3458593" cy="1864359"/>
            </a:xfrm>
          </p:grpSpPr>
          <p:sp>
            <p:nvSpPr>
              <p:cNvPr id="27" name="AutoShape 27"/>
              <p:cNvSpPr/>
              <p:nvPr/>
            </p:nvSpPr>
            <p:spPr>
              <a:xfrm>
                <a:off x="8060306" y="426974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 rot="0">
                <a:off x="8191124" y="4437380"/>
                <a:ext cx="3327775" cy="1507501"/>
                <a:chOff x="8191124" y="4437380"/>
                <a:chExt cx="3327775" cy="1507501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8191124" y="443738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软件架构设计</a:t>
                  </a:r>
                  <a:endParaRPr lang="en-US" sz="1100"/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8191124" y="485521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回顾包图、分层架构、B-C-E等设计思想，构建系统架构的初步认知。</a:t>
                  </a:r>
                  <a:endParaRPr lang="en-US" sz="1100"/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0716159" y="539778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04</a:t>
                  </a:r>
                  <a:endParaRPr lang="en-US" sz="1100"/>
                </a:p>
              </p:txBody>
            </p:sp>
          </p:grpSp>
          <p:sp>
            <p:nvSpPr>
              <p:cNvPr id="32" name="AutoShape 32"/>
              <p:cNvSpPr/>
              <p:nvPr/>
            </p:nvSpPr>
            <p:spPr>
              <a:xfrm>
                <a:off x="10716159" y="5944881"/>
                <a:ext cx="786865" cy="4571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33" name="TextBox 3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我们学了什么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3f6b8e-1c35-4ec8-a137-f4f64c05d7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4"/>
            <a:ext cx="10858501" cy="5003796"/>
            <a:chOff x="660399" y="1130304"/>
            <a:chExt cx="10858501" cy="5003796"/>
          </a:xfrm>
        </p:grpSpPr>
        <p:sp>
          <p:nvSpPr>
            <p:cNvPr id="4" name="AutoShape 4"/>
            <p:cNvSpPr/>
            <p:nvPr/>
          </p:nvSpPr>
          <p:spPr>
            <a:xfrm>
              <a:off x="1787076" y="3346423"/>
              <a:ext cx="2632524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915441" y="3346423"/>
              <a:ext cx="2343596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741405" y="3346423"/>
              <a:ext cx="2650819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399" y="1130304"/>
              <a:ext cx="10858500" cy="13722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明确学习方向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 rot="0">
              <a:off x="660400" y="3105239"/>
              <a:ext cx="2405752" cy="3028861"/>
              <a:chOff x="402360" y="3105239"/>
              <a:chExt cx="2405752" cy="302886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349069" y="3105239"/>
                <a:ext cx="482368" cy="482368"/>
              </a:xfrm>
              <a:prstGeom prst="round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02360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串联全周期应用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02360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掌握UML如何在软件开发的全生命周期中发挥作用，实现模型驱动开发。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3477983" y="3105239"/>
              <a:ext cx="2405752" cy="3028861"/>
              <a:chOff x="2643678" y="3105239"/>
              <a:chExt cx="2405752" cy="302886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598768" y="3105239"/>
                <a:ext cx="482368" cy="482368"/>
              </a:xfrm>
              <a:prstGeom prst="round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43678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辨析常见错误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43678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识别并理解UML建模中的常见概念混淆，以及违反设计原则的典型反例。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6295566" y="3105239"/>
              <a:ext cx="2405752" cy="3028861"/>
              <a:chOff x="4884996" y="3105239"/>
              <a:chExt cx="2405752" cy="3028861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848467" y="3105239"/>
                <a:ext cx="482368" cy="482368"/>
              </a:xfrm>
              <a:prstGeom prst="round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884996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理解代码映射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884996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探索UML模型与代码之间的双向转换关系，理解正向与逆向工程。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9113148" y="3105239"/>
              <a:ext cx="2405752" cy="3028861"/>
              <a:chOff x="7126314" y="3105239"/>
              <a:chExt cx="2405752" cy="3028861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8098164" y="3105239"/>
                <a:ext cx="482368" cy="482368"/>
              </a:xfrm>
              <a:prstGeom prst="round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26314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掌握工具实战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126314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了解主流UML工具的特点，并初步接触模型驱动架构（MDA）的核心思想。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本次课目标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7754" y="1436914"/>
            <a:ext cx="5751146" cy="20500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UML全周期应用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767754" y="3492500"/>
            <a:ext cx="5751146" cy="19285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以一个在线购物系统为贯穿案例，展示UML图在需求分析、架构设计等不同阶段的具体应用。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40990e7-096b-492e-9523-8be97559093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551950" y="1130300"/>
            <a:ext cx="11093098" cy="4826668"/>
            <a:chOff x="551950" y="1130300"/>
            <a:chExt cx="11093098" cy="4826668"/>
          </a:xfrm>
        </p:grpSpPr>
        <p:sp>
          <p:nvSpPr>
            <p:cNvPr id="4" name="AutoShape 4"/>
            <p:cNvSpPr/>
            <p:nvPr/>
          </p:nvSpPr>
          <p:spPr>
            <a:xfrm rot="10800000" flipH="1">
              <a:off x="2384266" y="1959114"/>
              <a:ext cx="7421880" cy="2282320"/>
            </a:xfrm>
            <a:prstGeom prst="donut">
              <a:avLst>
                <a:gd name="adj" fmla="val 12561"/>
              </a:avLst>
            </a:prstGeom>
            <a:gradFill>
              <a:gsLst>
                <a:gs pos="34999">
                  <a:srgbClr val="F84D4D">
                    <a:alpha val="0"/>
                    <a:lumMod val="0"/>
                    <a:lumOff val="100000"/>
                  </a:srgbClr>
                </a:gs>
                <a:gs pos="100000">
                  <a:srgbClr val="F84D4D">
                    <a:alpha val="10196"/>
                  </a:srgbClr>
                </a:gs>
              </a:gsLst>
              <a:lin ang="162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rot="6360000">
              <a:off x="2936122" y="3479325"/>
              <a:ext cx="171711" cy="171711"/>
            </a:xfrm>
            <a:prstGeom prst="flowChartExtract">
              <a:avLst/>
            </a:prstGeom>
            <a:solidFill>
              <a:srgbClr val="FF6B42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rot="5400000">
              <a:off x="6003794" y="4008729"/>
              <a:ext cx="171711" cy="171711"/>
            </a:xfrm>
            <a:prstGeom prst="flowChartExtract">
              <a:avLst/>
            </a:prstGeom>
            <a:solidFill>
              <a:srgbClr val="FF6B42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rot="3360000">
              <a:off x="9151506" y="3454222"/>
              <a:ext cx="171711" cy="171711"/>
            </a:xfrm>
            <a:prstGeom prst="flowChartExtract">
              <a:avLst/>
            </a:prstGeom>
            <a:solidFill>
              <a:srgbClr val="FF6B42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2941254" y="4241435"/>
              <a:ext cx="0" cy="1221840"/>
            </a:xfrm>
            <a:prstGeom prst="line">
              <a:avLst/>
            </a:prstGeom>
            <a:ln w="3175">
              <a:solidFill>
                <a:srgbClr val="2F2F2F">
                  <a:alpha val="100000"/>
                  <a:lumMod val="75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9250746" y="4241435"/>
              <a:ext cx="0" cy="1221840"/>
            </a:xfrm>
            <a:prstGeom prst="line">
              <a:avLst/>
            </a:prstGeom>
            <a:ln w="3175">
              <a:solidFill>
                <a:srgbClr val="2F2F2F">
                  <a:alpha val="100000"/>
                  <a:lumMod val="75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7027" y="1130300"/>
              <a:ext cx="9017946" cy="61846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b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何时选用何图</a:t>
              </a:r>
              <a:endParaRPr lang="en-US" sz="1100"/>
            </a:p>
          </p:txBody>
        </p:sp>
        <p:grpSp>
          <p:nvGrpSpPr>
            <p:cNvPr id="11" name="Group 11"/>
            <p:cNvGrpSpPr/>
            <p:nvPr/>
          </p:nvGrpSpPr>
          <p:grpSpPr>
            <a:xfrm rot="0">
              <a:off x="551950" y="2393638"/>
              <a:ext cx="2329910" cy="3563330"/>
              <a:chOff x="551950" y="2393638"/>
              <a:chExt cx="2329910" cy="356333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228998" y="2393638"/>
                <a:ext cx="975814" cy="975814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51950" y="4420578"/>
                <a:ext cx="2329907" cy="549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业务建模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51952" y="4982692"/>
                <a:ext cx="2329908" cy="9742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使用业务用例图、活动图来描述业务的整体流程与参与角色。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3473013" y="3297675"/>
              <a:ext cx="2329910" cy="2659293"/>
              <a:chOff x="3473013" y="3297675"/>
              <a:chExt cx="2329910" cy="2659293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150061" y="3297675"/>
                <a:ext cx="975814" cy="975814"/>
              </a:xfrm>
              <a:prstGeom prst="ellipse">
                <a:avLst/>
              </a:prstGeom>
              <a:solidFill>
                <a:srgbClr val="FF6B4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473013" y="4420578"/>
                <a:ext cx="2329907" cy="549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需求分析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73015" y="4982692"/>
                <a:ext cx="2329908" cy="9742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利用用例图、用例文档来捕获系统功能需求，定义系统边界。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6394076" y="3357681"/>
              <a:ext cx="2329910" cy="2599287"/>
              <a:chOff x="6394076" y="3357681"/>
              <a:chExt cx="2329910" cy="2599287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071124" y="3357681"/>
                <a:ext cx="975814" cy="975814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94076" y="4420578"/>
                <a:ext cx="2329907" cy="549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分析设计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94078" y="4982692"/>
                <a:ext cx="2329908" cy="9742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采用顺序图、通信图、分析/设计类图来细化用例实现，分配对象职责。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9315138" y="2377142"/>
              <a:ext cx="2329910" cy="3579826"/>
              <a:chOff x="9315138" y="2377142"/>
              <a:chExt cx="2329910" cy="3579826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992186" y="2377142"/>
                <a:ext cx="975814" cy="975814"/>
              </a:xfrm>
              <a:prstGeom prst="ellipse">
                <a:avLst/>
              </a:prstGeom>
              <a:solidFill>
                <a:srgbClr val="FF6B4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15138" y="4420578"/>
                <a:ext cx="2329907" cy="549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实现部署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315140" y="4982692"/>
                <a:ext cx="2329908" cy="9742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借助构件图、部署图来描述系统的物理架构和代码组织方式。</a:t>
                </a:r>
                <a:endParaRPr lang="en-US" sz="1100"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阶段图速查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014aa6a-bf0c-4c0d-b295-220f45dd72f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299"/>
            <a:ext cx="10858501" cy="5003801"/>
            <a:chOff x="660399" y="1130299"/>
            <a:chExt cx="10858501" cy="5003801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299"/>
              <a:ext cx="10858500" cy="90011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一个贯穿所有图的案例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0400" y="2133600"/>
              <a:ext cx="10858500" cy="0"/>
            </a:xfrm>
            <a:prstGeom prst="line">
              <a:avLst/>
            </a:prstGeom>
            <a:ln w="6350">
              <a:solidFill>
                <a:srgbClr val="F84D4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0399" y="2697480"/>
              <a:ext cx="3413394" cy="3436620"/>
              <a:chOff x="660399" y="2697480"/>
              <a:chExt cx="2541953" cy="3436620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660399" y="2697480"/>
                <a:ext cx="2541953" cy="3436620"/>
              </a:xfrm>
              <a:prstGeom prst="roundRect">
                <a:avLst>
                  <a:gd name="adj" fmla="val 6400"/>
                </a:avLst>
              </a:prstGeom>
              <a:solidFill>
                <a:srgbClr val="FFFFFF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1565" y="3911056"/>
                <a:ext cx="2219620" cy="8927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系统背景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21565" y="4803788"/>
                <a:ext cx="2219620" cy="11738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模拟一个简化的在线购物系统，包含顾客浏览、下单、支付，以及管理员管理订单等核心功能。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51013" y="3204916"/>
                <a:ext cx="1160724" cy="448168"/>
              </a:xfrm>
              <a:prstGeom prst="roundRect">
                <a:avLst>
                  <a:gd name="adj" fmla="val 22614"/>
                </a:avLst>
              </a:prstGeom>
              <a:solidFill>
                <a:srgbClr val="F84D4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382952" y="2697480"/>
              <a:ext cx="3413394" cy="3436620"/>
              <a:chOff x="3432582" y="2697480"/>
              <a:chExt cx="2541953" cy="3436620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3432582" y="2697480"/>
                <a:ext cx="2541953" cy="3436620"/>
              </a:xfrm>
              <a:prstGeom prst="roundRect">
                <a:avLst>
                  <a:gd name="adj" fmla="val 6400"/>
                </a:avLst>
              </a:prstGeom>
              <a:solidFill>
                <a:srgbClr val="FFFFFF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93748" y="3911056"/>
                <a:ext cx="2219620" cy="8927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核心参与方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93748" y="4803788"/>
                <a:ext cx="2219620" cy="11738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系统主要涉及两类参与者：顾客（Customer）和管理员（Admin）。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123196" y="3204916"/>
                <a:ext cx="1160724" cy="448168"/>
              </a:xfrm>
              <a:prstGeom prst="roundRect">
                <a:avLst>
                  <a:gd name="adj" fmla="val 22614"/>
                </a:avLst>
              </a:prstGeom>
              <a:solidFill>
                <a:srgbClr val="F84D4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8105505" y="2697480"/>
              <a:ext cx="3413394" cy="3436620"/>
              <a:chOff x="6204765" y="2697480"/>
              <a:chExt cx="2541953" cy="3436620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6204765" y="2697480"/>
                <a:ext cx="2541953" cy="3436620"/>
              </a:xfrm>
              <a:prstGeom prst="roundRect">
                <a:avLst>
                  <a:gd name="adj" fmla="val 6400"/>
                </a:avLst>
              </a:prstGeom>
              <a:solidFill>
                <a:srgbClr val="FFFFFF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365931" y="3911056"/>
                <a:ext cx="2219620" cy="8927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核心用例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365931" y="4803788"/>
                <a:ext cx="2219620" cy="11738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系统包含浏览商品、下订单、支付订单、管理订单等核心用例。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895379" y="3204916"/>
                <a:ext cx="1160724" cy="448168"/>
              </a:xfrm>
              <a:prstGeom prst="roundRect">
                <a:avLst>
                  <a:gd name="adj" fmla="val 22614"/>
                </a:avLst>
              </a:prstGeom>
              <a:solidFill>
                <a:srgbClr val="F84D4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案例：在线购物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9553a1-8fd0-4848-8956-46d9ef5e7e3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493520"/>
            <a:ext cx="10858500" cy="4375435"/>
            <a:chOff x="660400" y="1493520"/>
            <a:chExt cx="10858500" cy="4375435"/>
          </a:xfrm>
        </p:grpSpPr>
        <p:sp>
          <p:nvSpPr>
            <p:cNvPr id="4" name="AutoShape 4"/>
            <p:cNvSpPr/>
            <p:nvPr/>
          </p:nvSpPr>
          <p:spPr>
            <a:xfrm>
              <a:off x="914400" y="3813240"/>
              <a:ext cx="10363200" cy="45720"/>
            </a:xfrm>
            <a:prstGeom prst="rect">
              <a:avLst/>
            </a:prstGeom>
            <a:solidFill>
              <a:srgbClr val="FF6B42">
                <a:alpha val="50196"/>
                <a:lumMod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493520"/>
              <a:ext cx="10858500" cy="99220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系统需求边界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0400" y="2924893"/>
              <a:ext cx="3293962" cy="2944062"/>
              <a:chOff x="660400" y="2924893"/>
              <a:chExt cx="3293962" cy="2944062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60401" y="3497812"/>
                <a:ext cx="3293961" cy="676576"/>
              </a:xfrm>
              <a:prstGeom prst="rect">
                <a:avLst/>
              </a:prstGeom>
              <a:solidFill>
                <a:srgbClr val="F84D4D">
                  <a:alpha val="100000"/>
                </a:srgbClr>
              </a:solidFill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识别参与者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0" y="2924893"/>
                <a:ext cx="3293961" cy="4716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4220108"/>
                <a:ext cx="3293961" cy="16488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顾客（Customer）和管理员（Admin）是系统的两个主要参与者。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442668" y="2924893"/>
              <a:ext cx="3294168" cy="2944062"/>
              <a:chOff x="4442668" y="2924893"/>
              <a:chExt cx="3294168" cy="294406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442670" y="3497812"/>
                <a:ext cx="3293961" cy="676576"/>
              </a:xfrm>
              <a:prstGeom prst="rect">
                <a:avLst/>
              </a:prstGeom>
              <a:solidFill>
                <a:srgbClr val="F84D4D">
                  <a:alpha val="100000"/>
                </a:srgbClr>
              </a:solidFill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识别用例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42668" y="2924893"/>
                <a:ext cx="3293961" cy="4716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442875" y="4220108"/>
                <a:ext cx="3293961" cy="16488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用例包括浏览商品、下订单、支付、管理订单、查看订单状态等。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224937" y="2924893"/>
              <a:ext cx="3293963" cy="2944062"/>
              <a:chOff x="8224937" y="2924893"/>
              <a:chExt cx="3293963" cy="294406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224939" y="3497812"/>
                <a:ext cx="3293961" cy="676576"/>
              </a:xfrm>
              <a:prstGeom prst="rect">
                <a:avLst/>
              </a:prstGeom>
              <a:solidFill>
                <a:srgbClr val="F84D4D">
                  <a:alpha val="100000"/>
                </a:srgbClr>
              </a:solidFill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描述关系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24937" y="2924893"/>
                <a:ext cx="3293961" cy="4716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224937" y="4220108"/>
                <a:ext cx="3293961" cy="16488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参与者与用例之间通过关联关系建立联系，如“顾客”启动“下订单”用例。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用例图绘制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dd7b1f-f1f2-46ff-8060-a53aebdff3b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3"/>
            <a:ext cx="10858500" cy="4995931"/>
            <a:chOff x="660400" y="1130303"/>
            <a:chExt cx="10858500" cy="4995931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3"/>
              <a:ext cx="10858500" cy="68579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F84D4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职责初步分配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793498" y="3225283"/>
              <a:ext cx="2190969" cy="0"/>
            </a:xfrm>
            <a:prstGeom prst="straightConnector1">
              <a:avLst/>
            </a:prstGeom>
            <a:ln w="15875">
              <a:solidFill>
                <a:srgbClr val="F84D4D">
                  <a:alpha val="50196"/>
                </a:srgbClr>
              </a:solidFill>
              <a:prstDash val="solid"/>
              <a:headEnd type="none"/>
              <a:tailEnd type="oval"/>
            </a:ln>
          </p:spPr>
        </p:sp>
        <p:sp>
          <p:nvSpPr>
            <p:cNvPr id="6" name="AutoShape 6"/>
            <p:cNvSpPr/>
            <p:nvPr/>
          </p:nvSpPr>
          <p:spPr>
            <a:xfrm>
              <a:off x="3194834" y="3225283"/>
              <a:ext cx="2190969" cy="0"/>
            </a:xfrm>
            <a:prstGeom prst="straightConnector1">
              <a:avLst/>
            </a:prstGeom>
            <a:ln w="15875">
              <a:solidFill>
                <a:srgbClr val="F84D4D">
                  <a:alpha val="50196"/>
                </a:srgbClr>
              </a:solidFill>
              <a:prstDash val="solid"/>
              <a:headEnd type="none"/>
              <a:tailEnd type="oval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1500978" y="2521435"/>
              <a:ext cx="1980016" cy="3604799"/>
              <a:chOff x="660400" y="2521435"/>
              <a:chExt cx="1980016" cy="3604799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946561" y="2521435"/>
                <a:ext cx="1407695" cy="1407695"/>
              </a:xfrm>
              <a:prstGeom prst="ellipse">
                <a:avLst/>
              </a:prstGeom>
              <a:solidFill>
                <a:srgbClr val="F84D4D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60400" y="4013202"/>
                <a:ext cx="1980016" cy="68579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边界类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93208" y="2768082"/>
                <a:ext cx="914400" cy="914400"/>
              </a:xfrm>
              <a:prstGeom prst="ellipse">
                <a:avLst/>
              </a:prstGeom>
              <a:solidFill>
                <a:srgbClr val="2F2F2F">
                  <a:alpha val="100000"/>
                </a:srgbClr>
              </a:solidFill>
              <a:ln w="22225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0400" y="4783070"/>
                <a:ext cx="1980016" cy="13431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如`CustomerUI`，用于与顾客交互，接收输入并展示结果。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5099642" y="2521435"/>
              <a:ext cx="1980016" cy="3604799"/>
              <a:chOff x="2880021" y="2521435"/>
              <a:chExt cx="1980016" cy="3604799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3166182" y="2521435"/>
                <a:ext cx="1407695" cy="1407695"/>
              </a:xfrm>
              <a:prstGeom prst="ellipse">
                <a:avLst/>
              </a:prstGeom>
              <a:solidFill>
                <a:srgbClr val="F84D4D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880021" y="4013202"/>
                <a:ext cx="1980016" cy="68579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控制类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12829" y="2768082"/>
                <a:ext cx="914400" cy="914400"/>
              </a:xfrm>
              <a:prstGeom prst="ellipse">
                <a:avLst/>
              </a:prstGeom>
              <a:solidFill>
                <a:srgbClr val="2F2F2F">
                  <a:alpha val="100000"/>
                </a:srgbClr>
              </a:solidFill>
              <a:ln w="22225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880021" y="4783070"/>
                <a:ext cx="1980016" cy="13431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如`OrderController`，负责协调边界类和实体类，执行业务逻辑流程。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698306" y="2521435"/>
              <a:ext cx="1980016" cy="3604799"/>
              <a:chOff x="5099642" y="2521435"/>
              <a:chExt cx="1980016" cy="3604799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5385803" y="2521435"/>
                <a:ext cx="1407695" cy="1407695"/>
              </a:xfrm>
              <a:prstGeom prst="ellipse">
                <a:avLst/>
              </a:prstGeom>
              <a:solidFill>
                <a:srgbClr val="F84D4D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099642" y="4013202"/>
                <a:ext cx="1980016" cy="68579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实体类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32450" y="2768082"/>
                <a:ext cx="914400" cy="914400"/>
              </a:xfrm>
              <a:prstGeom prst="ellipse">
                <a:avLst/>
              </a:prstGeom>
              <a:solidFill>
                <a:srgbClr val="2F2F2F">
                  <a:alpha val="100000"/>
                </a:srgbClr>
              </a:solidFill>
              <a:ln w="22225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099642" y="4783070"/>
                <a:ext cx="1980016" cy="13431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如`Order`、`Product`、`User`，用于存储和管理核心业务数据。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分析类图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e4c110d-b764-454b-9018-a5263d72a71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交互过程细化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378325" y="1695450"/>
              <a:ext cx="3422650" cy="14605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60400" y="2082800"/>
              <a:ext cx="10858500" cy="171196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660400" y="2428261"/>
              <a:ext cx="5091986" cy="3705839"/>
              <a:chOff x="-691079" y="2428261"/>
              <a:chExt cx="5091986" cy="370583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-691079" y="4090070"/>
                <a:ext cx="5091986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正常下单流程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-691079" y="4864941"/>
                <a:ext cx="5091986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顾客通过`CustomerUI`发起下单请求，`OrderController`创建`Order`对象，并调用`Product`库存检查，最后返回结果。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6426914" y="2428261"/>
              <a:ext cx="5091986" cy="3705839"/>
              <a:chOff x="-691079" y="2428261"/>
              <a:chExt cx="5091986" cy="370583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-691079" y="4090070"/>
                <a:ext cx="5091986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关键消息序列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-691079" y="4864941"/>
                <a:ext cx="5091986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`CustomerUI -&gt; OrderController: placeOrder()`，`OrderController -&gt; Order: create()`，`OrderController -&gt; Product: checkStock()`。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顺序图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71940ab-72c2-47de-8a84-852be01006b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8" y="1130299"/>
            <a:ext cx="10858502" cy="5003801"/>
            <a:chOff x="660398" y="1130299"/>
            <a:chExt cx="10858502" cy="5003801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299"/>
              <a:ext cx="10858500" cy="90010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添加技术细节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0400" y="2133600"/>
              <a:ext cx="10858500" cy="0"/>
            </a:xfrm>
            <a:prstGeom prst="line">
              <a:avLst/>
            </a:prstGeom>
            <a:ln w="6350">
              <a:solidFill>
                <a:srgbClr val="F84D4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0398" y="2346785"/>
              <a:ext cx="10858500" cy="1122580"/>
              <a:chOff x="660398" y="4477219"/>
              <a:chExt cx="10858500" cy="1656882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660398" y="4477219"/>
                <a:ext cx="10858500" cy="1656882"/>
              </a:xfrm>
              <a:prstGeom prst="roundRect">
                <a:avLst>
                  <a:gd name="adj" fmla="val 8996"/>
                </a:avLst>
              </a:prstGeom>
              <a:solidFill>
                <a:srgbClr val="FFFFFF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494344" y="4595917"/>
                <a:ext cx="9838272" cy="6654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属性与类型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94344" y="5261359"/>
                <a:ext cx="9838272" cy="7540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为分析类图中的实体类（如`Order`）添加具体的属性，如`orderId: String`，明确其类型。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46682" y="4666893"/>
                <a:ext cx="501154" cy="706524"/>
              </a:xfrm>
              <a:prstGeom prst="round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660398" y="3679152"/>
              <a:ext cx="10858500" cy="1122580"/>
              <a:chOff x="660398" y="4477219"/>
              <a:chExt cx="10858500" cy="1656882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660398" y="4477219"/>
                <a:ext cx="10858500" cy="1656882"/>
              </a:xfrm>
              <a:prstGeom prst="roundRect">
                <a:avLst>
                  <a:gd name="adj" fmla="val 8996"/>
                </a:avLst>
              </a:prstGeom>
              <a:solidFill>
                <a:srgbClr val="FFFFFF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494344" y="4595917"/>
                <a:ext cx="9838272" cy="6654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方法与签名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94344" y="5261359"/>
                <a:ext cx="9838272" cy="7540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为类（如`OrderController`）添加操作签名，如`public void placeOrder(Product product, User user)`。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46682" y="4666893"/>
                <a:ext cx="501154" cy="706524"/>
              </a:xfrm>
              <a:prstGeom prst="round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660398" y="5011520"/>
              <a:ext cx="10858500" cy="1122580"/>
              <a:chOff x="660398" y="4477219"/>
              <a:chExt cx="10858500" cy="1656882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660398" y="4477219"/>
                <a:ext cx="10858500" cy="1656882"/>
              </a:xfrm>
              <a:prstGeom prst="roundRect">
                <a:avLst>
                  <a:gd name="adj" fmla="val 8996"/>
                </a:avLst>
              </a:prstGeom>
              <a:solidFill>
                <a:srgbClr val="FFFFFF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494344" y="4595917"/>
                <a:ext cx="9838272" cy="6654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接口与抽象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94344" y="5261359"/>
                <a:ext cx="9838272" cy="7540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引入抽象接口（如`IPayment`），用于解耦支付方式，符合依赖倒置原则。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6682" y="4666893"/>
                <a:ext cx="501154" cy="706524"/>
              </a:xfrm>
              <a:prstGeom prst="round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设计类图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39467cd-3a0c-4885-b640-6c6086c0f22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661354"/>
            <a:ext cx="10858500" cy="4510846"/>
            <a:chOff x="660400" y="1661354"/>
            <a:chExt cx="10858500" cy="4510846"/>
          </a:xfrm>
        </p:grpSpPr>
        <p:sp>
          <p:nvSpPr>
            <p:cNvPr id="4" name="AutoShape 4"/>
            <p:cNvSpPr/>
            <p:nvPr/>
          </p:nvSpPr>
          <p:spPr>
            <a:xfrm flipH="1">
              <a:off x="7781336" y="2479175"/>
              <a:ext cx="1" cy="2156172"/>
            </a:xfrm>
            <a:prstGeom prst="line">
              <a:avLst/>
            </a:prstGeom>
            <a:ln w="12700">
              <a:solidFill>
                <a:srgbClr val="F0F0F0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781055"/>
              <a:ext cx="3279493" cy="365070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物理架构设计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744237" y="1661354"/>
              <a:ext cx="4774663" cy="1846388"/>
              <a:chOff x="6744237" y="1037241"/>
              <a:chExt cx="4774663" cy="1846388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7512426" y="1317238"/>
                <a:ext cx="537820" cy="537824"/>
              </a:xfrm>
              <a:prstGeom prst="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146776" y="1530810"/>
                <a:ext cx="3372124" cy="13528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5720" rIns="9000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将系统中的类组织为逻辑构件，如Web构件、业务逻辑构件、数据库访问构件，并使用依赖关系连接。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46776" y="1037241"/>
                <a:ext cx="3372124" cy="49356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5720" rIns="9000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构件图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744237" y="1293762"/>
                <a:ext cx="668547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3987859" y="4325812"/>
              <a:ext cx="4827464" cy="1846388"/>
              <a:chOff x="3987859" y="3701699"/>
              <a:chExt cx="4827464" cy="1846388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7512426" y="4011234"/>
                <a:ext cx="537820" cy="537824"/>
              </a:xfrm>
              <a:prstGeom prst="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987859" y="4195268"/>
                <a:ext cx="3380072" cy="13528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5720" rIns="90000" bIns="45720" rtlCol="0" anchor="t" anchorCtr="0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描述物理节点的拓扑结构，包括浏览器客户端节点、Web服务器节点、应用服务器节点和数据库服务器节点。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987859" y="3701699"/>
                <a:ext cx="3380072" cy="49356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5720" rIns="90000" bIns="45720" rtlCol="0" anchor="b" anchorCtr="0"/>
              <a:lstStyle/>
              <a:p>
                <a:pPr algn="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部署图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46776" y="3987758"/>
                <a:ext cx="668547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构件与部署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f2877d8-251f-42f4-a7cb-6f954d1b250f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2"/>
            <a:ext cx="10858501" cy="5003798"/>
            <a:chOff x="660400" y="1130302"/>
            <a:chExt cx="10858501" cy="5003798"/>
          </a:xfrm>
        </p:grpSpPr>
        <p:sp>
          <p:nvSpPr>
            <p:cNvPr id="4" name="AutoShape 4"/>
            <p:cNvSpPr/>
            <p:nvPr/>
          </p:nvSpPr>
          <p:spPr>
            <a:xfrm>
              <a:off x="4417450" y="2428963"/>
              <a:ext cx="3344400" cy="3344400"/>
            </a:xfrm>
            <a:prstGeom prst="ellipse">
              <a:avLst/>
            </a:prstGeom>
            <a:ln w="15875">
              <a:solidFill>
                <a:srgbClr val="F84D4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5059771" y="3071284"/>
              <a:ext cx="2059758" cy="2059758"/>
            </a:xfrm>
            <a:prstGeom prst="ellipse">
              <a:avLst/>
            </a:prstGeom>
            <a:ln w="15875">
              <a:solidFill>
                <a:srgbClr val="F84D4D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5624921" y="3636434"/>
              <a:ext cx="929458" cy="929458"/>
            </a:xfrm>
            <a:prstGeom prst="ellipse">
              <a:avLst/>
            </a:prstGeom>
            <a:ln w="15875">
              <a:solidFill>
                <a:srgbClr val="F84D4D">
                  <a:alpha val="1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660400" y="1980074"/>
              <a:ext cx="4394846" cy="1284643"/>
              <a:chOff x="660400" y="1980074"/>
              <a:chExt cx="4394846" cy="1284643"/>
            </a:xfrm>
          </p:grpSpPr>
          <p:sp>
            <p:nvSpPr>
              <p:cNvPr id="8" name="TextBox 8"/>
              <p:cNvSpPr txBox="1"/>
              <p:nvPr/>
            </p:nvSpPr>
            <p:spPr>
              <a:xfrm flipH="1">
                <a:off x="4363162" y="2537500"/>
                <a:ext cx="692084" cy="692084"/>
              </a:xfrm>
              <a:prstGeom prst="ellipse">
                <a:avLst/>
              </a:prstGeom>
              <a:solidFill>
                <a:srgbClr val="2F2F2F">
                  <a:alpha val="100000"/>
                </a:srgbClr>
              </a:solidFill>
              <a:ln w="15875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1980074"/>
                <a:ext cx="3627966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用例定义目标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2622395"/>
                <a:ext cx="3627967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用例图定义了系统要“做什么”，是整个开发过程的起点。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7124053" y="1980074"/>
              <a:ext cx="4394848" cy="1284643"/>
              <a:chOff x="7124054" y="1980074"/>
              <a:chExt cx="4394848" cy="128464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124054" y="2537500"/>
                <a:ext cx="692084" cy="692084"/>
              </a:xfrm>
              <a:prstGeom prst="ellipse">
                <a:avLst/>
              </a:prstGeom>
              <a:solidFill>
                <a:srgbClr val="2F2F2F">
                  <a:alpha val="100000"/>
                </a:srgbClr>
              </a:solidFill>
              <a:ln w="15875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890936" y="1980074"/>
                <a:ext cx="3627966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分析分配职责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90935" y="2622395"/>
                <a:ext cx="3627967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分析类图（B-C-E）将职责分配到对象，是设计的蓝图。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60400" y="3414765"/>
              <a:ext cx="4028845" cy="1284643"/>
              <a:chOff x="1026401" y="1980074"/>
              <a:chExt cx="4028845" cy="1284643"/>
            </a:xfrm>
          </p:grpSpPr>
          <p:sp>
            <p:nvSpPr>
              <p:cNvPr id="16" name="TextBox 16"/>
              <p:cNvSpPr txBox="1"/>
              <p:nvPr/>
            </p:nvSpPr>
            <p:spPr>
              <a:xfrm flipH="1">
                <a:off x="4363162" y="2359382"/>
                <a:ext cx="692084" cy="692084"/>
              </a:xfrm>
              <a:prstGeom prst="ellipse">
                <a:avLst/>
              </a:prstGeom>
              <a:solidFill>
                <a:srgbClr val="2F2F2F">
                  <a:alpha val="100000"/>
                </a:srgbClr>
              </a:solidFill>
              <a:ln w="15875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26401" y="1980074"/>
                <a:ext cx="3249263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顺序细化交互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26401" y="2622395"/>
                <a:ext cx="3249264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顺序图详细描述了对象间如何通过消息交互来完成用例。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7502758" y="3414765"/>
              <a:ext cx="4016143" cy="1284643"/>
              <a:chOff x="7502758" y="3414764"/>
              <a:chExt cx="4016143" cy="1284643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502758" y="3794072"/>
                <a:ext cx="692084" cy="692084"/>
              </a:xfrm>
              <a:prstGeom prst="ellipse">
                <a:avLst/>
              </a:prstGeom>
              <a:solidFill>
                <a:srgbClr val="2F2F2F">
                  <a:alpha val="100000"/>
                </a:srgbClr>
              </a:solidFill>
              <a:ln w="15875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 rot="0">
                <a:off x="8269638" y="3414764"/>
                <a:ext cx="3249263" cy="1284643"/>
                <a:chOff x="8269638" y="3414764"/>
                <a:chExt cx="3249263" cy="1284643"/>
              </a:xfrm>
            </p:grpSpPr>
            <p:sp>
              <p:nvSpPr>
                <p:cNvPr id="22" name="TextBox 22"/>
                <p:cNvSpPr txBox="1"/>
                <p:nvPr/>
              </p:nvSpPr>
              <p:spPr>
                <a:xfrm>
                  <a:off x="8269638" y="3414764"/>
                  <a:ext cx="3249263" cy="64232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设计添加细节</a:t>
                  </a:r>
                  <a:endParaRPr lang="en-US" sz="110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269638" y="4057085"/>
                  <a:ext cx="3249263" cy="64232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设计类图在分析类基础上，增加了编程语言相关的技术细节。</a:t>
                  </a:r>
                  <a:endParaRPr lang="en-US" sz="1100"/>
                </a:p>
              </p:txBody>
            </p:sp>
          </p:grpSp>
        </p:grpSp>
        <p:grpSp>
          <p:nvGrpSpPr>
            <p:cNvPr id="24" name="Group 24"/>
            <p:cNvGrpSpPr/>
            <p:nvPr/>
          </p:nvGrpSpPr>
          <p:grpSpPr>
            <a:xfrm rot="0">
              <a:off x="660400" y="4849457"/>
              <a:ext cx="4394846" cy="1284643"/>
              <a:chOff x="660400" y="4488720"/>
              <a:chExt cx="4394846" cy="128464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63162" y="4689910"/>
                <a:ext cx="692084" cy="692084"/>
              </a:xfrm>
              <a:prstGeom prst="ellipse">
                <a:avLst/>
              </a:prstGeom>
              <a:solidFill>
                <a:srgbClr val="2F2F2F">
                  <a:alpha val="100000"/>
                </a:srgbClr>
              </a:solidFill>
              <a:ln w="15875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60400" y="4488720"/>
                <a:ext cx="3627967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构件描述物理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0400" y="5131041"/>
                <a:ext cx="3627967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构件与部署图将设计落实到物理实现层面，指导部署。</a:t>
                </a:r>
                <a:endParaRPr lang="en-US" sz="1100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660400" y="1130302"/>
              <a:ext cx="10858500" cy="7335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为何需要多图配合</a:t>
              </a:r>
              <a:endParaRPr lang="en-US" sz="1100"/>
            </a:p>
          </p:txBody>
        </p:sp>
        <p:grpSp>
          <p:nvGrpSpPr>
            <p:cNvPr id="29" name="Group 29"/>
            <p:cNvGrpSpPr/>
            <p:nvPr/>
          </p:nvGrpSpPr>
          <p:grpSpPr>
            <a:xfrm rot="0">
              <a:off x="7124053" y="4849457"/>
              <a:ext cx="4394848" cy="1284643"/>
              <a:chOff x="7124054" y="4488720"/>
              <a:chExt cx="4394848" cy="1284643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7124054" y="4689910"/>
                <a:ext cx="692084" cy="692084"/>
              </a:xfrm>
              <a:prstGeom prst="ellipse">
                <a:avLst/>
              </a:prstGeom>
              <a:solidFill>
                <a:srgbClr val="2F2F2F">
                  <a:alpha val="100000"/>
                </a:srgbClr>
              </a:solidFill>
              <a:ln w="15875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</a:t>
                </a:r>
                <a:endParaRPr lang="en-US" sz="1100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890936" y="4488720"/>
                <a:ext cx="3627966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模型保持一致性</a:t>
                </a:r>
                <a:endParaRPr lang="en-US" sz="11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890936" y="5131041"/>
                <a:ext cx="3627966" cy="64232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各模型之间通过XMI等标准保持一致性，确保信息不丢失。</a:t>
                </a:r>
                <a:endParaRPr lang="en-US" sz="1100"/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多图协同意义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85800" y="1203325"/>
            <a:ext cx="10858500" cy="4451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选择题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在用例分析阶段，采用B-C-E架构时，负责协调参与者与实体类之间交互的类是？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边界类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控制类 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实体类 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构件类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100"/>
              <a:t>A. </a:t>
            </a:r>
            <a:r>
              <a:rPr lang="zh-CN" altLang="en-US" sz="1100"/>
              <a:t>边界类 </a:t>
            </a:r>
            <a:r>
              <a:rPr lang="en-US" altLang="zh-CN" sz="1100"/>
              <a:t>B. </a:t>
            </a:r>
            <a:r>
              <a:rPr lang="zh-CN" altLang="en-US" sz="1100"/>
              <a:t>控制类 </a:t>
            </a:r>
            <a:r>
              <a:rPr lang="en-US" altLang="zh-CN" sz="1100"/>
              <a:t>C. </a:t>
            </a:r>
            <a:r>
              <a:rPr lang="zh-CN" altLang="en-US" sz="1100"/>
              <a:t>实体类 </a:t>
            </a:r>
            <a:r>
              <a:rPr lang="en-US" altLang="zh-CN" sz="1100"/>
              <a:t>D. </a:t>
            </a:r>
            <a:r>
              <a:rPr lang="zh-CN" altLang="en-US" sz="1100"/>
              <a:t>构件类</a:t>
            </a:r>
            <a:endParaRPr lang="zh-CN" alt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85800" y="1143000"/>
            <a:ext cx="10858500" cy="4451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选择题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在用例分析阶段，采用B-C-E架构时，负责协调参与者与实体类之间交互的类是？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边界类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 sz="28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控制类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实体类 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构件类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100"/>
              <a:t>A. </a:t>
            </a:r>
            <a:r>
              <a:rPr lang="zh-CN" altLang="en-US" sz="1100"/>
              <a:t>边界类 </a:t>
            </a:r>
            <a:r>
              <a:rPr lang="en-US" altLang="zh-CN" sz="1100"/>
              <a:t>B. </a:t>
            </a:r>
            <a:r>
              <a:rPr lang="zh-CN" altLang="en-US" sz="1100"/>
              <a:t>控制类 </a:t>
            </a:r>
            <a:r>
              <a:rPr lang="en-US" altLang="zh-CN" sz="1100"/>
              <a:t>C. </a:t>
            </a:r>
            <a:r>
              <a:rPr lang="zh-CN" altLang="en-US" sz="1100"/>
              <a:t>实体类 </a:t>
            </a:r>
            <a:r>
              <a:rPr lang="en-US" altLang="zh-CN" sz="1100"/>
              <a:t>D. </a:t>
            </a:r>
            <a:r>
              <a:rPr lang="zh-CN" altLang="en-US" sz="1100"/>
              <a:t>构件类</a:t>
            </a:r>
            <a:endParaRPr lang="zh-CN" alt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7754" y="1436914"/>
            <a:ext cx="5751146" cy="20500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常见错误辨析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767754" y="3492500"/>
            <a:ext cx="5751146" cy="19285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通过对比和典型案例，辨析UML建模中的常见概念混淆，并深入分析违反设计原则的代码示例。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7423c00-9e08-4258-9a19-69aa29c1496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83900" cy="4907622"/>
            <a:chOff x="660400" y="1226478"/>
            <a:chExt cx="10883900" cy="4907622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226478"/>
              <a:ext cx="10858500" cy="79185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厘清易混概念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2242588"/>
              <a:ext cx="10858500" cy="1083545"/>
              <a:chOff x="660400" y="1926336"/>
              <a:chExt cx="10858500" cy="916519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0" y="1926336"/>
                <a:ext cx="1112726" cy="916519"/>
              </a:xfrm>
              <a:prstGeom prst="round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2006600" y="1926336"/>
                <a:ext cx="9512300" cy="916519"/>
              </a:xfrm>
              <a:prstGeom prst="roundRect">
                <a:avLst/>
              </a:prstGeom>
              <a:ln w="1270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4927303" y="1986205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用例是参与者期望达成的有价值的目标，而功能是实现用例的具体内部步骤或操作。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198484" y="1986205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用例 vs 功能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673100" y="3646571"/>
              <a:ext cx="10858500" cy="1083545"/>
              <a:chOff x="673100" y="3028970"/>
              <a:chExt cx="10858500" cy="91651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73100" y="3028970"/>
                <a:ext cx="1112726" cy="916519"/>
              </a:xfrm>
              <a:prstGeom prst="roundRect">
                <a:avLst/>
              </a:prstGeom>
              <a:solidFill>
                <a:srgbClr val="FF6B4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2019300" y="3028970"/>
                <a:ext cx="9512300" cy="916519"/>
              </a:xfrm>
              <a:prstGeom prst="roundRect">
                <a:avLst/>
              </a:prstGeom>
              <a:ln w="1270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940003" y="3088839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«include»关系是强制的，即基用例一定会执行包含用例；«extend»关系是可选的，在特定条件下才会执行。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211184" y="3088839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包含 vs 扩展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85800" y="5050555"/>
              <a:ext cx="10858500" cy="1083545"/>
              <a:chOff x="685800" y="4131605"/>
              <a:chExt cx="10858500" cy="91651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85800" y="4131605"/>
                <a:ext cx="1112726" cy="916519"/>
              </a:xfrm>
              <a:prstGeom prst="roundRect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2032000" y="4131605"/>
                <a:ext cx="9512300" cy="916519"/>
              </a:xfrm>
              <a:prstGeom prst="roundRect">
                <a:avLst/>
              </a:prstGeom>
              <a:ln w="1270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952703" y="4191474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类图描述的是系统的静态结构，是对象的模板；对象图则是类图在某一时刻的具体实例快照。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223884" y="4191474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类图 vs 对象图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概念混淆上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ba20f01-aa67-487b-87d6-0475b1d4503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4770754"/>
            <a:chOff x="660400" y="1130300"/>
            <a:chExt cx="10858500" cy="4770754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80645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厘清易混概念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1712378" y="2214879"/>
              <a:ext cx="3558761" cy="3686175"/>
              <a:chOff x="1007955" y="2214879"/>
              <a:chExt cx="3558761" cy="3686175"/>
            </a:xfrm>
          </p:grpSpPr>
          <p:grpSp>
            <p:nvGrpSpPr>
              <p:cNvPr id="6" name="Group 6"/>
              <p:cNvGrpSpPr/>
              <p:nvPr/>
            </p:nvGrpSpPr>
            <p:grpSpPr>
              <a:xfrm rot="0">
                <a:off x="1007955" y="2214879"/>
                <a:ext cx="3558761" cy="3686175"/>
                <a:chOff x="1007956" y="2214879"/>
                <a:chExt cx="2924388" cy="3686175"/>
              </a:xfrm>
            </p:grpSpPr>
            <p:grpSp>
              <p:nvGrpSpPr>
                <p:cNvPr id="7" name="Group 7"/>
                <p:cNvGrpSpPr/>
                <p:nvPr/>
              </p:nvGrpSpPr>
              <p:grpSpPr>
                <a:xfrm rot="0">
                  <a:off x="1007956" y="2214879"/>
                  <a:ext cx="2924388" cy="3686175"/>
                  <a:chOff x="1007956" y="2214879"/>
                  <a:chExt cx="2924388" cy="3686175"/>
                </a:xfrm>
              </p:grpSpPr>
              <p:sp>
                <p:nvSpPr>
                  <p:cNvPr id="8" name="AutoShape 8"/>
                  <p:cNvSpPr/>
                  <p:nvPr>
                    <p:custDataLst>
                      <p:tags r:id="rId2"/>
                    </p:custDataLst>
                  </p:nvPr>
                </p:nvSpPr>
                <p:spPr>
                  <a:xfrm>
                    <a:off x="1007956" y="2214879"/>
                    <a:ext cx="2924388" cy="3686175"/>
                  </a:xfrm>
                  <a:prstGeom prst="roundRect">
                    <a:avLst>
                      <a:gd name="adj" fmla="val 8745"/>
                    </a:avLst>
                  </a:prstGeom>
                  <a:solidFill>
                    <a:srgbClr val="FFFFFF">
                      <a:alpha val="100000"/>
                    </a:srgbClr>
                  </a:solidFill>
                  <a:ln w="15875">
                    <a:solidFill>
                      <a:srgbClr val="000000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" name="TextBox 9"/>
                  <p:cNvSpPr txBox="1"/>
                  <p:nvPr>
                    <p:custDataLst>
                      <p:tags r:id="rId3"/>
                    </p:custDataLst>
                  </p:nvPr>
                </p:nvSpPr>
                <p:spPr>
                  <a:xfrm>
                    <a:off x="1195070" y="2870726"/>
                    <a:ext cx="2550160" cy="684000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状态图 vs 活动图</a:t>
                    </a:r>
                    <a:endParaRPr lang="en-US" sz="1100"/>
                  </a:p>
                </p:txBody>
              </p:sp>
              <p:sp>
                <p:nvSpPr>
                  <p:cNvPr id="10" name="TextBox 10"/>
                  <p:cNvSpPr txBox="1"/>
                  <p:nvPr>
                    <p:custDataLst>
                      <p:tags r:id="rId4"/>
                    </p:custDataLst>
                  </p:nvPr>
                </p:nvSpPr>
                <p:spPr>
                  <a:xfrm>
                    <a:off x="1103754" y="3081650"/>
                    <a:ext cx="2550160" cy="131821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2000" b="0" i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状态图侧重于描述对象在其生命周期内状态的变化及触发条件；活动图侧重于描述流程的执行步骤和决策分支</a:t>
                    </a:r>
                    <a:r>
                      <a:rPr lang="en-US" sz="20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。</a:t>
                    </a:r>
                    <a:endParaRPr lang="en-US" sz="2000"/>
                  </a:p>
                </p:txBody>
              </p:sp>
              <p:sp>
                <p:nvSpPr>
                  <p:cNvPr id="11" name="TextBox 11"/>
                  <p:cNvSpPr txBox="1"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1669733" y="4983481"/>
                    <a:ext cx="1600835" cy="61261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84D4D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2000" b="1" i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01</a:t>
                    </a:r>
                    <a:endParaRPr lang="en-US" sz="1100"/>
                  </a:p>
                </p:txBody>
              </p:sp>
            </p:grpSp>
            <p:sp>
              <p:nvSpPr>
                <p:cNvPr id="12" name="AutoShape 1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007956" y="2214879"/>
                  <a:ext cx="2924388" cy="58854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FFFFFF">
                    <a:alpha val="100000"/>
                  </a:srgbClr>
                </a:solidFill>
                <a:ln w="15875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13" name="AutoShape 13"/>
              <p:cNvSpPr/>
              <p:nvPr>
                <p:custDataLst>
                  <p:tags r:id="rId7"/>
                </p:custDataLst>
              </p:nvPr>
            </p:nvSpPr>
            <p:spPr>
              <a:xfrm>
                <a:off x="1205228" y="2458235"/>
                <a:ext cx="130099" cy="130098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>
                <p:custDataLst>
                  <p:tags r:id="rId8"/>
                </p:custDataLst>
              </p:nvPr>
            </p:nvSpPr>
            <p:spPr>
              <a:xfrm>
                <a:off x="1423209" y="2458235"/>
                <a:ext cx="130099" cy="130098"/>
              </a:xfrm>
              <a:prstGeom prst="ellipse">
                <a:avLst/>
              </a:prstGeom>
              <a:solidFill>
                <a:srgbClr val="FF6B4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>
                <p:custDataLst>
                  <p:tags r:id="rId9"/>
                </p:custDataLst>
              </p:nvPr>
            </p:nvSpPr>
            <p:spPr>
              <a:xfrm>
                <a:off x="1641190" y="2458235"/>
                <a:ext cx="130099" cy="130098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 rot="0">
              <a:off x="6819951" y="2214879"/>
              <a:ext cx="3558761" cy="3686175"/>
              <a:chOff x="4627455" y="2214879"/>
              <a:chExt cx="3558761" cy="3686175"/>
            </a:xfrm>
          </p:grpSpPr>
          <p:grpSp>
            <p:nvGrpSpPr>
              <p:cNvPr id="17" name="Group 17"/>
              <p:cNvGrpSpPr/>
              <p:nvPr/>
            </p:nvGrpSpPr>
            <p:grpSpPr>
              <a:xfrm rot="0">
                <a:off x="4627455" y="2214879"/>
                <a:ext cx="3558761" cy="3686175"/>
                <a:chOff x="4627456" y="2214879"/>
                <a:chExt cx="2924388" cy="3686175"/>
              </a:xfrm>
            </p:grpSpPr>
            <p:grpSp>
              <p:nvGrpSpPr>
                <p:cNvPr id="18" name="Group 18"/>
                <p:cNvGrpSpPr/>
                <p:nvPr/>
              </p:nvGrpSpPr>
              <p:grpSpPr>
                <a:xfrm rot="0">
                  <a:off x="4627456" y="2214879"/>
                  <a:ext cx="2924388" cy="3686175"/>
                  <a:chOff x="4627456" y="2214879"/>
                  <a:chExt cx="2924388" cy="3686175"/>
                </a:xfrm>
              </p:grpSpPr>
              <p:sp>
                <p:nvSpPr>
                  <p:cNvPr id="19" name="AutoShape 19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4627456" y="2214879"/>
                    <a:ext cx="2924388" cy="3686175"/>
                  </a:xfrm>
                  <a:prstGeom prst="roundRect">
                    <a:avLst>
                      <a:gd name="adj" fmla="val 8908"/>
                    </a:avLst>
                  </a:prstGeom>
                  <a:solidFill>
                    <a:srgbClr val="FFFFFF">
                      <a:alpha val="100000"/>
                    </a:srgbClr>
                  </a:solidFill>
                  <a:ln w="15875">
                    <a:solidFill>
                      <a:srgbClr val="000000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0" name="TextBox 20"/>
                  <p:cNvSpPr txBox="1"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4814570" y="2870726"/>
                    <a:ext cx="2550160" cy="684000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分析类 vs 设计类</a:t>
                    </a:r>
                    <a:endParaRPr lang="en-US" sz="1100"/>
                  </a:p>
                </p:txBody>
              </p:sp>
              <p:sp>
                <p:nvSpPr>
                  <p:cNvPr id="21" name="TextBox 21"/>
                  <p:cNvSpPr txBox="1"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4814570" y="2971795"/>
                    <a:ext cx="2550160" cy="131821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2000" b="0" i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分析类使用业务语言描述，无技术细节；设计类则包含具体的技术实现信息，如属性类型、方法签名和导航关</a:t>
                    </a: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系。</a:t>
                    </a:r>
                    <a:endParaRPr lang="en-US" sz="1100"/>
                  </a:p>
                </p:txBody>
              </p:sp>
              <p:sp>
                <p:nvSpPr>
                  <p:cNvPr id="22" name="TextBox 22"/>
                  <p:cNvSpPr txBox="1"/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5289233" y="4983481"/>
                    <a:ext cx="1600835" cy="61261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6B42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2000" b="1" i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02</a:t>
                    </a:r>
                    <a:endParaRPr lang="en-US" sz="1100"/>
                  </a:p>
                </p:txBody>
              </p:sp>
            </p:grpSp>
            <p:sp>
              <p:nvSpPr>
                <p:cNvPr id="23" name="AutoShape 23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4627456" y="2214879"/>
                  <a:ext cx="2924388" cy="58854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FFFFFF">
                    <a:alpha val="100000"/>
                  </a:srgbClr>
                </a:solidFill>
                <a:ln w="15875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24" name="AutoShape 24"/>
              <p:cNvSpPr/>
              <p:nvPr>
                <p:custDataLst>
                  <p:tags r:id="rId15"/>
                </p:custDataLst>
              </p:nvPr>
            </p:nvSpPr>
            <p:spPr>
              <a:xfrm>
                <a:off x="4824728" y="2458235"/>
                <a:ext cx="130099" cy="130098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>
                <p:custDataLst>
                  <p:tags r:id="rId16"/>
                </p:custDataLst>
              </p:nvPr>
            </p:nvSpPr>
            <p:spPr>
              <a:xfrm>
                <a:off x="5042709" y="2458235"/>
                <a:ext cx="130099" cy="130098"/>
              </a:xfrm>
              <a:prstGeom prst="ellipse">
                <a:avLst/>
              </a:prstGeom>
              <a:solidFill>
                <a:srgbClr val="FF6B4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60690" y="2458235"/>
                <a:ext cx="130099" cy="130098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概念混淆下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9d25117-022e-4b8b-b44f-cfa6fac19df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 flipH="1">
              <a:off x="4280282" y="2513013"/>
              <a:ext cx="3631437" cy="3621087"/>
            </a:xfrm>
            <a:prstGeom prst="rect">
              <a:avLst/>
            </a:prstGeom>
            <a:ln w="12700">
              <a:gradFill>
                <a:gsLst>
                  <a:gs pos="25000">
                    <a:srgbClr val="F84D4D">
                      <a:alpha val="100000"/>
                    </a:srgbClr>
                  </a:gs>
                  <a:gs pos="100000">
                    <a:srgbClr val="F84D4D">
                      <a:alpha val="0"/>
                    </a:srgbClr>
                  </a:gs>
                </a:gsLst>
                <a:lin ang="5400000"/>
              </a:gradFill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593725"/>
            </a:xfrm>
            <a:prstGeom prst="rect">
              <a:avLst/>
            </a:prstGeom>
            <a:gradFill>
              <a:gsLst>
                <a:gs pos="23000">
                  <a:srgbClr val="F84D4D">
                    <a:alpha val="100000"/>
                  </a:srgbClr>
                </a:gs>
                <a:gs pos="100000">
                  <a:srgbClr val="F84D4D">
                    <a:alpha val="100000"/>
                    <a:lumMod val="60000"/>
                    <a:lumOff val="40000"/>
                  </a:srgbClr>
                </a:gs>
              </a:gsLst>
              <a:lin ang="13500000"/>
            </a:gra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正方形继承矩形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727656" y="1925223"/>
              <a:ext cx="3482510" cy="4208877"/>
              <a:chOff x="727656" y="1925223"/>
              <a:chExt cx="3482510" cy="420887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27658" y="3635604"/>
                <a:ext cx="3482508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定义一个`Square`类继承`Rectangle`类，并重写`setWidth`和`setHeight`方法，使其始终保持`width == height`。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27656" y="2617258"/>
                <a:ext cx="3482504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问题描述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27657" y="1925223"/>
                <a:ext cx="3482504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354745" y="1925223"/>
              <a:ext cx="3482510" cy="4053937"/>
              <a:chOff x="4354745" y="1925223"/>
              <a:chExt cx="3482510" cy="4053937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354747" y="3635604"/>
                <a:ext cx="3482508" cy="2343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当客户端代码以`Rectangle`类型接收一个`Square`对象并调用`setWidth(5)`时，会破坏`Square`的约束，导致逻辑错误。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54745" y="2617258"/>
                <a:ext cx="3482504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代码风险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354746" y="1925223"/>
                <a:ext cx="3482504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7981834" y="1925223"/>
              <a:ext cx="3482510" cy="4208876"/>
              <a:chOff x="7981834" y="1925223"/>
              <a:chExt cx="3482510" cy="4208876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981836" y="3635603"/>
                <a:ext cx="3482508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违反了里氏替换原则（LSP），子类不应添加父类未曾规定的约束。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81834" y="2617258"/>
                <a:ext cx="3482504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结论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81835" y="1925223"/>
                <a:ext cx="3482504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LSP案例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388c66-cc42-4cea-ae8d-e4b4fe9a4bd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660399" y="1782553"/>
              <a:ext cx="10858500" cy="1408323"/>
              <a:chOff x="660399" y="1782553"/>
              <a:chExt cx="10858500" cy="140832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原始设计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`Hand`类直接依赖`Door`和`Refrigerator`这两个具体类，通过`openDoor()`和`openRefrigerator()`方法开关门。</a:t>
                </a:r>
                <a:endParaRPr lang="en-US" sz="110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开关门设计</a:t>
              </a:r>
              <a:endParaRPr lang="en-US" sz="1100"/>
            </a:p>
          </p:txBody>
        </p:sp>
        <p:grpSp>
          <p:nvGrpSpPr>
            <p:cNvPr id="10" name="Group 10"/>
            <p:cNvGrpSpPr/>
            <p:nvPr/>
          </p:nvGrpSpPr>
          <p:grpSpPr>
            <a:xfrm rot="0">
              <a:off x="660399" y="3254165"/>
              <a:ext cx="10858500" cy="1408323"/>
              <a:chOff x="660399" y="1782553"/>
              <a:chExt cx="10858500" cy="1408323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扩展问题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当需要支持开关抽屉（`Drawer`）时，必须修改`Hand`类的代码，违反了开放-封闭原则（OCP）。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60399" y="4725777"/>
              <a:ext cx="10858500" cy="1408323"/>
              <a:chOff x="660399" y="1782553"/>
              <a:chExt cx="10858500" cy="1408323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解决方案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引入一个抽象接口`Openable`，让`Door`、`Refrigerator`和`Drawer`都实现该接口，`Hand`只依赖`Openable`。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OCP案例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76b3a4b-b8b4-40bb-9ae7-a48552a749e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1"/>
            <a:ext cx="10858500" cy="4747259"/>
            <a:chOff x="660400" y="1130301"/>
            <a:chExt cx="10858500" cy="474725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52432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矩形类职责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2330715"/>
              <a:ext cx="3466519" cy="3546845"/>
              <a:chOff x="758386" y="1863271"/>
              <a:chExt cx="2562888" cy="354684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758386" y="2387599"/>
                <a:ext cx="2562888" cy="50138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问题设计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58386" y="3049706"/>
                <a:ext cx="2562888" cy="23604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一个`Rectangle`类既负责几何计算（如`getArea()`），又负责UI绘制（如`draw()`）。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8386" y="1863271"/>
                <a:ext cx="1086289" cy="52432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6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859367" y="2969344"/>
                <a:ext cx="2461907" cy="0"/>
              </a:xfrm>
              <a:prstGeom prst="line">
                <a:avLst/>
              </a:prstGeom>
              <a:ln w="6350">
                <a:solidFill>
                  <a:srgbClr val="F84D4D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0" name="Group 10"/>
            <p:cNvGrpSpPr/>
            <p:nvPr/>
          </p:nvGrpSpPr>
          <p:grpSpPr>
            <a:xfrm rot="0">
              <a:off x="4356390" y="2330715"/>
              <a:ext cx="3466519" cy="3546845"/>
              <a:chOff x="758386" y="1863271"/>
              <a:chExt cx="2562888" cy="354684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58386" y="2387599"/>
                <a:ext cx="2562888" cy="50138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8386" y="3049706"/>
                <a:ext cx="2562888" cy="23604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违反了单一职责原则（SRP），因为该类承担了两个不同的职责：业务逻辑和界面展示。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8386" y="1863271"/>
                <a:ext cx="1086289" cy="52432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6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859367" y="2969344"/>
                <a:ext cx="2461907" cy="0"/>
              </a:xfrm>
              <a:prstGeom prst="line">
                <a:avLst/>
              </a:prstGeom>
              <a:ln w="6350">
                <a:solidFill>
                  <a:srgbClr val="F84D4D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 rot="0">
              <a:off x="8052381" y="2330715"/>
              <a:ext cx="3466519" cy="3546845"/>
              <a:chOff x="758386" y="1863271"/>
              <a:chExt cx="2562888" cy="354684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58386" y="2387599"/>
                <a:ext cx="2562888" cy="50138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改进方案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8386" y="3049706"/>
                <a:ext cx="2562888" cy="23604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将`Rectangle`类拆分为两个类：`RectangleGeometry`负责几何计算，`RectangleUI`负责UI绘制。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8386" y="1863271"/>
                <a:ext cx="1086289" cy="52432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600" b="1" i="0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859367" y="2969344"/>
                <a:ext cx="2461907" cy="0"/>
              </a:xfrm>
              <a:prstGeom prst="line">
                <a:avLst/>
              </a:prstGeom>
              <a:ln w="6350">
                <a:solidFill>
                  <a:srgbClr val="F84D4D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SRP案例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64f1cee-124d-4d94-8100-59283b027e5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52432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咖啡机设计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1757437"/>
              <a:ext cx="10858500" cy="1421555"/>
              <a:chOff x="2703585" y="3005956"/>
              <a:chExt cx="10858500" cy="142155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3162515" y="3464343"/>
                <a:ext cx="10399570" cy="9631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设计抽象接口`Heater`和`Pump`，用于加热水和抽水。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162515" y="3021980"/>
                <a:ext cx="10399570" cy="44236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高层策略抽象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703585" y="3005956"/>
                <a:ext cx="458930" cy="458385"/>
              </a:xfrm>
              <a:custGeom>
                <a:avLst/>
                <a:gdLst/>
                <a:ahLst/>
                <a:cxnLst/>
                <a:rect l="l" t="t" r="r" b="b"/>
                <a:pathLst>
                  <a:path w="5586262" h="5579627">
                    <a:moveTo>
                      <a:pt x="1103290" y="1263016"/>
                    </a:moveTo>
                    <a:cubicBezTo>
                      <a:pt x="1103290" y="1263016"/>
                      <a:pt x="1495939" y="-39182"/>
                      <a:pt x="2733547" y="448"/>
                    </a:cubicBezTo>
                    <a:cubicBezTo>
                      <a:pt x="2877682" y="-441"/>
                      <a:pt x="3817083" y="-29370"/>
                      <a:pt x="4324047" y="1198300"/>
                    </a:cubicBezTo>
                    <a:cubicBezTo>
                      <a:pt x="4483106" y="1262889"/>
                      <a:pt x="5820107" y="1734955"/>
                      <a:pt x="5559306" y="3248545"/>
                    </a:cubicBezTo>
                    <a:cubicBezTo>
                      <a:pt x="5477283" y="3531860"/>
                      <a:pt x="5410059" y="4124022"/>
                      <a:pt x="4411151" y="4484026"/>
                    </a:cubicBezTo>
                    <a:cubicBezTo>
                      <a:pt x="4351514" y="4611426"/>
                      <a:pt x="4055783" y="5443019"/>
                      <a:pt x="3056748" y="5562226"/>
                    </a:cubicBezTo>
                    <a:cubicBezTo>
                      <a:pt x="2798295" y="5596998"/>
                      <a:pt x="1858895" y="5691436"/>
                      <a:pt x="1242598" y="4458813"/>
                    </a:cubicBezTo>
                    <a:cubicBezTo>
                      <a:pt x="999041" y="4374314"/>
                      <a:pt x="-59631" y="3951848"/>
                      <a:pt x="9944" y="2644633"/>
                    </a:cubicBezTo>
                    <a:cubicBezTo>
                      <a:pt x="6545" y="2484716"/>
                      <a:pt x="129119" y="1678050"/>
                      <a:pt x="1103290" y="1263016"/>
                    </a:cubicBezTo>
                    <a:close/>
                  </a:path>
                </a:pathLst>
              </a:custGeom>
              <a:gradFill>
                <a:gsLst>
                  <a:gs pos="23000">
                    <a:srgbClr val="F84D4D">
                      <a:alpha val="100000"/>
                    </a:srgbClr>
                  </a:gs>
                  <a:gs pos="100000">
                    <a:srgbClr val="F84D4D">
                      <a:alpha val="100000"/>
                      <a:lumMod val="60000"/>
                      <a:lumOff val="40000"/>
                    </a:srgbClr>
                  </a:gs>
                </a:gsLst>
                <a:lin ang="135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60400" y="3234991"/>
              <a:ext cx="10858500" cy="1421555"/>
              <a:chOff x="2703585" y="3005956"/>
              <a:chExt cx="10858500" cy="142155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162515" y="3464343"/>
                <a:ext cx="10399570" cy="9631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具体的咖啡机实现类（如`CoffeeMachine`）依赖`Heater`和`Pump`接口，而非具体实现类。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162515" y="3021980"/>
                <a:ext cx="10399570" cy="44236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低层实现依赖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703585" y="3005956"/>
                <a:ext cx="458930" cy="458385"/>
              </a:xfrm>
              <a:custGeom>
                <a:avLst/>
                <a:gdLst/>
                <a:ahLst/>
                <a:cxnLst/>
                <a:rect l="l" t="t" r="r" b="b"/>
                <a:pathLst>
                  <a:path w="5586262" h="5579627">
                    <a:moveTo>
                      <a:pt x="1103290" y="1263016"/>
                    </a:moveTo>
                    <a:cubicBezTo>
                      <a:pt x="1103290" y="1263016"/>
                      <a:pt x="1495939" y="-39182"/>
                      <a:pt x="2733547" y="448"/>
                    </a:cubicBezTo>
                    <a:cubicBezTo>
                      <a:pt x="2877682" y="-441"/>
                      <a:pt x="3817083" y="-29370"/>
                      <a:pt x="4324047" y="1198300"/>
                    </a:cubicBezTo>
                    <a:cubicBezTo>
                      <a:pt x="4483106" y="1262889"/>
                      <a:pt x="5820107" y="1734955"/>
                      <a:pt x="5559306" y="3248545"/>
                    </a:cubicBezTo>
                    <a:cubicBezTo>
                      <a:pt x="5477283" y="3531860"/>
                      <a:pt x="5410059" y="4124022"/>
                      <a:pt x="4411151" y="4484026"/>
                    </a:cubicBezTo>
                    <a:cubicBezTo>
                      <a:pt x="4351514" y="4611426"/>
                      <a:pt x="4055783" y="5443019"/>
                      <a:pt x="3056748" y="5562226"/>
                    </a:cubicBezTo>
                    <a:cubicBezTo>
                      <a:pt x="2798295" y="5596998"/>
                      <a:pt x="1858895" y="5691436"/>
                      <a:pt x="1242598" y="4458813"/>
                    </a:cubicBezTo>
                    <a:cubicBezTo>
                      <a:pt x="999041" y="4374314"/>
                      <a:pt x="-59631" y="3951848"/>
                      <a:pt x="9944" y="2644633"/>
                    </a:cubicBezTo>
                    <a:cubicBezTo>
                      <a:pt x="6545" y="2484716"/>
                      <a:pt x="129119" y="1678050"/>
                      <a:pt x="1103290" y="1263016"/>
                    </a:cubicBezTo>
                    <a:close/>
                  </a:path>
                </a:pathLst>
              </a:custGeom>
              <a:gradFill>
                <a:gsLst>
                  <a:gs pos="23000">
                    <a:srgbClr val="FF6B42">
                      <a:alpha val="100000"/>
                    </a:srgbClr>
                  </a:gs>
                  <a:gs pos="100000">
                    <a:srgbClr val="FF6B42">
                      <a:alpha val="100000"/>
                      <a:lumMod val="60000"/>
                      <a:lumOff val="40000"/>
                    </a:srgbClr>
                  </a:gs>
                </a:gsLst>
                <a:lin ang="135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60400" y="4712545"/>
              <a:ext cx="10858500" cy="1421555"/>
              <a:chOff x="2703585" y="3005956"/>
              <a:chExt cx="10858500" cy="142155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162515" y="3464343"/>
                <a:ext cx="10399570" cy="9631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高层模块（`CoffeeMachine`）不依赖低层模块（`ElectricHeater`、`PeristalticPump`），两者都依赖抽象。实现了依赖倒置原则（DIP）。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162515" y="3021980"/>
                <a:ext cx="10399570" cy="44236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依赖倒置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703585" y="3005956"/>
                <a:ext cx="458930" cy="458385"/>
              </a:xfrm>
              <a:custGeom>
                <a:avLst/>
                <a:gdLst/>
                <a:ahLst/>
                <a:cxnLst/>
                <a:rect l="l" t="t" r="r" b="b"/>
                <a:pathLst>
                  <a:path w="5586262" h="5579627">
                    <a:moveTo>
                      <a:pt x="1103290" y="1263016"/>
                    </a:moveTo>
                    <a:cubicBezTo>
                      <a:pt x="1103290" y="1263016"/>
                      <a:pt x="1495939" y="-39182"/>
                      <a:pt x="2733547" y="448"/>
                    </a:cubicBezTo>
                    <a:cubicBezTo>
                      <a:pt x="2877682" y="-441"/>
                      <a:pt x="3817083" y="-29370"/>
                      <a:pt x="4324047" y="1198300"/>
                    </a:cubicBezTo>
                    <a:cubicBezTo>
                      <a:pt x="4483106" y="1262889"/>
                      <a:pt x="5820107" y="1734955"/>
                      <a:pt x="5559306" y="3248545"/>
                    </a:cubicBezTo>
                    <a:cubicBezTo>
                      <a:pt x="5477283" y="3531860"/>
                      <a:pt x="5410059" y="4124022"/>
                      <a:pt x="4411151" y="4484026"/>
                    </a:cubicBezTo>
                    <a:cubicBezTo>
                      <a:pt x="4351514" y="4611426"/>
                      <a:pt x="4055783" y="5443019"/>
                      <a:pt x="3056748" y="5562226"/>
                    </a:cubicBezTo>
                    <a:cubicBezTo>
                      <a:pt x="2798295" y="5596998"/>
                      <a:pt x="1858895" y="5691436"/>
                      <a:pt x="1242598" y="4458813"/>
                    </a:cubicBezTo>
                    <a:cubicBezTo>
                      <a:pt x="999041" y="4374314"/>
                      <a:pt x="-59631" y="3951848"/>
                      <a:pt x="9944" y="2644633"/>
                    </a:cubicBezTo>
                    <a:cubicBezTo>
                      <a:pt x="6545" y="2484716"/>
                      <a:pt x="129119" y="1678050"/>
                      <a:pt x="1103290" y="1263016"/>
                    </a:cubicBezTo>
                    <a:close/>
                  </a:path>
                </a:pathLst>
              </a:custGeom>
              <a:gradFill>
                <a:gsLst>
                  <a:gs pos="23000">
                    <a:srgbClr val="F84D4D">
                      <a:alpha val="100000"/>
                    </a:srgbClr>
                  </a:gs>
                  <a:gs pos="100000">
                    <a:srgbClr val="F84D4D">
                      <a:alpha val="100000"/>
                      <a:lumMod val="60000"/>
                      <a:lumOff val="40000"/>
                    </a:srgbClr>
                  </a:gs>
                </a:gsLst>
                <a:lin ang="135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DIP案例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66f2bc8-58be-4f67-b935-2eeeeea1788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12700" y="1371599"/>
            <a:ext cx="12192000" cy="4597401"/>
            <a:chOff x="12700" y="1371599"/>
            <a:chExt cx="12192000" cy="4597401"/>
          </a:xfrm>
        </p:grpSpPr>
        <p:sp>
          <p:nvSpPr>
            <p:cNvPr id="4" name="TextBox 4"/>
            <p:cNvSpPr txBox="1"/>
            <p:nvPr/>
          </p:nvSpPr>
          <p:spPr>
            <a:xfrm>
              <a:off x="1812660" y="1371599"/>
              <a:ext cx="8826312" cy="1119413"/>
            </a:xfrm>
            <a:prstGeom prst="roundRect">
              <a:avLst>
                <a:gd name="adj" fmla="val 0"/>
              </a:avLst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常见错误集锦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12700" y="2636055"/>
              <a:ext cx="12192000" cy="3332945"/>
              <a:chOff x="12700" y="2636055"/>
              <a:chExt cx="12192000" cy="333294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75661" y="4366989"/>
                <a:ext cx="2562839" cy="1602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将参与者画成用例，或将用例粒度过细，仅描述内部步骤而非目标。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00100" y="3429000"/>
                <a:ext cx="2360576" cy="708136"/>
              </a:xfrm>
              <a:prstGeom prst="roundRect">
                <a:avLst>
                  <a:gd name="adj" fmla="val 50000"/>
                </a:avLst>
              </a:prstGeom>
              <a:ln w="12700">
                <a:solidFill>
                  <a:srgbClr val="F0F0F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用例图错误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655054" y="2636055"/>
                <a:ext cx="604052" cy="604052"/>
              </a:xfrm>
              <a:prstGeom prst="ellipse">
                <a:avLst/>
              </a:prstGeom>
              <a:solidFill>
                <a:srgbClr val="06BB9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pic>
            <p:nvPicPr>
              <p:cNvPr id="9" name="Picture 9"/>
              <p:cNvPicPr>
                <a:picLocks noChangeAspect="1"/>
              </p:cNvPicPr>
              <p:nvPr/>
            </p:nvPicPr>
            <p:blipFill>
              <a:blip r:embed="rId1">
                <a:alphaModFix amt="100000"/>
              </a:blip>
              <a:stretch>
                <a:fillRect/>
              </a:stretch>
            </p:blipFill>
            <p:spPr>
              <a:xfrm>
                <a:off x="12700" y="3808466"/>
                <a:ext cx="12192000" cy="190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</p:grpSp>
        <p:grpSp>
          <p:nvGrpSpPr>
            <p:cNvPr id="10" name="Group 10"/>
            <p:cNvGrpSpPr/>
            <p:nvPr/>
          </p:nvGrpSpPr>
          <p:grpSpPr>
            <a:xfrm rot="0">
              <a:off x="3442709" y="2636055"/>
              <a:ext cx="2562839" cy="3332945"/>
              <a:chOff x="3442709" y="2636055"/>
              <a:chExt cx="2562839" cy="333294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442709" y="4366989"/>
                <a:ext cx="2562839" cy="1602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生命线未对齐，消息缺失返回箭头，或滥用片段（alt/loop）导致逻辑不清。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543842" y="3428999"/>
                <a:ext cx="2360576" cy="708136"/>
              </a:xfrm>
              <a:prstGeom prst="roundRect">
                <a:avLst>
                  <a:gd name="adj" fmla="val 50000"/>
                </a:avLst>
              </a:prstGeom>
              <a:ln w="12700">
                <a:solidFill>
                  <a:srgbClr val="F0F0F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顺序图错误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422102" y="2636055"/>
                <a:ext cx="604052" cy="604052"/>
              </a:xfrm>
              <a:prstGeom prst="ellipse">
                <a:avLst/>
              </a:prstGeom>
              <a:solidFill>
                <a:srgbClr val="FF6B4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186451" y="2636055"/>
              <a:ext cx="2562839" cy="3332945"/>
              <a:chOff x="6186451" y="2636055"/>
              <a:chExt cx="2562839" cy="333294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287584" y="3428999"/>
                <a:ext cx="2360576" cy="708136"/>
              </a:xfrm>
              <a:prstGeom prst="roundRect">
                <a:avLst>
                  <a:gd name="adj" fmla="val 50000"/>
                </a:avLst>
              </a:prstGeom>
              <a:ln w="12700">
                <a:solidFill>
                  <a:srgbClr val="F0F0F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类图错误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186451" y="4366989"/>
                <a:ext cx="2562839" cy="1602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多重度关系遗漏，双向关联滥用，或在不必要的情况下使用泛化关系。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165848" y="2636055"/>
                <a:ext cx="604052" cy="604052"/>
              </a:xfrm>
              <a:prstGeom prst="ellipse">
                <a:avLst/>
              </a:prstGeom>
              <a:solidFill>
                <a:srgbClr val="5BA3E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8956061" y="2636055"/>
              <a:ext cx="2562839" cy="3332945"/>
              <a:chOff x="8956061" y="2636055"/>
              <a:chExt cx="2562839" cy="3332945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9031325" y="3428999"/>
                <a:ext cx="2360576" cy="708136"/>
              </a:xfrm>
              <a:prstGeom prst="roundRect">
                <a:avLst>
                  <a:gd name="adj" fmla="val 50000"/>
                </a:avLst>
              </a:prstGeom>
              <a:ln w="12700">
                <a:solidFill>
                  <a:srgbClr val="F0F0F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状态图错误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956061" y="4366989"/>
                <a:ext cx="2562839" cy="1602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起始状态（初态）多于一个，或终结状态（终态）没有连接到任何状态。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909587" y="2636055"/>
                <a:ext cx="604052" cy="604052"/>
              </a:xfrm>
              <a:prstGeom prst="ellipse">
                <a:avLst/>
              </a:prstGeom>
              <a:solidFill>
                <a:srgbClr val="06BB9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画图高频错误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60db542-a317-4c04-bd68-b38f1c13367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0"/>
              <a:ext cx="10858500" cy="553534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核心原则回顾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1970000"/>
              <a:ext cx="2049326" cy="4164100"/>
              <a:chOff x="660400" y="1970000"/>
              <a:chExt cx="2049326" cy="416410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1970000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2F2F2F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38516" y="2620537"/>
                <a:ext cx="1903526" cy="7213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LSP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38516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里氏替换原则：子类必须能够替换其父类。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06035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60000">
                    <a:srgbClr val="F84D4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2862693" y="1969999"/>
              <a:ext cx="2049326" cy="4164100"/>
              <a:chOff x="2862693" y="1969999"/>
              <a:chExt cx="2049326" cy="41641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862693" y="1969999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2F2F2F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940809" y="2620537"/>
                <a:ext cx="1903526" cy="7213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OCP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940809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开放封闭原则：对扩展开放，对修改关闭。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08837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60000">
                    <a:srgbClr val="F84D4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5064987" y="1969999"/>
              <a:ext cx="2049326" cy="4164100"/>
              <a:chOff x="5064987" y="1969999"/>
              <a:chExt cx="2049326" cy="4164100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5064987" y="1969999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2F2F2F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143103" y="2620537"/>
                <a:ext cx="1903526" cy="7213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SRP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43103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单一职责原则：一个类只负责一个变化的原因。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211639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60000">
                    <a:srgbClr val="F84D4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7267280" y="1969999"/>
              <a:ext cx="2049326" cy="4164100"/>
              <a:chOff x="7267280" y="1969999"/>
              <a:chExt cx="2049326" cy="4164100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7267280" y="1969999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2F2F2F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345396" y="2620537"/>
                <a:ext cx="1903526" cy="7213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ISP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45396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接口隔离原则：客户端不应被迫依赖它不使用的方法。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414441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60000">
                    <a:srgbClr val="F84D4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9469574" y="1969999"/>
              <a:ext cx="2049326" cy="4164100"/>
              <a:chOff x="9469574" y="1969999"/>
              <a:chExt cx="2049326" cy="4164100"/>
            </a:xfrm>
          </p:grpSpPr>
          <p:sp>
            <p:nvSpPr>
              <p:cNvPr id="26" name="AutoShape 26"/>
              <p:cNvSpPr/>
              <p:nvPr/>
            </p:nvSpPr>
            <p:spPr>
              <a:xfrm>
                <a:off x="9469574" y="1969999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2F2F2F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547690" y="2620537"/>
                <a:ext cx="1903526" cy="7213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DIP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47690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依赖倒置原则：高层模块不应依赖低层模块，二者都应依赖抽象。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617243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60000">
                    <a:srgbClr val="F84D4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设计原则口诀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85800" y="1203325"/>
            <a:ext cx="10858500" cy="4451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选择题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下列关于UML用例图的说法，正确的是？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参与者必须是人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«include»表示可选行为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一个用例可以被多个参与者启动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用例图可详细描述算法步骤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85800" y="1203325"/>
            <a:ext cx="10858500" cy="4451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选择题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下列关于UML用例图的说法，正确的是？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参与者必须是人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«include»表示可选行为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一个用例可以被多个参与者启动 </a:t>
            </a:r>
            <a:endParaRPr lang="en-US" sz="28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用例图可详细描述算法步骤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09600" y="838200"/>
            <a:ext cx="10858500" cy="4451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选择题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以下哪一项最符合“开放-封闭原则（</a:t>
            </a: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OCP）”？</a:t>
            </a:r>
            <a:endParaRPr lang="en-US" altLang="zh-CN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altLang="zh-CN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一个类只应有一个变化原因 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高层模块不依赖低层，都依赖抽象 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对扩展开放，对修改关闭 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子类必须能替换父类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09600" y="838200"/>
            <a:ext cx="10858500" cy="4451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选择题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以下哪一项最符合“开放-封闭原则（</a:t>
            </a: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OCP）”？</a:t>
            </a:r>
            <a:endParaRPr lang="en-US" altLang="zh-CN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altLang="zh-CN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一个类只应有一个变化原因 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高层模块不依赖低层，都依赖抽象 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28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对扩展开放，对修改关闭 </a:t>
            </a:r>
            <a:endParaRPr lang="zh-CN" altLang="en-US" sz="28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子类必须能替换父类</a:t>
            </a:r>
            <a:endParaRPr lang="zh-CN" alt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7754" y="1436914"/>
            <a:ext cx="5751146" cy="20500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UML与代码实战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767754" y="3492500"/>
            <a:ext cx="5751146" cy="19285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探讨UML模型与代码之间的映射关系，介绍主流建模工具，并简要介绍模型驱动架构（MDA）的核心思想。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238ba2-9cc9-4c72-b911-f5d291726bf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1531600" cy="5727700"/>
            <a:chOff x="660400" y="1130300"/>
            <a:chExt cx="11531600" cy="57277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89484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模型生成代码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5379720" y="3132219"/>
              <a:ext cx="257151" cy="1"/>
            </a:xfrm>
            <a:prstGeom prst="line">
              <a:avLst/>
            </a:prstGeom>
            <a:ln w="6350">
              <a:solidFill>
                <a:srgbClr val="F0F0F0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5379720" y="5288297"/>
              <a:ext cx="257151" cy="1"/>
            </a:xfrm>
            <a:prstGeom prst="line">
              <a:avLst/>
            </a:prstGeom>
            <a:ln w="6350">
              <a:solidFill>
                <a:srgbClr val="F0F0F0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587182" y="5963108"/>
              <a:ext cx="604818" cy="894892"/>
            </a:xfrm>
            <a:custGeom>
              <a:avLst/>
              <a:gdLst/>
              <a:ahLst/>
              <a:cxnLst/>
              <a:rect l="l" t="t" r="r" b="b"/>
              <a:pathLst>
                <a:path w="604818" h="894892">
                  <a:moveTo>
                    <a:pt x="604818" y="0"/>
                  </a:moveTo>
                  <a:lnTo>
                    <a:pt x="604818" y="894892"/>
                  </a:lnTo>
                  <a:lnTo>
                    <a:pt x="0" y="894892"/>
                  </a:lnTo>
                  <a:lnTo>
                    <a:pt x="49149" y="760607"/>
                  </a:lnTo>
                  <a:cubicBezTo>
                    <a:pt x="154223" y="512184"/>
                    <a:pt x="306267" y="288465"/>
                    <a:pt x="494149" y="100583"/>
                  </a:cubicBezTo>
                  <a:close/>
                </a:path>
              </a:pathLst>
            </a:custGeom>
            <a:solidFill>
              <a:srgbClr val="F84D4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 rot="0">
              <a:off x="660400" y="2184817"/>
              <a:ext cx="10858500" cy="1894805"/>
              <a:chOff x="660400" y="2184817"/>
              <a:chExt cx="10858500" cy="1894805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4664294" y="2774510"/>
                <a:ext cx="715426" cy="715418"/>
              </a:xfrm>
              <a:prstGeom prst="rect">
                <a:avLst/>
              </a:prstGeom>
              <a:solidFill>
                <a:srgbClr val="FF6B42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5636871" y="2184817"/>
                <a:ext cx="5882029" cy="1894805"/>
              </a:xfrm>
              <a:prstGeom prst="rect">
                <a:avLst/>
              </a:prstGeom>
              <a:solidFill>
                <a:srgbClr val="F0F0F0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5805686" y="2295845"/>
                <a:ext cx="5544398" cy="16727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类图中的类映射为编程语言中的类，属性映射为成员变量，操作映射为方法。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3907964" y="2965003"/>
                <a:ext cx="499178" cy="334432"/>
              </a:xfrm>
              <a:prstGeom prst="rightArrow">
                <a:avLst/>
              </a:prstGeom>
              <a:solidFill>
                <a:srgbClr val="F0F0F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 flipH="1">
                <a:off x="660400" y="2621071"/>
                <a:ext cx="2945768" cy="1022297"/>
              </a:xfrm>
              <a:prstGeom prst="rect">
                <a:avLst/>
              </a:prstGeom>
              <a:solidFill>
                <a:srgbClr val="F84D4D">
                  <a:alpha val="100000"/>
                  <a:lumMod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类图到代码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60400" y="4340895"/>
              <a:ext cx="10858500" cy="1894805"/>
              <a:chOff x="660400" y="4340895"/>
              <a:chExt cx="10858500" cy="189480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4664294" y="4930588"/>
                <a:ext cx="715426" cy="715418"/>
              </a:xfrm>
              <a:prstGeom prst="rect">
                <a:avLst/>
              </a:prstGeom>
              <a:solidFill>
                <a:srgbClr val="FF6B42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5636871" y="4340895"/>
                <a:ext cx="5882029" cy="1894805"/>
              </a:xfrm>
              <a:prstGeom prst="rect">
                <a:avLst/>
              </a:prstGeom>
              <a:solidFill>
                <a:srgbClr val="F0F0F0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805686" y="4451923"/>
                <a:ext cx="5544398" cy="16727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顺序图中的消息序列映射为方法中的函数调用，交互片段（如`alt`）映射为条件语句。</a:t>
                </a:r>
                <a:endParaRPr lang="en-US" sz="110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3907964" y="5121081"/>
                <a:ext cx="499178" cy="334432"/>
              </a:xfrm>
              <a:prstGeom prst="rightArrow">
                <a:avLst/>
              </a:prstGeom>
              <a:solidFill>
                <a:srgbClr val="F0F0F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 flipH="1">
                <a:off x="660400" y="4777149"/>
                <a:ext cx="2945768" cy="1022297"/>
              </a:xfrm>
              <a:prstGeom prst="rect">
                <a:avLst/>
              </a:prstGeom>
              <a:solidFill>
                <a:srgbClr val="F84D4D">
                  <a:alpha val="100000"/>
                  <a:lumMod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顺序图到方法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正向工程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294b933-33c4-4789-abb5-eed636b6e0c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0"/>
            <a:ext cx="10858501" cy="5004791"/>
            <a:chOff x="660399" y="1130300"/>
            <a:chExt cx="10858501" cy="5004791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0"/>
              <a:ext cx="10858500" cy="5253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代码生成模型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2071412" y="2619282"/>
              <a:ext cx="1300725" cy="0"/>
            </a:xfrm>
            <a:prstGeom prst="straightConnector1">
              <a:avLst/>
            </a:prstGeom>
            <a:ln w="19050">
              <a:solidFill>
                <a:srgbClr val="F84D4D">
                  <a:alpha val="100000"/>
                </a:srgbClr>
              </a:solidFill>
              <a:prstDash val="solid"/>
              <a:headEnd type="none"/>
              <a:tailEnd type="triangl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181122" y="2619282"/>
              <a:ext cx="1300725" cy="0"/>
            </a:xfrm>
            <a:prstGeom prst="straightConnector1">
              <a:avLst/>
            </a:prstGeom>
            <a:ln w="19050">
              <a:solidFill>
                <a:srgbClr val="F84D4D">
                  <a:alpha val="100000"/>
                </a:srgbClr>
              </a:solidFill>
              <a:prstDash val="solid"/>
              <a:headEnd type="none"/>
              <a:tailEnd type="triangle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669360" y="2311400"/>
              <a:ext cx="4739830" cy="3823691"/>
              <a:chOff x="669360" y="2311400"/>
              <a:chExt cx="4739830" cy="3823691"/>
            </a:xfrm>
          </p:grpSpPr>
          <p:sp>
            <p:nvSpPr>
              <p:cNvPr id="8" name="AutoShape 8"/>
              <p:cNvSpPr/>
              <p:nvPr/>
            </p:nvSpPr>
            <p:spPr>
              <a:xfrm flipV="1">
                <a:off x="669360" y="3187055"/>
                <a:ext cx="4739830" cy="2948036"/>
              </a:xfrm>
              <a:prstGeom prst="wedgeRectCallout">
                <a:avLst/>
              </a:prstGeom>
              <a:gradFill>
                <a:gsLst>
                  <a:gs pos="0">
                    <a:srgbClr val="F84D4D">
                      <a:alpha val="14901"/>
                    </a:srgbClr>
                  </a:gs>
                  <a:gs pos="100000">
                    <a:srgbClr val="2F2F2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29791" y="2311400"/>
                <a:ext cx="614141" cy="614141"/>
              </a:xfrm>
              <a:prstGeom prst="ellipse">
                <a:avLst/>
              </a:prstGeom>
              <a:gradFill>
                <a:gsLst>
                  <a:gs pos="0">
                    <a:srgbClr val="F84D4D">
                      <a:alpha val="14901"/>
                    </a:srgbClr>
                  </a:gs>
                  <a:gs pos="100000">
                    <a:srgbClr val="2F2F2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25083" y="3274940"/>
                <a:ext cx="4523775" cy="9294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主要用途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25083" y="4204403"/>
                <a:ext cx="4523775" cy="18435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用于理解遗留系统的结构，或当代码与模型不一致时，通过逆向工程保持模型与代码的同步。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6779070" y="2311400"/>
              <a:ext cx="4739830" cy="3822699"/>
              <a:chOff x="3443453" y="2311400"/>
              <a:chExt cx="4739830" cy="3822699"/>
            </a:xfrm>
          </p:grpSpPr>
          <p:sp>
            <p:nvSpPr>
              <p:cNvPr id="13" name="AutoShape 13"/>
              <p:cNvSpPr/>
              <p:nvPr/>
            </p:nvSpPr>
            <p:spPr>
              <a:xfrm flipV="1">
                <a:off x="3443453" y="3186063"/>
                <a:ext cx="4739830" cy="2948036"/>
              </a:xfrm>
              <a:prstGeom prst="wedgeRectCallout">
                <a:avLst/>
              </a:prstGeom>
              <a:gradFill>
                <a:gsLst>
                  <a:gs pos="0">
                    <a:srgbClr val="F84D4D">
                      <a:alpha val="14901"/>
                    </a:srgbClr>
                  </a:gs>
                  <a:gs pos="100000">
                    <a:srgbClr val="2F2F2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530010" y="2311400"/>
                <a:ext cx="614141" cy="614141"/>
              </a:xfrm>
              <a:prstGeom prst="ellipse">
                <a:avLst/>
              </a:prstGeom>
              <a:gradFill>
                <a:gsLst>
                  <a:gs pos="0">
                    <a:srgbClr val="F84D4D">
                      <a:alpha val="14901"/>
                    </a:srgbClr>
                  </a:gs>
                  <a:gs pos="100000">
                    <a:srgbClr val="2F2F2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F84D4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99176" y="3274940"/>
                <a:ext cx="4523775" cy="9294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工具示例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499176" y="4204403"/>
                <a:ext cx="4523775" cy="18435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使用EA、StarUML等工具可以导入Java、C#等语言的源代码，自动生成对应的类图。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逆向工程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e01a313-247c-4a94-a2b2-2384cf0d929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4647358"/>
            <a:chOff x="660400" y="1130300"/>
            <a:chExt cx="10858500" cy="4647358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951387" y="2477351"/>
              <a:ext cx="10237314" cy="3300307"/>
              <a:chOff x="951387" y="2477351"/>
              <a:chExt cx="10237314" cy="3300307"/>
            </a:xfrm>
          </p:grpSpPr>
          <p:grpSp>
            <p:nvGrpSpPr>
              <p:cNvPr id="5" name="Group 5"/>
              <p:cNvGrpSpPr/>
              <p:nvPr/>
            </p:nvGrpSpPr>
            <p:grpSpPr>
              <a:xfrm rot="0">
                <a:off x="951387" y="2477351"/>
                <a:ext cx="2466380" cy="3300307"/>
                <a:chOff x="951387" y="2477351"/>
                <a:chExt cx="2466380" cy="3300307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1746896" y="2477351"/>
                  <a:ext cx="875362" cy="83160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ctr">
                    <a:defRPr/>
                  </a:pPr>
                  <a:r>
                    <a:rPr lang="en-US" sz="3200" b="1" i="0">
                      <a:gradFill>
                        <a:gsLst>
                          <a:gs pos="0">
                            <a:srgbClr val="F84D4D">
                              <a:alpha val="100000"/>
                              <a:lumMod val="60000"/>
                              <a:lumOff val="40000"/>
                            </a:srgbClr>
                          </a:gs>
                          <a:gs pos="60000">
                            <a:srgbClr val="F84D4D">
                              <a:alpha val="100000"/>
                            </a:srgbClr>
                          </a:gs>
                        </a:gsLst>
                        <a:lin ang="2700000"/>
                      </a:gra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</a:t>
                  </a:r>
                  <a:r>
                    <a:rPr sz="100" b="1" i="0">
                      <a:gradFill>
                        <a:gsLst>
                          <a:gs pos="0">
                            <a:srgbClr val="F84D4D">
                              <a:alpha val="100000"/>
                              <a:lumMod val="60000"/>
                              <a:lumOff val="40000"/>
                            </a:srgbClr>
                          </a:gs>
                          <a:gs pos="60000">
                            <a:srgbClr val="F84D4D">
                              <a:alpha val="100000"/>
                            </a:srgbClr>
                          </a:gs>
                        </a:gsLst>
                        <a:lin ang="2700000"/>
                      </a:gra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 </a:t>
                  </a:r>
                  <a:r>
                    <a:rPr sz="3200" b="1" i="0">
                      <a:gradFill>
                        <a:gsLst>
                          <a:gs pos="0">
                            <a:srgbClr val="F84D4D">
                              <a:alpha val="100000"/>
                              <a:lumMod val="60000"/>
                              <a:lumOff val="40000"/>
                            </a:srgbClr>
                          </a:gs>
                          <a:gs pos="60000">
                            <a:srgbClr val="F84D4D">
                              <a:alpha val="100000"/>
                            </a:srgbClr>
                          </a:gs>
                        </a:gsLst>
                        <a:lin ang="2700000"/>
                      </a:gra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1100"/>
                </a:p>
              </p:txBody>
            </p:sp>
            <p:grpSp>
              <p:nvGrpSpPr>
                <p:cNvPr id="7" name="Group 7"/>
                <p:cNvGrpSpPr/>
                <p:nvPr/>
              </p:nvGrpSpPr>
              <p:grpSpPr>
                <a:xfrm rot="0">
                  <a:off x="951387" y="3429000"/>
                  <a:ext cx="2466380" cy="2348658"/>
                  <a:chOff x="951387" y="3429000"/>
                  <a:chExt cx="2466380" cy="2348658"/>
                </a:xfrm>
              </p:grpSpPr>
              <p:sp>
                <p:nvSpPr>
                  <p:cNvPr id="8" name="TextBox 8"/>
                  <p:cNvSpPr txBox="1"/>
                  <p:nvPr/>
                </p:nvSpPr>
                <p:spPr>
                  <a:xfrm>
                    <a:off x="951387" y="3429000"/>
                    <a:ext cx="2466380" cy="612556"/>
                  </a:xfrm>
                  <a:prstGeom prst="roundRect">
                    <a:avLst/>
                  </a:prstGeom>
                  <a:gradFill>
                    <a:gsLst>
                      <a:gs pos="0">
                        <a:srgbClr val="F84D4D">
                          <a:alpha val="100000"/>
                          <a:lumMod val="60000"/>
                          <a:lumOff val="40000"/>
                        </a:srgbClr>
                      </a:gs>
                      <a:gs pos="60000">
                        <a:srgbClr val="F84D4D">
                          <a:alpha val="100000"/>
                        </a:srgbClr>
                      </a:gs>
                    </a:gsLst>
                    <a:lin ang="2700000"/>
                  </a:gra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0" tIns="0" rIns="0" bIns="0" rtlCol="0" anchor="ctr" anchorCtr="1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PlantUML</a:t>
                    </a:r>
                    <a:endParaRPr lang="en-US" sz="1100"/>
                  </a:p>
                </p:txBody>
              </p:sp>
              <p:sp>
                <p:nvSpPr>
                  <p:cNvPr id="9" name="TextBox 9"/>
                  <p:cNvSpPr txBox="1"/>
                  <p:nvPr/>
                </p:nvSpPr>
                <p:spPr>
                  <a:xfrm>
                    <a:off x="951387" y="4161600"/>
                    <a:ext cx="2466380" cy="1616058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0000" tIns="46800" rIns="90000" bIns="4680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文本驱动，学习成本低，与版本控制系统（如Git）集成友好，适合程序员和敏捷团队快速绘制UML图。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id="10" name="Group 10"/>
              <p:cNvGrpSpPr/>
              <p:nvPr/>
            </p:nvGrpSpPr>
            <p:grpSpPr>
              <a:xfrm rot="0">
                <a:off x="3541698" y="2477351"/>
                <a:ext cx="2466380" cy="3300307"/>
                <a:chOff x="3541698" y="2477351"/>
                <a:chExt cx="2466380" cy="3300307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4337208" y="2477351"/>
                  <a:ext cx="875362" cy="83160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ctr">
                    <a:defRPr/>
                  </a:pPr>
                  <a:r>
                    <a:rPr lang="en-US" sz="3200" b="1" i="0">
                      <a:gradFill>
                        <a:gsLst>
                          <a:gs pos="0">
                            <a:srgbClr val="F4B919">
                              <a:alpha val="100000"/>
                              <a:lumMod val="60000"/>
                              <a:lumOff val="40000"/>
                            </a:srgbClr>
                          </a:gs>
                          <a:gs pos="60000">
                            <a:srgbClr val="F4B919">
                              <a:alpha val="100000"/>
                            </a:srgbClr>
                          </a:gs>
                        </a:gsLst>
                        <a:lin ang="2700000"/>
                      </a:gra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  <p:grpSp>
              <p:nvGrpSpPr>
                <p:cNvPr id="12" name="Group 12"/>
                <p:cNvGrpSpPr/>
                <p:nvPr/>
              </p:nvGrpSpPr>
              <p:grpSpPr>
                <a:xfrm rot="0">
                  <a:off x="3541698" y="3429000"/>
                  <a:ext cx="2466380" cy="2348658"/>
                  <a:chOff x="3541698" y="3429000"/>
                  <a:chExt cx="2466380" cy="2348658"/>
                </a:xfrm>
              </p:grpSpPr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3541698" y="3429000"/>
                    <a:ext cx="2466380" cy="612556"/>
                  </a:xfrm>
                  <a:prstGeom prst="roundRect">
                    <a:avLst/>
                  </a:prstGeom>
                  <a:gradFill>
                    <a:gsLst>
                      <a:gs pos="0">
                        <a:srgbClr val="F4B919">
                          <a:alpha val="100000"/>
                          <a:lumMod val="60000"/>
                          <a:lumOff val="40000"/>
                        </a:srgbClr>
                      </a:gs>
                      <a:gs pos="60000">
                        <a:srgbClr val="F4B919">
                          <a:alpha val="100000"/>
                        </a:srgbClr>
                      </a:gs>
                    </a:gsLst>
                    <a:lin ang="2700000"/>
                  </a:gra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0" tIns="0" rIns="0" bIns="0" rtlCol="0" anchor="ctr" anchorCtr="1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StarUML</a:t>
                    </a:r>
                    <a:endParaRPr lang="en-US" sz="1100"/>
                  </a:p>
                </p:txBody>
              </p:sp>
              <p:sp>
                <p:nvSpPr>
                  <p:cNvPr id="14" name="TextBox 14"/>
                  <p:cNvSpPr txBox="1"/>
                  <p:nvPr/>
                </p:nvSpPr>
                <p:spPr>
                  <a:xfrm>
                    <a:off x="3541698" y="4161600"/>
                    <a:ext cx="2466380" cy="1616058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0000" tIns="46800" rIns="90000" bIns="4680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专业开源工具，支持UML 2.x标准，功能全面，界面友好，适合课程作业和中小型系统分析。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id="15" name="Group 15"/>
              <p:cNvGrpSpPr/>
              <p:nvPr/>
            </p:nvGrpSpPr>
            <p:grpSpPr>
              <a:xfrm rot="0">
                <a:off x="6132009" y="2477351"/>
                <a:ext cx="2466380" cy="3300307"/>
                <a:chOff x="6132009" y="2477351"/>
                <a:chExt cx="2466380" cy="3300307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6927519" y="2477351"/>
                  <a:ext cx="875362" cy="83160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ctr">
                    <a:defRPr/>
                  </a:pPr>
                  <a:r>
                    <a:rPr lang="en-US" sz="3200" b="1" i="0">
                      <a:gradFill>
                        <a:gsLst>
                          <a:gs pos="0">
                            <a:srgbClr val="FF6B42">
                              <a:alpha val="100000"/>
                              <a:lumMod val="60000"/>
                              <a:lumOff val="40000"/>
                            </a:srgbClr>
                          </a:gs>
                          <a:gs pos="60000">
                            <a:srgbClr val="FF6B42">
                              <a:alpha val="100000"/>
                            </a:srgbClr>
                          </a:gs>
                        </a:gsLst>
                        <a:lin ang="2700000"/>
                      </a:gra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  <p:grpSp>
              <p:nvGrpSpPr>
                <p:cNvPr id="17" name="Group 17"/>
                <p:cNvGrpSpPr/>
                <p:nvPr/>
              </p:nvGrpSpPr>
              <p:grpSpPr>
                <a:xfrm rot="0">
                  <a:off x="6132009" y="3429000"/>
                  <a:ext cx="2466380" cy="2348658"/>
                  <a:chOff x="6132009" y="3429000"/>
                  <a:chExt cx="2466380" cy="2348658"/>
                </a:xfrm>
              </p:grpSpPr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6132009" y="3429000"/>
                    <a:ext cx="2466380" cy="612556"/>
                  </a:xfrm>
                  <a:prstGeom prst="roundRect">
                    <a:avLst/>
                  </a:prstGeom>
                  <a:gradFill>
                    <a:gsLst>
                      <a:gs pos="0">
                        <a:srgbClr val="FF6B42">
                          <a:alpha val="100000"/>
                          <a:lumMod val="60000"/>
                          <a:lumOff val="40000"/>
                        </a:srgbClr>
                      </a:gs>
                      <a:gs pos="60000">
                        <a:srgbClr val="FF6B42">
                          <a:alpha val="100000"/>
                        </a:srgbClr>
                      </a:gs>
                    </a:gsLst>
                    <a:lin ang="2700000"/>
                  </a:gra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0" tIns="0" rIns="0" bIns="0" rtlCol="0" anchor="ctr" anchorCtr="1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Enterprise Architect</a:t>
                    </a:r>
                    <a:endParaRPr lang="en-US" sz="1100"/>
                  </a:p>
                </p:txBody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6132009" y="4161600"/>
                    <a:ext cx="2466380" cy="1616058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0000" tIns="46800" rIns="90000" bIns="4680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企业级建模工具，支持完整的软件开发生命周期，包括需求分析、设计、测试和管理，功能强大但学习曲线较陡峭。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id="20" name="Group 20"/>
              <p:cNvGrpSpPr/>
              <p:nvPr/>
            </p:nvGrpSpPr>
            <p:grpSpPr>
              <a:xfrm rot="0">
                <a:off x="8722321" y="2477351"/>
                <a:ext cx="2466380" cy="3300307"/>
                <a:chOff x="8722321" y="2477351"/>
                <a:chExt cx="2466380" cy="3300307"/>
              </a:xfrm>
            </p:grpSpPr>
            <p:sp>
              <p:nvSpPr>
                <p:cNvPr id="21" name="TextBox 21"/>
                <p:cNvSpPr txBox="1"/>
                <p:nvPr/>
              </p:nvSpPr>
              <p:spPr>
                <a:xfrm>
                  <a:off x="9517830" y="2477351"/>
                  <a:ext cx="875362" cy="83160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ctr">
                    <a:defRPr/>
                  </a:pPr>
                  <a:r>
                    <a:rPr lang="en-US" sz="3200" b="1" i="0">
                      <a:gradFill>
                        <a:gsLst>
                          <a:gs pos="0">
                            <a:srgbClr val="06BB9A">
                              <a:alpha val="100000"/>
                              <a:lumMod val="60000"/>
                              <a:lumOff val="40000"/>
                            </a:srgbClr>
                          </a:gs>
                          <a:gs pos="60000">
                            <a:srgbClr val="06BB9A">
                              <a:alpha val="100000"/>
                            </a:srgbClr>
                          </a:gs>
                        </a:gsLst>
                        <a:lin ang="2700000"/>
                      </a:gra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</a:t>
                  </a:r>
                  <a:r>
                    <a:rPr sz="100" b="1" i="0">
                      <a:gradFill>
                        <a:gsLst>
                          <a:gs pos="0">
                            <a:srgbClr val="06BB9A">
                              <a:alpha val="100000"/>
                              <a:lumMod val="60000"/>
                              <a:lumOff val="40000"/>
                            </a:srgbClr>
                          </a:gs>
                          <a:gs pos="60000">
                            <a:srgbClr val="06BB9A">
                              <a:alpha val="100000"/>
                            </a:srgbClr>
                          </a:gs>
                        </a:gsLst>
                        <a:lin ang="2700000"/>
                      </a:gra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 </a:t>
                  </a:r>
                  <a:r>
                    <a:rPr sz="3200" b="1" i="0">
                      <a:gradFill>
                        <a:gsLst>
                          <a:gs pos="0">
                            <a:srgbClr val="06BB9A">
                              <a:alpha val="100000"/>
                              <a:lumMod val="60000"/>
                              <a:lumOff val="40000"/>
                            </a:srgbClr>
                          </a:gs>
                          <a:gs pos="60000">
                            <a:srgbClr val="06BB9A">
                              <a:alpha val="100000"/>
                            </a:srgbClr>
                          </a:gs>
                        </a:gsLst>
                        <a:lin ang="2700000"/>
                      </a:gra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4</a:t>
                  </a:r>
                  <a:endParaRPr lang="en-US" sz="1100"/>
                </a:p>
              </p:txBody>
            </p:sp>
            <p:grpSp>
              <p:nvGrpSpPr>
                <p:cNvPr id="22" name="Group 22"/>
                <p:cNvGrpSpPr/>
                <p:nvPr/>
              </p:nvGrpSpPr>
              <p:grpSpPr>
                <a:xfrm rot="0">
                  <a:off x="8722321" y="3429000"/>
                  <a:ext cx="2466380" cy="2348658"/>
                  <a:chOff x="8722321" y="3429000"/>
                  <a:chExt cx="2466380" cy="2348658"/>
                </a:xfrm>
              </p:grpSpPr>
              <p:sp>
                <p:nvSpPr>
                  <p:cNvPr id="23" name="TextBox 23"/>
                  <p:cNvSpPr txBox="1"/>
                  <p:nvPr/>
                </p:nvSpPr>
                <p:spPr>
                  <a:xfrm>
                    <a:off x="8722321" y="3429000"/>
                    <a:ext cx="2466380" cy="612556"/>
                  </a:xfrm>
                  <a:prstGeom prst="roundRect">
                    <a:avLst/>
                  </a:prstGeom>
                  <a:gradFill>
                    <a:gsLst>
                      <a:gs pos="0">
                        <a:srgbClr val="06BB9A">
                          <a:alpha val="100000"/>
                          <a:lumMod val="60000"/>
                          <a:lumOff val="40000"/>
                        </a:srgbClr>
                      </a:gs>
                      <a:gs pos="60000">
                        <a:srgbClr val="06BB9A">
                          <a:alpha val="100000"/>
                        </a:srgbClr>
                      </a:gs>
                    </a:gsLst>
                    <a:lin ang="2700000"/>
                  </a:gra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0" tIns="0" rIns="0" bIns="0" rtlCol="0" anchor="ctr" anchorCtr="1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Draw.io</a:t>
                    </a:r>
                    <a:endParaRPr lang="en-US" sz="1100"/>
                  </a:p>
                </p:txBody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8722321" y="4161600"/>
                    <a:ext cx="2466380" cy="1616058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0000" tIns="46800" rIns="90000" bIns="4680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免费、开源的在线图表工具，轻量易用，支持多种图表类型，适合快速绘制流程图、UML图等。</a:t>
                    </a:r>
                    <a:endParaRPr lang="en-US" sz="1100"/>
                  </a:p>
                </p:txBody>
              </p:sp>
            </p:grpSp>
          </p:grpSp>
        </p:grpSp>
        <p:sp>
          <p:nvSpPr>
            <p:cNvPr id="25" name="TextBox 25"/>
            <p:cNvSpPr txBox="1"/>
            <p:nvPr/>
          </p:nvSpPr>
          <p:spPr>
            <a:xfrm>
              <a:off x="660400" y="1130300"/>
              <a:ext cx="10858500" cy="69821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工具那么多，怎么选？</a:t>
              </a:r>
              <a:endParaRPr lang="en-US" sz="1100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主流工具对比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ed8226e-3135-4912-9a45-0e2ad73cac0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59330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模型驱动架构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2288856"/>
              <a:ext cx="3420000" cy="3845244"/>
              <a:chOff x="886103" y="3551437"/>
              <a:chExt cx="3420000" cy="3980136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886103" y="3793646"/>
                <a:ext cx="3420000" cy="3737927"/>
              </a:xfrm>
              <a:prstGeom prst="rect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66103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PIM &amp; PSM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8804" y="4598142"/>
                <a:ext cx="3060000" cy="268892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PIM（平台无关模型）独立于任何特定技术平台，PSM（平台相关模型）则针对特定平台（如Java或.NET）进行定制。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586103" y="3551437"/>
                <a:ext cx="468000" cy="48441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 w="15875"/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386000" y="2288856"/>
              <a:ext cx="3420000" cy="3845244"/>
              <a:chOff x="4541650" y="3551437"/>
              <a:chExt cx="3420000" cy="3980136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541650" y="3793646"/>
                <a:ext cx="3420000" cy="3737927"/>
              </a:xfrm>
              <a:prstGeom prst="rect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721650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XMI &amp; QVT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34351" y="4598143"/>
                <a:ext cx="3060000" cy="268892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XMI（XML Metadata Interchange）是模型之间进行交换的标准格式，QVT（Query/View/Transformation）是用于在不同模型之间进行转换的语言。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241650" y="3551437"/>
                <a:ext cx="468000" cy="48441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 w="15875"/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098899" y="2288856"/>
              <a:ext cx="3420000" cy="3845244"/>
              <a:chOff x="8197197" y="3551437"/>
              <a:chExt cx="3420000" cy="3980136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8197197" y="3793646"/>
                <a:ext cx="3420000" cy="3737927"/>
              </a:xfrm>
              <a:prstGeom prst="rect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377197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核心思想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77197" y="4598143"/>
                <a:ext cx="3060000" cy="268892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通过定义模型转换规则，自动从PIM生成PSM，再生成最终的代码，目标是提高开发效率和模型的可维护性。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897197" y="3551437"/>
                <a:ext cx="468000" cy="48441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 w="15875"/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MDA模型转换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c97af8-4ad1-44a5-b7ae-4ae3af831fa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105399"/>
            <a:chOff x="660400" y="1130300"/>
            <a:chExt cx="10858500" cy="5105399"/>
          </a:xfrm>
        </p:grpSpPr>
        <p:sp>
          <p:nvSpPr>
            <p:cNvPr id="4" name="AutoShape 4"/>
            <p:cNvSpPr/>
            <p:nvPr/>
          </p:nvSpPr>
          <p:spPr>
            <a:xfrm>
              <a:off x="2417315" y="1997877"/>
              <a:ext cx="1083573" cy="1083573"/>
            </a:xfrm>
            <a:prstGeom prst="arc">
              <a:avLst>
                <a:gd name="adj1" fmla="val 16200000"/>
                <a:gd name="adj2" fmla="val 4316175"/>
              </a:avLst>
            </a:prstGeom>
            <a:solidFill>
              <a:srgbClr val="F84D4D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5554215" y="1997877"/>
              <a:ext cx="1083573" cy="1083573"/>
            </a:xfrm>
            <a:prstGeom prst="arc">
              <a:avLst>
                <a:gd name="adj1" fmla="val 16200000"/>
                <a:gd name="adj2" fmla="val 13475990"/>
              </a:avLst>
            </a:prstGeom>
            <a:solidFill>
              <a:srgbClr val="FF6B42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691115" y="1997877"/>
              <a:ext cx="1083573" cy="1083573"/>
            </a:xfrm>
            <a:prstGeom prst="arc">
              <a:avLst>
                <a:gd name="adj1" fmla="val 16200000"/>
                <a:gd name="adj2" fmla="val 501650"/>
              </a:avLst>
            </a:prstGeom>
            <a:solidFill>
              <a:srgbClr val="5BA3EB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2959101" y="2984163"/>
              <a:ext cx="0" cy="1124590"/>
            </a:xfrm>
            <a:prstGeom prst="line">
              <a:avLst/>
            </a:prstGeom>
            <a:ln w="12700">
              <a:gradFill>
                <a:gsLst>
                  <a:gs pos="0">
                    <a:srgbClr val="F84D4D">
                      <a:alpha val="100000"/>
                    </a:srgbClr>
                  </a:gs>
                  <a:gs pos="100000">
                    <a:srgbClr val="F84D4D">
                      <a:alpha val="0"/>
                      <a:lumMod val="30000"/>
                      <a:lumOff val="70000"/>
                    </a:srgbClr>
                  </a:gs>
                </a:gsLst>
                <a:lin ang="5400000"/>
              </a:gra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6096001" y="2984163"/>
              <a:ext cx="0" cy="1124590"/>
            </a:xfrm>
            <a:prstGeom prst="line">
              <a:avLst/>
            </a:prstGeom>
            <a:ln w="12700">
              <a:gradFill>
                <a:gsLst>
                  <a:gs pos="0">
                    <a:srgbClr val="FF6B42">
                      <a:alpha val="100000"/>
                    </a:srgbClr>
                  </a:gs>
                  <a:gs pos="100000">
                    <a:srgbClr val="F84D4D">
                      <a:alpha val="0"/>
                      <a:lumMod val="30000"/>
                      <a:lumOff val="70000"/>
                    </a:srgbClr>
                  </a:gs>
                </a:gsLst>
                <a:lin ang="5400000"/>
              </a:gra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9232901" y="2984163"/>
              <a:ext cx="0" cy="1124590"/>
            </a:xfrm>
            <a:prstGeom prst="line">
              <a:avLst/>
            </a:prstGeom>
            <a:ln w="12700">
              <a:gradFill>
                <a:gsLst>
                  <a:gs pos="0">
                    <a:srgbClr val="5BA3EB">
                      <a:alpha val="100000"/>
                    </a:srgbClr>
                  </a:gs>
                  <a:gs pos="100000">
                    <a:srgbClr val="F84D4D">
                      <a:alpha val="0"/>
                      <a:lumMod val="30000"/>
                      <a:lumOff val="70000"/>
                    </a:srgbClr>
                  </a:gs>
                </a:gsLst>
                <a:lin ang="5400000"/>
              </a:gradFill>
              <a:prstDash val="solid"/>
              <a:headEnd type="none"/>
              <a:tailEnd type="none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0400" y="1130300"/>
              <a:ext cx="10858500" cy="6354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敏捷中如何用UML</a:t>
              </a:r>
              <a:endParaRPr lang="en-US" sz="1100"/>
            </a:p>
          </p:txBody>
        </p:sp>
        <p:grpSp>
          <p:nvGrpSpPr>
            <p:cNvPr id="11" name="Group 11"/>
            <p:cNvGrpSpPr/>
            <p:nvPr/>
          </p:nvGrpSpPr>
          <p:grpSpPr>
            <a:xfrm rot="0">
              <a:off x="1595193" y="2095163"/>
              <a:ext cx="2727814" cy="4140536"/>
              <a:chOff x="1595193" y="2095163"/>
              <a:chExt cx="2727814" cy="4140536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595193" y="3968843"/>
                <a:ext cx="2727814" cy="815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按需建模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14601" y="2095163"/>
                <a:ext cx="889000" cy="889000"/>
              </a:xfrm>
              <a:prstGeom prst="ellipse">
                <a:avLst/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60000">
                    <a:srgbClr val="F84D4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95193" y="4774862"/>
                <a:ext cx="2727814" cy="146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摒弃大前期设计（Big Design Up Front），根据实际需要，为当前迭代的关键用户故事创建简化的模型。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4732093" y="2095163"/>
              <a:ext cx="2727814" cy="4140536"/>
              <a:chOff x="4732093" y="2095163"/>
              <a:chExt cx="2727814" cy="414053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732093" y="3968843"/>
                <a:ext cx="2727814" cy="815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用户故事与图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651501" y="2095163"/>
                <a:ext cx="889000" cy="889000"/>
              </a:xfrm>
              <a:prstGeom prst="ellipse">
                <a:avLst/>
              </a:prstGeom>
              <a:gradFill>
                <a:gsLst>
                  <a:gs pos="0">
                    <a:srgbClr val="FF6B42">
                      <a:alpha val="100000"/>
                      <a:lumMod val="60000"/>
                      <a:lumOff val="40000"/>
                    </a:srgbClr>
                  </a:gs>
                  <a:gs pos="60000">
                    <a:srgbClr val="FF6B42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732093" y="4774862"/>
                <a:ext cx="2727814" cy="146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将用户故事作为需求的核心，使用用例图快速勾勒范围，用类图和顺序图澄清实现细节。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7868993" y="2095163"/>
              <a:ext cx="2727814" cy="4140536"/>
              <a:chOff x="7868993" y="2095163"/>
              <a:chExt cx="2727814" cy="4140536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868993" y="3968843"/>
                <a:ext cx="2727814" cy="815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避免过度设计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788401" y="2095163"/>
                <a:ext cx="889000" cy="889000"/>
              </a:xfrm>
              <a:prstGeom prst="ellipse">
                <a:avLst/>
              </a:prstGeom>
              <a:gradFill>
                <a:gsLst>
                  <a:gs pos="0">
                    <a:srgbClr val="5BA3EB">
                      <a:alpha val="100000"/>
                      <a:lumMod val="60000"/>
                      <a:lumOff val="40000"/>
                    </a:srgbClr>
                  </a:gs>
                  <a:gs pos="60000">
                    <a:srgbClr val="5BA3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68993" y="4774862"/>
                <a:ext cx="2727814" cy="146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坚持“刚刚好”的原则，只绘制对当前沟通和决策有帮助的图，避免“死亡由图表引起”（Death by UML）。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UML与敏捷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09600" y="609600"/>
            <a:ext cx="10858500" cy="4451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选择题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关于模型驱动架构（MDA），下列说法错误的是？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PIM独立于实现平台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PSM针对特定平台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QVT用于模型转换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MDA要求必须手工编写全部代码类 D. 构件类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09600" y="609600"/>
            <a:ext cx="10858500" cy="4451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选择题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关于模型驱动架构（MDA），下列说法错误的是？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PIM独立于实现平台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PSM针对特定平台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QVT用于模型转换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sz="28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MDA要求必须手工编写全部代码类</a:t>
            </a:r>
            <a:endParaRPr lang="en-US" sz="28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7754" y="1436914"/>
            <a:ext cx="5751146" cy="20500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知识回顾与总结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767754" y="3492500"/>
            <a:ext cx="5751146" cy="19285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系统梳理UML的图分类、核心价值，并指出未来学习的拓展方向，最后进行课程总结。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17300a8-8bb0-4700-bc9d-a1b8820e483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60088" cy="4939778"/>
            <a:chOff x="660400" y="1130300"/>
            <a:chExt cx="10860088" cy="4939778"/>
          </a:xfrm>
        </p:grpSpPr>
        <p:sp>
          <p:nvSpPr>
            <p:cNvPr id="4" name="AutoShape 4"/>
            <p:cNvSpPr/>
            <p:nvPr/>
          </p:nvSpPr>
          <p:spPr>
            <a:xfrm>
              <a:off x="5136426" y="2911426"/>
              <a:ext cx="592947" cy="609685"/>
            </a:xfrm>
            <a:custGeom>
              <a:avLst/>
              <a:gdLst/>
              <a:ahLst/>
              <a:cxnLst/>
              <a:rect l="l" t="t" r="r" b="b"/>
              <a:pathLst>
                <a:path w="590140" h="606798">
                  <a:moveTo>
                    <a:pt x="275280" y="496336"/>
                  </a:moveTo>
                  <a:lnTo>
                    <a:pt x="314935" y="496336"/>
                  </a:lnTo>
                  <a:lnTo>
                    <a:pt x="314935" y="542822"/>
                  </a:lnTo>
                  <a:lnTo>
                    <a:pt x="347213" y="542822"/>
                  </a:lnTo>
                  <a:lnTo>
                    <a:pt x="347213" y="554789"/>
                  </a:lnTo>
                  <a:lnTo>
                    <a:pt x="458801" y="554789"/>
                  </a:lnTo>
                  <a:lnTo>
                    <a:pt x="458801" y="594831"/>
                  </a:lnTo>
                  <a:lnTo>
                    <a:pt x="347213" y="594831"/>
                  </a:lnTo>
                  <a:lnTo>
                    <a:pt x="347213" y="606798"/>
                  </a:lnTo>
                  <a:lnTo>
                    <a:pt x="243463" y="606798"/>
                  </a:lnTo>
                  <a:lnTo>
                    <a:pt x="243463" y="594831"/>
                  </a:lnTo>
                  <a:lnTo>
                    <a:pt x="131414" y="594831"/>
                  </a:lnTo>
                  <a:lnTo>
                    <a:pt x="131414" y="554789"/>
                  </a:lnTo>
                  <a:lnTo>
                    <a:pt x="243463" y="554789"/>
                  </a:lnTo>
                  <a:lnTo>
                    <a:pt x="243463" y="542822"/>
                  </a:lnTo>
                  <a:lnTo>
                    <a:pt x="275280" y="542822"/>
                  </a:lnTo>
                  <a:close/>
                  <a:moveTo>
                    <a:pt x="341174" y="439218"/>
                  </a:moveTo>
                  <a:lnTo>
                    <a:pt x="341174" y="464548"/>
                  </a:lnTo>
                  <a:lnTo>
                    <a:pt x="416785" y="464548"/>
                  </a:lnTo>
                  <a:lnTo>
                    <a:pt x="416785" y="439218"/>
                  </a:lnTo>
                  <a:close/>
                  <a:moveTo>
                    <a:pt x="159063" y="412046"/>
                  </a:moveTo>
                  <a:cubicBezTo>
                    <a:pt x="153069" y="412046"/>
                    <a:pt x="148459" y="416651"/>
                    <a:pt x="148459" y="422638"/>
                  </a:cubicBezTo>
                  <a:cubicBezTo>
                    <a:pt x="148459" y="428625"/>
                    <a:pt x="153069" y="433692"/>
                    <a:pt x="159063" y="433692"/>
                  </a:cubicBezTo>
                  <a:cubicBezTo>
                    <a:pt x="165056" y="433692"/>
                    <a:pt x="169667" y="428625"/>
                    <a:pt x="169667" y="422638"/>
                  </a:cubicBezTo>
                  <a:cubicBezTo>
                    <a:pt x="169667" y="416651"/>
                    <a:pt x="165056" y="412046"/>
                    <a:pt x="159063" y="412046"/>
                  </a:cubicBezTo>
                  <a:close/>
                  <a:moveTo>
                    <a:pt x="145232" y="392242"/>
                  </a:moveTo>
                  <a:lnTo>
                    <a:pt x="445369" y="392242"/>
                  </a:lnTo>
                  <a:cubicBezTo>
                    <a:pt x="454590" y="392242"/>
                    <a:pt x="462428" y="400071"/>
                    <a:pt x="462428" y="409743"/>
                  </a:cubicBezTo>
                  <a:lnTo>
                    <a:pt x="462428" y="468693"/>
                  </a:lnTo>
                  <a:cubicBezTo>
                    <a:pt x="462428" y="478365"/>
                    <a:pt x="454590" y="486194"/>
                    <a:pt x="445369" y="486194"/>
                  </a:cubicBezTo>
                  <a:lnTo>
                    <a:pt x="145232" y="486194"/>
                  </a:lnTo>
                  <a:cubicBezTo>
                    <a:pt x="135550" y="486194"/>
                    <a:pt x="127712" y="478365"/>
                    <a:pt x="127712" y="468693"/>
                  </a:cubicBezTo>
                  <a:lnTo>
                    <a:pt x="127712" y="409743"/>
                  </a:lnTo>
                  <a:cubicBezTo>
                    <a:pt x="127712" y="400071"/>
                    <a:pt x="135550" y="392242"/>
                    <a:pt x="145232" y="392242"/>
                  </a:cubicBezTo>
                  <a:close/>
                  <a:moveTo>
                    <a:pt x="341174" y="336094"/>
                  </a:moveTo>
                  <a:lnTo>
                    <a:pt x="341174" y="360968"/>
                  </a:lnTo>
                  <a:lnTo>
                    <a:pt x="416785" y="360968"/>
                  </a:lnTo>
                  <a:lnTo>
                    <a:pt x="416785" y="336094"/>
                  </a:lnTo>
                  <a:close/>
                  <a:moveTo>
                    <a:pt x="159063" y="308917"/>
                  </a:moveTo>
                  <a:cubicBezTo>
                    <a:pt x="153069" y="308917"/>
                    <a:pt x="148459" y="313523"/>
                    <a:pt x="148459" y="319511"/>
                  </a:cubicBezTo>
                  <a:cubicBezTo>
                    <a:pt x="148459" y="325500"/>
                    <a:pt x="153069" y="330106"/>
                    <a:pt x="159063" y="330106"/>
                  </a:cubicBezTo>
                  <a:cubicBezTo>
                    <a:pt x="165056" y="330106"/>
                    <a:pt x="169667" y="325500"/>
                    <a:pt x="169667" y="319511"/>
                  </a:cubicBezTo>
                  <a:cubicBezTo>
                    <a:pt x="169667" y="313523"/>
                    <a:pt x="165056" y="308917"/>
                    <a:pt x="159063" y="308917"/>
                  </a:cubicBezTo>
                  <a:close/>
                  <a:moveTo>
                    <a:pt x="145232" y="289110"/>
                  </a:moveTo>
                  <a:lnTo>
                    <a:pt x="445369" y="289110"/>
                  </a:lnTo>
                  <a:cubicBezTo>
                    <a:pt x="454590" y="289110"/>
                    <a:pt x="462428" y="296941"/>
                    <a:pt x="462428" y="306153"/>
                  </a:cubicBezTo>
                  <a:lnTo>
                    <a:pt x="462428" y="365574"/>
                  </a:lnTo>
                  <a:cubicBezTo>
                    <a:pt x="462428" y="375247"/>
                    <a:pt x="454590" y="382617"/>
                    <a:pt x="445369" y="382617"/>
                  </a:cubicBezTo>
                  <a:lnTo>
                    <a:pt x="145232" y="382617"/>
                  </a:lnTo>
                  <a:cubicBezTo>
                    <a:pt x="135550" y="382617"/>
                    <a:pt x="127712" y="375247"/>
                    <a:pt x="127712" y="365574"/>
                  </a:cubicBezTo>
                  <a:lnTo>
                    <a:pt x="127712" y="306153"/>
                  </a:lnTo>
                  <a:cubicBezTo>
                    <a:pt x="127712" y="296941"/>
                    <a:pt x="135550" y="289110"/>
                    <a:pt x="145232" y="289110"/>
                  </a:cubicBezTo>
                  <a:close/>
                  <a:moveTo>
                    <a:pt x="341174" y="232510"/>
                  </a:moveTo>
                  <a:lnTo>
                    <a:pt x="341174" y="257840"/>
                  </a:lnTo>
                  <a:lnTo>
                    <a:pt x="416785" y="257840"/>
                  </a:lnTo>
                  <a:lnTo>
                    <a:pt x="416785" y="232510"/>
                  </a:lnTo>
                  <a:close/>
                  <a:moveTo>
                    <a:pt x="159063" y="205338"/>
                  </a:moveTo>
                  <a:cubicBezTo>
                    <a:pt x="153069" y="205338"/>
                    <a:pt x="148459" y="209943"/>
                    <a:pt x="148459" y="215930"/>
                  </a:cubicBezTo>
                  <a:cubicBezTo>
                    <a:pt x="148459" y="221917"/>
                    <a:pt x="153069" y="226984"/>
                    <a:pt x="159063" y="226984"/>
                  </a:cubicBezTo>
                  <a:cubicBezTo>
                    <a:pt x="165056" y="226984"/>
                    <a:pt x="169667" y="221917"/>
                    <a:pt x="169667" y="215930"/>
                  </a:cubicBezTo>
                  <a:cubicBezTo>
                    <a:pt x="169667" y="209943"/>
                    <a:pt x="165056" y="205338"/>
                    <a:pt x="159063" y="205338"/>
                  </a:cubicBezTo>
                  <a:close/>
                  <a:moveTo>
                    <a:pt x="145232" y="185534"/>
                  </a:moveTo>
                  <a:lnTo>
                    <a:pt x="445369" y="185534"/>
                  </a:lnTo>
                  <a:cubicBezTo>
                    <a:pt x="454590" y="185534"/>
                    <a:pt x="462428" y="193363"/>
                    <a:pt x="462428" y="203035"/>
                  </a:cubicBezTo>
                  <a:lnTo>
                    <a:pt x="462428" y="261985"/>
                  </a:lnTo>
                  <a:cubicBezTo>
                    <a:pt x="462428" y="271657"/>
                    <a:pt x="454590" y="279486"/>
                    <a:pt x="445369" y="279486"/>
                  </a:cubicBezTo>
                  <a:lnTo>
                    <a:pt x="145232" y="279486"/>
                  </a:lnTo>
                  <a:cubicBezTo>
                    <a:pt x="135550" y="279486"/>
                    <a:pt x="127712" y="271657"/>
                    <a:pt x="127712" y="261985"/>
                  </a:cubicBezTo>
                  <a:lnTo>
                    <a:pt x="127712" y="203035"/>
                  </a:lnTo>
                  <a:cubicBezTo>
                    <a:pt x="127712" y="193363"/>
                    <a:pt x="135550" y="185534"/>
                    <a:pt x="145232" y="185534"/>
                  </a:cubicBezTo>
                  <a:close/>
                  <a:moveTo>
                    <a:pt x="253115" y="0"/>
                  </a:moveTo>
                  <a:cubicBezTo>
                    <a:pt x="284927" y="0"/>
                    <a:pt x="315356" y="10129"/>
                    <a:pt x="340253" y="29007"/>
                  </a:cubicBezTo>
                  <a:cubicBezTo>
                    <a:pt x="343019" y="31309"/>
                    <a:pt x="346707" y="32230"/>
                    <a:pt x="349935" y="32230"/>
                  </a:cubicBezTo>
                  <a:cubicBezTo>
                    <a:pt x="352701" y="31770"/>
                    <a:pt x="355006" y="31770"/>
                    <a:pt x="357772" y="31770"/>
                  </a:cubicBezTo>
                  <a:cubicBezTo>
                    <a:pt x="398806" y="31770"/>
                    <a:pt x="437533" y="52028"/>
                    <a:pt x="461508" y="84258"/>
                  </a:cubicBezTo>
                  <a:cubicBezTo>
                    <a:pt x="463813" y="87941"/>
                    <a:pt x="467963" y="89783"/>
                    <a:pt x="472112" y="90244"/>
                  </a:cubicBezTo>
                  <a:cubicBezTo>
                    <a:pt x="538503" y="95769"/>
                    <a:pt x="590140" y="151480"/>
                    <a:pt x="590140" y="218702"/>
                  </a:cubicBezTo>
                  <a:cubicBezTo>
                    <a:pt x="590140" y="280400"/>
                    <a:pt x="546341" y="332428"/>
                    <a:pt x="487788" y="344399"/>
                  </a:cubicBezTo>
                  <a:lnTo>
                    <a:pt x="487788" y="306183"/>
                  </a:lnTo>
                  <a:cubicBezTo>
                    <a:pt x="487788" y="301579"/>
                    <a:pt x="487327" y="296975"/>
                    <a:pt x="485482" y="292831"/>
                  </a:cubicBezTo>
                  <a:cubicBezTo>
                    <a:pt x="516834" y="282702"/>
                    <a:pt x="539425" y="253234"/>
                    <a:pt x="539425" y="218702"/>
                  </a:cubicBezTo>
                  <a:cubicBezTo>
                    <a:pt x="539425" y="175422"/>
                    <a:pt x="504385" y="140430"/>
                    <a:pt x="461508" y="140430"/>
                  </a:cubicBezTo>
                  <a:cubicBezTo>
                    <a:pt x="458742" y="140430"/>
                    <a:pt x="455975" y="140890"/>
                    <a:pt x="453670" y="140890"/>
                  </a:cubicBezTo>
                  <a:cubicBezTo>
                    <a:pt x="443066" y="142272"/>
                    <a:pt x="432923" y="136286"/>
                    <a:pt x="428313" y="126617"/>
                  </a:cubicBezTo>
                  <a:cubicBezTo>
                    <a:pt x="414942" y="99452"/>
                    <a:pt x="387740" y="82416"/>
                    <a:pt x="357772" y="82416"/>
                  </a:cubicBezTo>
                  <a:cubicBezTo>
                    <a:pt x="352240" y="82416"/>
                    <a:pt x="347168" y="82877"/>
                    <a:pt x="341636" y="84258"/>
                  </a:cubicBezTo>
                  <a:cubicBezTo>
                    <a:pt x="333337" y="86100"/>
                    <a:pt x="325038" y="83337"/>
                    <a:pt x="318583" y="77352"/>
                  </a:cubicBezTo>
                  <a:cubicBezTo>
                    <a:pt x="301064" y="60316"/>
                    <a:pt x="277550" y="50647"/>
                    <a:pt x="253115" y="50647"/>
                  </a:cubicBezTo>
                  <a:cubicBezTo>
                    <a:pt x="209776" y="50647"/>
                    <a:pt x="172432" y="80114"/>
                    <a:pt x="161827" y="122013"/>
                  </a:cubicBezTo>
                  <a:cubicBezTo>
                    <a:pt x="159061" y="133984"/>
                    <a:pt x="147535" y="141811"/>
                    <a:pt x="135087" y="140890"/>
                  </a:cubicBezTo>
                  <a:cubicBezTo>
                    <a:pt x="133243" y="140890"/>
                    <a:pt x="130937" y="140430"/>
                    <a:pt x="129093" y="140430"/>
                  </a:cubicBezTo>
                  <a:cubicBezTo>
                    <a:pt x="85755" y="140430"/>
                    <a:pt x="50715" y="175422"/>
                    <a:pt x="50715" y="218702"/>
                  </a:cubicBezTo>
                  <a:cubicBezTo>
                    <a:pt x="50715" y="253234"/>
                    <a:pt x="73306" y="282702"/>
                    <a:pt x="104658" y="292831"/>
                  </a:cubicBezTo>
                  <a:cubicBezTo>
                    <a:pt x="103275" y="296975"/>
                    <a:pt x="102352" y="301579"/>
                    <a:pt x="102352" y="306183"/>
                  </a:cubicBezTo>
                  <a:lnTo>
                    <a:pt x="102352" y="344859"/>
                  </a:lnTo>
                  <a:cubicBezTo>
                    <a:pt x="43799" y="332428"/>
                    <a:pt x="0" y="280400"/>
                    <a:pt x="0" y="218702"/>
                  </a:cubicBezTo>
                  <a:cubicBezTo>
                    <a:pt x="0" y="153782"/>
                    <a:pt x="48410" y="99913"/>
                    <a:pt x="110651" y="91164"/>
                  </a:cubicBezTo>
                  <a:cubicBezTo>
                    <a:pt x="115723" y="90244"/>
                    <a:pt x="120333" y="87021"/>
                    <a:pt x="122177" y="82416"/>
                  </a:cubicBezTo>
                  <a:cubicBezTo>
                    <a:pt x="145691" y="32690"/>
                    <a:pt x="196406" y="0"/>
                    <a:pt x="253115" y="0"/>
                  </a:cubicBezTo>
                  <a:close/>
                </a:path>
              </a:pathLst>
            </a:custGeom>
            <a:solidFill>
              <a:srgbClr val="F84D4D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4813282" y="1854080"/>
              <a:ext cx="6707206" cy="1957319"/>
              <a:chOff x="4813282" y="2279389"/>
              <a:chExt cx="6707206" cy="1957319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4813282" y="2482483"/>
                <a:ext cx="1485000" cy="1754225"/>
              </a:xfrm>
              <a:custGeom>
                <a:avLst/>
                <a:gdLst/>
                <a:ahLst/>
                <a:cxnLst/>
                <a:rect l="l" t="t" r="r" b="b"/>
                <a:pathLst>
                  <a:path w="3657" h="4320">
                    <a:moveTo>
                      <a:pt x="2878" y="182"/>
                    </a:moveTo>
                    <a:lnTo>
                      <a:pt x="2813" y="186"/>
                    </a:lnTo>
                    <a:lnTo>
                      <a:pt x="2750" y="198"/>
                    </a:lnTo>
                    <a:lnTo>
                      <a:pt x="2690" y="217"/>
                    </a:lnTo>
                    <a:lnTo>
                      <a:pt x="2633" y="243"/>
                    </a:lnTo>
                    <a:lnTo>
                      <a:pt x="2581" y="275"/>
                    </a:lnTo>
                    <a:lnTo>
                      <a:pt x="2532" y="313"/>
                    </a:lnTo>
                    <a:lnTo>
                      <a:pt x="2489" y="357"/>
                    </a:lnTo>
                    <a:lnTo>
                      <a:pt x="2451" y="406"/>
                    </a:lnTo>
                    <a:lnTo>
                      <a:pt x="2419" y="458"/>
                    </a:lnTo>
                    <a:lnTo>
                      <a:pt x="2392" y="514"/>
                    </a:lnTo>
                    <a:lnTo>
                      <a:pt x="2373" y="575"/>
                    </a:lnTo>
                    <a:lnTo>
                      <a:pt x="2361" y="638"/>
                    </a:lnTo>
                    <a:lnTo>
                      <a:pt x="2357" y="703"/>
                    </a:lnTo>
                    <a:lnTo>
                      <a:pt x="2361" y="768"/>
                    </a:lnTo>
                    <a:lnTo>
                      <a:pt x="2373" y="831"/>
                    </a:lnTo>
                    <a:lnTo>
                      <a:pt x="2392" y="891"/>
                    </a:lnTo>
                    <a:lnTo>
                      <a:pt x="2419" y="948"/>
                    </a:lnTo>
                    <a:lnTo>
                      <a:pt x="2451" y="1001"/>
                    </a:lnTo>
                    <a:lnTo>
                      <a:pt x="2489" y="1049"/>
                    </a:lnTo>
                    <a:lnTo>
                      <a:pt x="2532" y="1093"/>
                    </a:lnTo>
                    <a:lnTo>
                      <a:pt x="2581" y="1131"/>
                    </a:lnTo>
                    <a:lnTo>
                      <a:pt x="2633" y="1164"/>
                    </a:lnTo>
                    <a:lnTo>
                      <a:pt x="2690" y="1189"/>
                    </a:lnTo>
                    <a:lnTo>
                      <a:pt x="2750" y="1208"/>
                    </a:lnTo>
                    <a:lnTo>
                      <a:pt x="2813" y="1220"/>
                    </a:lnTo>
                    <a:lnTo>
                      <a:pt x="2878" y="1224"/>
                    </a:lnTo>
                    <a:lnTo>
                      <a:pt x="2943" y="1220"/>
                    </a:lnTo>
                    <a:lnTo>
                      <a:pt x="3006" y="1208"/>
                    </a:lnTo>
                    <a:lnTo>
                      <a:pt x="3066" y="1189"/>
                    </a:lnTo>
                    <a:lnTo>
                      <a:pt x="3123" y="1164"/>
                    </a:lnTo>
                    <a:lnTo>
                      <a:pt x="3176" y="1131"/>
                    </a:lnTo>
                    <a:lnTo>
                      <a:pt x="3225" y="1093"/>
                    </a:lnTo>
                    <a:lnTo>
                      <a:pt x="3268" y="1049"/>
                    </a:lnTo>
                    <a:lnTo>
                      <a:pt x="3306" y="1001"/>
                    </a:lnTo>
                    <a:lnTo>
                      <a:pt x="3339" y="948"/>
                    </a:lnTo>
                    <a:lnTo>
                      <a:pt x="3365" y="891"/>
                    </a:lnTo>
                    <a:lnTo>
                      <a:pt x="3383" y="831"/>
                    </a:lnTo>
                    <a:lnTo>
                      <a:pt x="3395" y="768"/>
                    </a:lnTo>
                    <a:lnTo>
                      <a:pt x="3399" y="703"/>
                    </a:lnTo>
                    <a:lnTo>
                      <a:pt x="3395" y="638"/>
                    </a:lnTo>
                    <a:lnTo>
                      <a:pt x="3383" y="575"/>
                    </a:lnTo>
                    <a:lnTo>
                      <a:pt x="3365" y="514"/>
                    </a:lnTo>
                    <a:lnTo>
                      <a:pt x="3339" y="458"/>
                    </a:lnTo>
                    <a:lnTo>
                      <a:pt x="3306" y="406"/>
                    </a:lnTo>
                    <a:lnTo>
                      <a:pt x="3268" y="357"/>
                    </a:lnTo>
                    <a:lnTo>
                      <a:pt x="3225" y="313"/>
                    </a:lnTo>
                    <a:lnTo>
                      <a:pt x="3176" y="275"/>
                    </a:lnTo>
                    <a:lnTo>
                      <a:pt x="3123" y="243"/>
                    </a:lnTo>
                    <a:lnTo>
                      <a:pt x="3066" y="217"/>
                    </a:lnTo>
                    <a:lnTo>
                      <a:pt x="3006" y="198"/>
                    </a:lnTo>
                    <a:lnTo>
                      <a:pt x="2943" y="186"/>
                    </a:lnTo>
                    <a:lnTo>
                      <a:pt x="2878" y="182"/>
                    </a:lnTo>
                    <a:close/>
                    <a:moveTo>
                      <a:pt x="2603" y="0"/>
                    </a:moveTo>
                    <a:lnTo>
                      <a:pt x="3154" y="0"/>
                    </a:lnTo>
                    <a:lnTo>
                      <a:pt x="3193" y="4"/>
                    </a:lnTo>
                    <a:lnTo>
                      <a:pt x="3231" y="14"/>
                    </a:lnTo>
                    <a:lnTo>
                      <a:pt x="3268" y="30"/>
                    </a:lnTo>
                    <a:lnTo>
                      <a:pt x="3299" y="52"/>
                    </a:lnTo>
                    <a:lnTo>
                      <a:pt x="3327" y="81"/>
                    </a:lnTo>
                    <a:lnTo>
                      <a:pt x="3350" y="114"/>
                    </a:lnTo>
                    <a:lnTo>
                      <a:pt x="3625" y="589"/>
                    </a:lnTo>
                    <a:lnTo>
                      <a:pt x="3642" y="626"/>
                    </a:lnTo>
                    <a:lnTo>
                      <a:pt x="3653" y="664"/>
                    </a:lnTo>
                    <a:lnTo>
                      <a:pt x="3657" y="703"/>
                    </a:lnTo>
                    <a:lnTo>
                      <a:pt x="3653" y="742"/>
                    </a:lnTo>
                    <a:lnTo>
                      <a:pt x="3642" y="782"/>
                    </a:lnTo>
                    <a:lnTo>
                      <a:pt x="3625" y="817"/>
                    </a:lnTo>
                    <a:lnTo>
                      <a:pt x="3350" y="1293"/>
                    </a:lnTo>
                    <a:lnTo>
                      <a:pt x="3327" y="1326"/>
                    </a:lnTo>
                    <a:lnTo>
                      <a:pt x="3299" y="1355"/>
                    </a:lnTo>
                    <a:lnTo>
                      <a:pt x="3268" y="1377"/>
                    </a:lnTo>
                    <a:lnTo>
                      <a:pt x="3231" y="1394"/>
                    </a:lnTo>
                    <a:lnTo>
                      <a:pt x="3193" y="1405"/>
                    </a:lnTo>
                    <a:lnTo>
                      <a:pt x="3154" y="1409"/>
                    </a:lnTo>
                    <a:lnTo>
                      <a:pt x="2747" y="1409"/>
                    </a:lnTo>
                    <a:lnTo>
                      <a:pt x="2744" y="1409"/>
                    </a:lnTo>
                    <a:lnTo>
                      <a:pt x="2738" y="1409"/>
                    </a:lnTo>
                    <a:lnTo>
                      <a:pt x="2729" y="1411"/>
                    </a:lnTo>
                    <a:lnTo>
                      <a:pt x="2717" y="1413"/>
                    </a:lnTo>
                    <a:lnTo>
                      <a:pt x="2703" y="1416"/>
                    </a:lnTo>
                    <a:lnTo>
                      <a:pt x="2686" y="1422"/>
                    </a:lnTo>
                    <a:lnTo>
                      <a:pt x="2669" y="1430"/>
                    </a:lnTo>
                    <a:lnTo>
                      <a:pt x="2650" y="1437"/>
                    </a:lnTo>
                    <a:lnTo>
                      <a:pt x="2631" y="1449"/>
                    </a:lnTo>
                    <a:lnTo>
                      <a:pt x="2612" y="1462"/>
                    </a:lnTo>
                    <a:lnTo>
                      <a:pt x="2594" y="1478"/>
                    </a:lnTo>
                    <a:lnTo>
                      <a:pt x="2578" y="1496"/>
                    </a:lnTo>
                    <a:lnTo>
                      <a:pt x="2563" y="1519"/>
                    </a:lnTo>
                    <a:lnTo>
                      <a:pt x="2549" y="1543"/>
                    </a:lnTo>
                    <a:lnTo>
                      <a:pt x="2540" y="1572"/>
                    </a:lnTo>
                    <a:lnTo>
                      <a:pt x="2532" y="1604"/>
                    </a:lnTo>
                    <a:lnTo>
                      <a:pt x="2530" y="1640"/>
                    </a:lnTo>
                    <a:lnTo>
                      <a:pt x="2531" y="1681"/>
                    </a:lnTo>
                    <a:lnTo>
                      <a:pt x="2536" y="1725"/>
                    </a:lnTo>
                    <a:lnTo>
                      <a:pt x="3078" y="2661"/>
                    </a:lnTo>
                    <a:lnTo>
                      <a:pt x="3103" y="2710"/>
                    </a:lnTo>
                    <a:lnTo>
                      <a:pt x="3121" y="2760"/>
                    </a:lnTo>
                    <a:lnTo>
                      <a:pt x="3133" y="2812"/>
                    </a:lnTo>
                    <a:lnTo>
                      <a:pt x="3140" y="2864"/>
                    </a:lnTo>
                    <a:lnTo>
                      <a:pt x="3140" y="2918"/>
                    </a:lnTo>
                    <a:lnTo>
                      <a:pt x="3133" y="2970"/>
                    </a:lnTo>
                    <a:lnTo>
                      <a:pt x="3121" y="3023"/>
                    </a:lnTo>
                    <a:lnTo>
                      <a:pt x="3103" y="3074"/>
                    </a:lnTo>
                    <a:lnTo>
                      <a:pt x="3078" y="3122"/>
                    </a:lnTo>
                    <a:lnTo>
                      <a:pt x="2523" y="4086"/>
                    </a:lnTo>
                    <a:lnTo>
                      <a:pt x="2493" y="4130"/>
                    </a:lnTo>
                    <a:lnTo>
                      <a:pt x="2459" y="4172"/>
                    </a:lnTo>
                    <a:lnTo>
                      <a:pt x="2420" y="4209"/>
                    </a:lnTo>
                    <a:lnTo>
                      <a:pt x="2378" y="4241"/>
                    </a:lnTo>
                    <a:lnTo>
                      <a:pt x="2332" y="4269"/>
                    </a:lnTo>
                    <a:lnTo>
                      <a:pt x="2284" y="4291"/>
                    </a:lnTo>
                    <a:lnTo>
                      <a:pt x="2233" y="4307"/>
                    </a:lnTo>
                    <a:lnTo>
                      <a:pt x="2179" y="4316"/>
                    </a:lnTo>
                    <a:lnTo>
                      <a:pt x="2125" y="4320"/>
                    </a:lnTo>
                    <a:lnTo>
                      <a:pt x="1013" y="4320"/>
                    </a:lnTo>
                    <a:lnTo>
                      <a:pt x="959" y="4316"/>
                    </a:lnTo>
                    <a:lnTo>
                      <a:pt x="907" y="4307"/>
                    </a:lnTo>
                    <a:lnTo>
                      <a:pt x="856" y="4291"/>
                    </a:lnTo>
                    <a:lnTo>
                      <a:pt x="808" y="4269"/>
                    </a:lnTo>
                    <a:lnTo>
                      <a:pt x="762" y="4241"/>
                    </a:lnTo>
                    <a:lnTo>
                      <a:pt x="719" y="4210"/>
                    </a:lnTo>
                    <a:lnTo>
                      <a:pt x="681" y="4172"/>
                    </a:lnTo>
                    <a:lnTo>
                      <a:pt x="647" y="4131"/>
                    </a:lnTo>
                    <a:lnTo>
                      <a:pt x="616" y="4086"/>
                    </a:lnTo>
                    <a:lnTo>
                      <a:pt x="60" y="3121"/>
                    </a:lnTo>
                    <a:lnTo>
                      <a:pt x="37" y="3072"/>
                    </a:lnTo>
                    <a:lnTo>
                      <a:pt x="18" y="3021"/>
                    </a:lnTo>
                    <a:lnTo>
                      <a:pt x="5" y="2970"/>
                    </a:lnTo>
                    <a:lnTo>
                      <a:pt x="0" y="2918"/>
                    </a:lnTo>
                    <a:lnTo>
                      <a:pt x="0" y="2864"/>
                    </a:lnTo>
                    <a:lnTo>
                      <a:pt x="5" y="2812"/>
                    </a:lnTo>
                    <a:lnTo>
                      <a:pt x="18" y="2761"/>
                    </a:lnTo>
                    <a:lnTo>
                      <a:pt x="37" y="2710"/>
                    </a:lnTo>
                    <a:lnTo>
                      <a:pt x="60" y="2661"/>
                    </a:lnTo>
                    <a:lnTo>
                      <a:pt x="616" y="1704"/>
                    </a:lnTo>
                    <a:lnTo>
                      <a:pt x="647" y="1659"/>
                    </a:lnTo>
                    <a:lnTo>
                      <a:pt x="681" y="1618"/>
                    </a:lnTo>
                    <a:lnTo>
                      <a:pt x="719" y="1583"/>
                    </a:lnTo>
                    <a:lnTo>
                      <a:pt x="762" y="1553"/>
                    </a:lnTo>
                    <a:lnTo>
                      <a:pt x="808" y="1526"/>
                    </a:lnTo>
                    <a:lnTo>
                      <a:pt x="856" y="1507"/>
                    </a:lnTo>
                    <a:lnTo>
                      <a:pt x="907" y="1492"/>
                    </a:lnTo>
                    <a:lnTo>
                      <a:pt x="959" y="1483"/>
                    </a:lnTo>
                    <a:lnTo>
                      <a:pt x="1013" y="1479"/>
                    </a:lnTo>
                    <a:lnTo>
                      <a:pt x="2125" y="1479"/>
                    </a:lnTo>
                    <a:lnTo>
                      <a:pt x="2171" y="1474"/>
                    </a:lnTo>
                    <a:lnTo>
                      <a:pt x="2211" y="1464"/>
                    </a:lnTo>
                    <a:lnTo>
                      <a:pt x="2243" y="1452"/>
                    </a:lnTo>
                    <a:lnTo>
                      <a:pt x="2272" y="1437"/>
                    </a:lnTo>
                    <a:lnTo>
                      <a:pt x="2296" y="1420"/>
                    </a:lnTo>
                    <a:lnTo>
                      <a:pt x="2314" y="1402"/>
                    </a:lnTo>
                    <a:lnTo>
                      <a:pt x="2328" y="1382"/>
                    </a:lnTo>
                    <a:lnTo>
                      <a:pt x="2339" y="1361"/>
                    </a:lnTo>
                    <a:lnTo>
                      <a:pt x="2347" y="1339"/>
                    </a:lnTo>
                    <a:lnTo>
                      <a:pt x="2352" y="1317"/>
                    </a:lnTo>
                    <a:lnTo>
                      <a:pt x="2353" y="1295"/>
                    </a:lnTo>
                    <a:lnTo>
                      <a:pt x="2353" y="1274"/>
                    </a:lnTo>
                    <a:lnTo>
                      <a:pt x="2352" y="1253"/>
                    </a:lnTo>
                    <a:lnTo>
                      <a:pt x="2349" y="1233"/>
                    </a:lnTo>
                    <a:lnTo>
                      <a:pt x="2345" y="1215"/>
                    </a:lnTo>
                    <a:lnTo>
                      <a:pt x="2341" y="1199"/>
                    </a:lnTo>
                    <a:lnTo>
                      <a:pt x="2336" y="1185"/>
                    </a:lnTo>
                    <a:lnTo>
                      <a:pt x="2332" y="1173"/>
                    </a:lnTo>
                    <a:lnTo>
                      <a:pt x="2328" y="1164"/>
                    </a:lnTo>
                    <a:lnTo>
                      <a:pt x="2326" y="1159"/>
                    </a:lnTo>
                    <a:lnTo>
                      <a:pt x="2326" y="1157"/>
                    </a:lnTo>
                    <a:lnTo>
                      <a:pt x="2132" y="817"/>
                    </a:lnTo>
                    <a:lnTo>
                      <a:pt x="2115" y="780"/>
                    </a:lnTo>
                    <a:lnTo>
                      <a:pt x="2104" y="742"/>
                    </a:lnTo>
                    <a:lnTo>
                      <a:pt x="2101" y="703"/>
                    </a:lnTo>
                    <a:lnTo>
                      <a:pt x="2104" y="664"/>
                    </a:lnTo>
                    <a:lnTo>
                      <a:pt x="2115" y="626"/>
                    </a:lnTo>
                    <a:lnTo>
                      <a:pt x="2132" y="589"/>
                    </a:lnTo>
                    <a:lnTo>
                      <a:pt x="2407" y="114"/>
                    </a:lnTo>
                    <a:lnTo>
                      <a:pt x="2429" y="81"/>
                    </a:lnTo>
                    <a:lnTo>
                      <a:pt x="2458" y="52"/>
                    </a:lnTo>
                    <a:lnTo>
                      <a:pt x="2489" y="30"/>
                    </a:lnTo>
                    <a:lnTo>
                      <a:pt x="2525" y="14"/>
                    </a:lnTo>
                    <a:lnTo>
                      <a:pt x="2563" y="4"/>
                    </a:lnTo>
                    <a:lnTo>
                      <a:pt x="2603" y="0"/>
                    </a:lnTo>
                    <a:close/>
                  </a:path>
                </a:pathLst>
              </a:custGeom>
              <a:solidFill>
                <a:srgbClr val="F0F0F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 rot="0">
                <a:off x="5794279" y="2279389"/>
                <a:ext cx="5726209" cy="1792886"/>
                <a:chOff x="5794279" y="2279389"/>
                <a:chExt cx="5726209" cy="1792886"/>
              </a:xfrm>
            </p:grpSpPr>
            <p:sp>
              <p:nvSpPr>
                <p:cNvPr id="8" name="TextBox 8"/>
                <p:cNvSpPr txBox="1"/>
                <p:nvPr/>
              </p:nvSpPr>
              <p:spPr>
                <a:xfrm>
                  <a:off x="5794279" y="2572539"/>
                  <a:ext cx="391288" cy="39560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  <p:grpSp>
              <p:nvGrpSpPr>
                <p:cNvPr id="9" name="Group 9"/>
                <p:cNvGrpSpPr/>
                <p:nvPr/>
              </p:nvGrpSpPr>
              <p:grpSpPr>
                <a:xfrm rot="0">
                  <a:off x="6411000" y="2279389"/>
                  <a:ext cx="5109488" cy="1792886"/>
                  <a:chOff x="6411000" y="2279389"/>
                  <a:chExt cx="5109488" cy="1792886"/>
                </a:xfrm>
              </p:grpSpPr>
              <p:sp>
                <p:nvSpPr>
                  <p:cNvPr id="10" name="AutoShape 10"/>
                  <p:cNvSpPr/>
                  <p:nvPr/>
                </p:nvSpPr>
                <p:spPr>
                  <a:xfrm>
                    <a:off x="6411000" y="2770340"/>
                    <a:ext cx="5109488" cy="0"/>
                  </a:xfrm>
                  <a:prstGeom prst="line">
                    <a:avLst/>
                  </a:prstGeom>
                  <a:ln w="3175">
                    <a:solidFill>
                      <a:srgbClr val="F0F0F0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1" name="Group 11"/>
                  <p:cNvGrpSpPr/>
                  <p:nvPr/>
                </p:nvGrpSpPr>
                <p:grpSpPr>
                  <a:xfrm rot="0">
                    <a:off x="7671000" y="2279389"/>
                    <a:ext cx="3847900" cy="1792886"/>
                    <a:chOff x="7671000" y="2279389"/>
                    <a:chExt cx="3847900" cy="1792886"/>
                  </a:xfrm>
                </p:grpSpPr>
                <p:sp>
                  <p:nvSpPr>
                    <p:cNvPr id="12" name="TextBox 12"/>
                    <p:cNvSpPr txBox="1"/>
                    <p:nvPr/>
                  </p:nvSpPr>
                  <p:spPr>
                    <a:xfrm>
                      <a:off x="7671000" y="2770340"/>
                      <a:ext cx="3847900" cy="1301935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vert="horz" wrap="square" lIns="90000" tIns="46800" rIns="90000" bIns="46800" rtlCol="0" anchor="t" anchorCtr="0"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0"/>
                        </a:spcBef>
                        <a:buFont typeface="Arial" panose="020B0604020202020204"/>
                        <a:buChar char="•"/>
                        <a:defRPr/>
                      </a:pPr>
                      <a:r>
                        <a:rPr lang="en-US" sz="1200" b="0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类图、对象图、构件图、部署图、包图、组合结构图、外廓图。</a:t>
                      </a:r>
                      <a:endParaRPr lang="en-US" sz="1100"/>
                    </a:p>
                  </p:txBody>
                </p:sp>
                <p:sp>
                  <p:nvSpPr>
                    <p:cNvPr id="13" name="TextBox 13"/>
                    <p:cNvSpPr txBox="1"/>
                    <p:nvPr/>
                  </p:nvSpPr>
                  <p:spPr>
                    <a:xfrm>
                      <a:off x="7671000" y="2279389"/>
                      <a:ext cx="3847900" cy="490951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vert="horz" wrap="square" lIns="90000" tIns="46800" rIns="90000" bIns="46800" rtlCol="0" anchor="b" anchorCtr="0"/>
                    <a:lstStyle/>
                    <a:p>
                      <a:pPr algn="r">
                        <a:spcBef>
                          <a:spcPts val="0"/>
                        </a:spcBef>
                        <a:defRPr/>
                      </a:pPr>
                      <a:r>
                        <a:rPr lang="en-US"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结构图</a:t>
                      </a:r>
                      <a:endParaRPr lang="en-US" sz="1100"/>
                    </a:p>
                  </p:txBody>
                </p:sp>
              </p:grpSp>
            </p:grpSp>
          </p:grpSp>
        </p:grpSp>
        <p:grpSp>
          <p:nvGrpSpPr>
            <p:cNvPr id="14" name="Group 14"/>
            <p:cNvGrpSpPr/>
            <p:nvPr/>
          </p:nvGrpSpPr>
          <p:grpSpPr>
            <a:xfrm rot="0">
              <a:off x="669925" y="3301774"/>
              <a:ext cx="6708794" cy="2768304"/>
              <a:chOff x="669925" y="3727083"/>
              <a:chExt cx="6708794" cy="2768304"/>
            </a:xfrm>
          </p:grpSpPr>
          <p:sp>
            <p:nvSpPr>
              <p:cNvPr id="15" name="AutoShape 15"/>
              <p:cNvSpPr/>
              <p:nvPr/>
            </p:nvSpPr>
            <p:spPr>
              <a:xfrm flipV="1">
                <a:off x="5893719" y="3727083"/>
                <a:ext cx="1485000" cy="1754225"/>
              </a:xfrm>
              <a:custGeom>
                <a:avLst/>
                <a:gdLst/>
                <a:ahLst/>
                <a:cxnLst/>
                <a:rect l="l" t="t" r="r" b="b"/>
                <a:pathLst>
                  <a:path w="3657" h="4320">
                    <a:moveTo>
                      <a:pt x="2878" y="182"/>
                    </a:moveTo>
                    <a:lnTo>
                      <a:pt x="2813" y="186"/>
                    </a:lnTo>
                    <a:lnTo>
                      <a:pt x="2750" y="198"/>
                    </a:lnTo>
                    <a:lnTo>
                      <a:pt x="2690" y="217"/>
                    </a:lnTo>
                    <a:lnTo>
                      <a:pt x="2633" y="243"/>
                    </a:lnTo>
                    <a:lnTo>
                      <a:pt x="2581" y="275"/>
                    </a:lnTo>
                    <a:lnTo>
                      <a:pt x="2532" y="313"/>
                    </a:lnTo>
                    <a:lnTo>
                      <a:pt x="2489" y="357"/>
                    </a:lnTo>
                    <a:lnTo>
                      <a:pt x="2451" y="406"/>
                    </a:lnTo>
                    <a:lnTo>
                      <a:pt x="2419" y="458"/>
                    </a:lnTo>
                    <a:lnTo>
                      <a:pt x="2392" y="514"/>
                    </a:lnTo>
                    <a:lnTo>
                      <a:pt x="2373" y="575"/>
                    </a:lnTo>
                    <a:lnTo>
                      <a:pt x="2361" y="638"/>
                    </a:lnTo>
                    <a:lnTo>
                      <a:pt x="2357" y="703"/>
                    </a:lnTo>
                    <a:lnTo>
                      <a:pt x="2361" y="768"/>
                    </a:lnTo>
                    <a:lnTo>
                      <a:pt x="2373" y="831"/>
                    </a:lnTo>
                    <a:lnTo>
                      <a:pt x="2392" y="891"/>
                    </a:lnTo>
                    <a:lnTo>
                      <a:pt x="2419" y="948"/>
                    </a:lnTo>
                    <a:lnTo>
                      <a:pt x="2451" y="1001"/>
                    </a:lnTo>
                    <a:lnTo>
                      <a:pt x="2489" y="1049"/>
                    </a:lnTo>
                    <a:lnTo>
                      <a:pt x="2532" y="1093"/>
                    </a:lnTo>
                    <a:lnTo>
                      <a:pt x="2581" y="1131"/>
                    </a:lnTo>
                    <a:lnTo>
                      <a:pt x="2633" y="1164"/>
                    </a:lnTo>
                    <a:lnTo>
                      <a:pt x="2690" y="1189"/>
                    </a:lnTo>
                    <a:lnTo>
                      <a:pt x="2750" y="1208"/>
                    </a:lnTo>
                    <a:lnTo>
                      <a:pt x="2813" y="1220"/>
                    </a:lnTo>
                    <a:lnTo>
                      <a:pt x="2878" y="1224"/>
                    </a:lnTo>
                    <a:lnTo>
                      <a:pt x="2943" y="1220"/>
                    </a:lnTo>
                    <a:lnTo>
                      <a:pt x="3006" y="1208"/>
                    </a:lnTo>
                    <a:lnTo>
                      <a:pt x="3066" y="1189"/>
                    </a:lnTo>
                    <a:lnTo>
                      <a:pt x="3123" y="1164"/>
                    </a:lnTo>
                    <a:lnTo>
                      <a:pt x="3176" y="1131"/>
                    </a:lnTo>
                    <a:lnTo>
                      <a:pt x="3225" y="1093"/>
                    </a:lnTo>
                    <a:lnTo>
                      <a:pt x="3268" y="1049"/>
                    </a:lnTo>
                    <a:lnTo>
                      <a:pt x="3306" y="1001"/>
                    </a:lnTo>
                    <a:lnTo>
                      <a:pt x="3339" y="948"/>
                    </a:lnTo>
                    <a:lnTo>
                      <a:pt x="3365" y="891"/>
                    </a:lnTo>
                    <a:lnTo>
                      <a:pt x="3383" y="831"/>
                    </a:lnTo>
                    <a:lnTo>
                      <a:pt x="3395" y="768"/>
                    </a:lnTo>
                    <a:lnTo>
                      <a:pt x="3399" y="703"/>
                    </a:lnTo>
                    <a:lnTo>
                      <a:pt x="3395" y="638"/>
                    </a:lnTo>
                    <a:lnTo>
                      <a:pt x="3383" y="575"/>
                    </a:lnTo>
                    <a:lnTo>
                      <a:pt x="3365" y="514"/>
                    </a:lnTo>
                    <a:lnTo>
                      <a:pt x="3339" y="458"/>
                    </a:lnTo>
                    <a:lnTo>
                      <a:pt x="3306" y="406"/>
                    </a:lnTo>
                    <a:lnTo>
                      <a:pt x="3268" y="357"/>
                    </a:lnTo>
                    <a:lnTo>
                      <a:pt x="3225" y="313"/>
                    </a:lnTo>
                    <a:lnTo>
                      <a:pt x="3176" y="275"/>
                    </a:lnTo>
                    <a:lnTo>
                      <a:pt x="3123" y="243"/>
                    </a:lnTo>
                    <a:lnTo>
                      <a:pt x="3066" y="217"/>
                    </a:lnTo>
                    <a:lnTo>
                      <a:pt x="3006" y="198"/>
                    </a:lnTo>
                    <a:lnTo>
                      <a:pt x="2943" y="186"/>
                    </a:lnTo>
                    <a:lnTo>
                      <a:pt x="2878" y="182"/>
                    </a:lnTo>
                    <a:close/>
                    <a:moveTo>
                      <a:pt x="2603" y="0"/>
                    </a:moveTo>
                    <a:lnTo>
                      <a:pt x="3154" y="0"/>
                    </a:lnTo>
                    <a:lnTo>
                      <a:pt x="3193" y="4"/>
                    </a:lnTo>
                    <a:lnTo>
                      <a:pt x="3231" y="14"/>
                    </a:lnTo>
                    <a:lnTo>
                      <a:pt x="3268" y="30"/>
                    </a:lnTo>
                    <a:lnTo>
                      <a:pt x="3299" y="52"/>
                    </a:lnTo>
                    <a:lnTo>
                      <a:pt x="3327" y="81"/>
                    </a:lnTo>
                    <a:lnTo>
                      <a:pt x="3350" y="114"/>
                    </a:lnTo>
                    <a:lnTo>
                      <a:pt x="3625" y="589"/>
                    </a:lnTo>
                    <a:lnTo>
                      <a:pt x="3642" y="626"/>
                    </a:lnTo>
                    <a:lnTo>
                      <a:pt x="3653" y="664"/>
                    </a:lnTo>
                    <a:lnTo>
                      <a:pt x="3657" y="703"/>
                    </a:lnTo>
                    <a:lnTo>
                      <a:pt x="3653" y="742"/>
                    </a:lnTo>
                    <a:lnTo>
                      <a:pt x="3642" y="782"/>
                    </a:lnTo>
                    <a:lnTo>
                      <a:pt x="3625" y="817"/>
                    </a:lnTo>
                    <a:lnTo>
                      <a:pt x="3350" y="1293"/>
                    </a:lnTo>
                    <a:lnTo>
                      <a:pt x="3327" y="1326"/>
                    </a:lnTo>
                    <a:lnTo>
                      <a:pt x="3299" y="1355"/>
                    </a:lnTo>
                    <a:lnTo>
                      <a:pt x="3268" y="1377"/>
                    </a:lnTo>
                    <a:lnTo>
                      <a:pt x="3231" y="1394"/>
                    </a:lnTo>
                    <a:lnTo>
                      <a:pt x="3193" y="1405"/>
                    </a:lnTo>
                    <a:lnTo>
                      <a:pt x="3154" y="1409"/>
                    </a:lnTo>
                    <a:lnTo>
                      <a:pt x="2747" y="1409"/>
                    </a:lnTo>
                    <a:lnTo>
                      <a:pt x="2744" y="1409"/>
                    </a:lnTo>
                    <a:lnTo>
                      <a:pt x="2738" y="1409"/>
                    </a:lnTo>
                    <a:lnTo>
                      <a:pt x="2729" y="1411"/>
                    </a:lnTo>
                    <a:lnTo>
                      <a:pt x="2717" y="1413"/>
                    </a:lnTo>
                    <a:lnTo>
                      <a:pt x="2703" y="1416"/>
                    </a:lnTo>
                    <a:lnTo>
                      <a:pt x="2686" y="1422"/>
                    </a:lnTo>
                    <a:lnTo>
                      <a:pt x="2669" y="1430"/>
                    </a:lnTo>
                    <a:lnTo>
                      <a:pt x="2650" y="1437"/>
                    </a:lnTo>
                    <a:lnTo>
                      <a:pt x="2631" y="1449"/>
                    </a:lnTo>
                    <a:lnTo>
                      <a:pt x="2612" y="1462"/>
                    </a:lnTo>
                    <a:lnTo>
                      <a:pt x="2594" y="1478"/>
                    </a:lnTo>
                    <a:lnTo>
                      <a:pt x="2578" y="1496"/>
                    </a:lnTo>
                    <a:lnTo>
                      <a:pt x="2563" y="1519"/>
                    </a:lnTo>
                    <a:lnTo>
                      <a:pt x="2549" y="1543"/>
                    </a:lnTo>
                    <a:lnTo>
                      <a:pt x="2540" y="1572"/>
                    </a:lnTo>
                    <a:lnTo>
                      <a:pt x="2532" y="1604"/>
                    </a:lnTo>
                    <a:lnTo>
                      <a:pt x="2530" y="1640"/>
                    </a:lnTo>
                    <a:lnTo>
                      <a:pt x="2531" y="1681"/>
                    </a:lnTo>
                    <a:lnTo>
                      <a:pt x="2536" y="1725"/>
                    </a:lnTo>
                    <a:lnTo>
                      <a:pt x="3078" y="2661"/>
                    </a:lnTo>
                    <a:lnTo>
                      <a:pt x="3103" y="2710"/>
                    </a:lnTo>
                    <a:lnTo>
                      <a:pt x="3121" y="2760"/>
                    </a:lnTo>
                    <a:lnTo>
                      <a:pt x="3133" y="2812"/>
                    </a:lnTo>
                    <a:lnTo>
                      <a:pt x="3140" y="2864"/>
                    </a:lnTo>
                    <a:lnTo>
                      <a:pt x="3140" y="2918"/>
                    </a:lnTo>
                    <a:lnTo>
                      <a:pt x="3133" y="2970"/>
                    </a:lnTo>
                    <a:lnTo>
                      <a:pt x="3121" y="3023"/>
                    </a:lnTo>
                    <a:lnTo>
                      <a:pt x="3103" y="3074"/>
                    </a:lnTo>
                    <a:lnTo>
                      <a:pt x="3078" y="3122"/>
                    </a:lnTo>
                    <a:lnTo>
                      <a:pt x="2523" y="4086"/>
                    </a:lnTo>
                    <a:lnTo>
                      <a:pt x="2493" y="4130"/>
                    </a:lnTo>
                    <a:lnTo>
                      <a:pt x="2459" y="4172"/>
                    </a:lnTo>
                    <a:lnTo>
                      <a:pt x="2420" y="4209"/>
                    </a:lnTo>
                    <a:lnTo>
                      <a:pt x="2378" y="4241"/>
                    </a:lnTo>
                    <a:lnTo>
                      <a:pt x="2332" y="4269"/>
                    </a:lnTo>
                    <a:lnTo>
                      <a:pt x="2284" y="4291"/>
                    </a:lnTo>
                    <a:lnTo>
                      <a:pt x="2233" y="4307"/>
                    </a:lnTo>
                    <a:lnTo>
                      <a:pt x="2179" y="4316"/>
                    </a:lnTo>
                    <a:lnTo>
                      <a:pt x="2125" y="4320"/>
                    </a:lnTo>
                    <a:lnTo>
                      <a:pt x="1013" y="4320"/>
                    </a:lnTo>
                    <a:lnTo>
                      <a:pt x="959" y="4316"/>
                    </a:lnTo>
                    <a:lnTo>
                      <a:pt x="907" y="4307"/>
                    </a:lnTo>
                    <a:lnTo>
                      <a:pt x="856" y="4291"/>
                    </a:lnTo>
                    <a:lnTo>
                      <a:pt x="808" y="4269"/>
                    </a:lnTo>
                    <a:lnTo>
                      <a:pt x="762" y="4241"/>
                    </a:lnTo>
                    <a:lnTo>
                      <a:pt x="719" y="4210"/>
                    </a:lnTo>
                    <a:lnTo>
                      <a:pt x="681" y="4172"/>
                    </a:lnTo>
                    <a:lnTo>
                      <a:pt x="647" y="4131"/>
                    </a:lnTo>
                    <a:lnTo>
                      <a:pt x="616" y="4086"/>
                    </a:lnTo>
                    <a:lnTo>
                      <a:pt x="60" y="3121"/>
                    </a:lnTo>
                    <a:lnTo>
                      <a:pt x="37" y="3072"/>
                    </a:lnTo>
                    <a:lnTo>
                      <a:pt x="18" y="3021"/>
                    </a:lnTo>
                    <a:lnTo>
                      <a:pt x="5" y="2970"/>
                    </a:lnTo>
                    <a:lnTo>
                      <a:pt x="0" y="2918"/>
                    </a:lnTo>
                    <a:lnTo>
                      <a:pt x="0" y="2864"/>
                    </a:lnTo>
                    <a:lnTo>
                      <a:pt x="5" y="2812"/>
                    </a:lnTo>
                    <a:lnTo>
                      <a:pt x="18" y="2761"/>
                    </a:lnTo>
                    <a:lnTo>
                      <a:pt x="37" y="2710"/>
                    </a:lnTo>
                    <a:lnTo>
                      <a:pt x="60" y="2661"/>
                    </a:lnTo>
                    <a:lnTo>
                      <a:pt x="616" y="1704"/>
                    </a:lnTo>
                    <a:lnTo>
                      <a:pt x="647" y="1659"/>
                    </a:lnTo>
                    <a:lnTo>
                      <a:pt x="681" y="1618"/>
                    </a:lnTo>
                    <a:lnTo>
                      <a:pt x="719" y="1583"/>
                    </a:lnTo>
                    <a:lnTo>
                      <a:pt x="762" y="1553"/>
                    </a:lnTo>
                    <a:lnTo>
                      <a:pt x="808" y="1526"/>
                    </a:lnTo>
                    <a:lnTo>
                      <a:pt x="856" y="1507"/>
                    </a:lnTo>
                    <a:lnTo>
                      <a:pt x="907" y="1492"/>
                    </a:lnTo>
                    <a:lnTo>
                      <a:pt x="959" y="1483"/>
                    </a:lnTo>
                    <a:lnTo>
                      <a:pt x="1013" y="1479"/>
                    </a:lnTo>
                    <a:lnTo>
                      <a:pt x="2125" y="1479"/>
                    </a:lnTo>
                    <a:lnTo>
                      <a:pt x="2171" y="1474"/>
                    </a:lnTo>
                    <a:lnTo>
                      <a:pt x="2211" y="1464"/>
                    </a:lnTo>
                    <a:lnTo>
                      <a:pt x="2243" y="1452"/>
                    </a:lnTo>
                    <a:lnTo>
                      <a:pt x="2272" y="1437"/>
                    </a:lnTo>
                    <a:lnTo>
                      <a:pt x="2296" y="1420"/>
                    </a:lnTo>
                    <a:lnTo>
                      <a:pt x="2314" y="1402"/>
                    </a:lnTo>
                    <a:lnTo>
                      <a:pt x="2328" y="1382"/>
                    </a:lnTo>
                    <a:lnTo>
                      <a:pt x="2339" y="1361"/>
                    </a:lnTo>
                    <a:lnTo>
                      <a:pt x="2347" y="1339"/>
                    </a:lnTo>
                    <a:lnTo>
                      <a:pt x="2352" y="1317"/>
                    </a:lnTo>
                    <a:lnTo>
                      <a:pt x="2353" y="1295"/>
                    </a:lnTo>
                    <a:lnTo>
                      <a:pt x="2353" y="1274"/>
                    </a:lnTo>
                    <a:lnTo>
                      <a:pt x="2352" y="1253"/>
                    </a:lnTo>
                    <a:lnTo>
                      <a:pt x="2349" y="1233"/>
                    </a:lnTo>
                    <a:lnTo>
                      <a:pt x="2345" y="1215"/>
                    </a:lnTo>
                    <a:lnTo>
                      <a:pt x="2341" y="1199"/>
                    </a:lnTo>
                    <a:lnTo>
                      <a:pt x="2336" y="1185"/>
                    </a:lnTo>
                    <a:lnTo>
                      <a:pt x="2332" y="1173"/>
                    </a:lnTo>
                    <a:lnTo>
                      <a:pt x="2328" y="1164"/>
                    </a:lnTo>
                    <a:lnTo>
                      <a:pt x="2326" y="1159"/>
                    </a:lnTo>
                    <a:lnTo>
                      <a:pt x="2326" y="1157"/>
                    </a:lnTo>
                    <a:lnTo>
                      <a:pt x="2132" y="817"/>
                    </a:lnTo>
                    <a:lnTo>
                      <a:pt x="2115" y="780"/>
                    </a:lnTo>
                    <a:lnTo>
                      <a:pt x="2104" y="742"/>
                    </a:lnTo>
                    <a:lnTo>
                      <a:pt x="2101" y="703"/>
                    </a:lnTo>
                    <a:lnTo>
                      <a:pt x="2104" y="664"/>
                    </a:lnTo>
                    <a:lnTo>
                      <a:pt x="2115" y="626"/>
                    </a:lnTo>
                    <a:lnTo>
                      <a:pt x="2132" y="589"/>
                    </a:lnTo>
                    <a:lnTo>
                      <a:pt x="2407" y="114"/>
                    </a:lnTo>
                    <a:lnTo>
                      <a:pt x="2429" y="81"/>
                    </a:lnTo>
                    <a:lnTo>
                      <a:pt x="2458" y="52"/>
                    </a:lnTo>
                    <a:lnTo>
                      <a:pt x="2489" y="30"/>
                    </a:lnTo>
                    <a:lnTo>
                      <a:pt x="2525" y="14"/>
                    </a:lnTo>
                    <a:lnTo>
                      <a:pt x="2563" y="4"/>
                    </a:lnTo>
                    <a:lnTo>
                      <a:pt x="2603" y="0"/>
                    </a:lnTo>
                    <a:close/>
                  </a:path>
                </a:pathLst>
              </a:custGeom>
              <a:solidFill>
                <a:srgbClr val="F0F0F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 rot="0">
                <a:off x="669925" y="3976815"/>
                <a:ext cx="6596079" cy="2518572"/>
                <a:chOff x="669925" y="3976815"/>
                <a:chExt cx="6596079" cy="2518572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6874716" y="4995651"/>
                  <a:ext cx="391288" cy="39560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  <p:sp>
              <p:nvSpPr>
                <p:cNvPr id="18" name="AutoShape 18"/>
                <p:cNvSpPr/>
                <p:nvPr/>
              </p:nvSpPr>
              <p:spPr>
                <a:xfrm>
                  <a:off x="6245553" y="3976815"/>
                  <a:ext cx="592947" cy="60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140" h="606798">
                      <a:moveTo>
                        <a:pt x="275280" y="496336"/>
                      </a:moveTo>
                      <a:lnTo>
                        <a:pt x="314935" y="496336"/>
                      </a:lnTo>
                      <a:lnTo>
                        <a:pt x="314935" y="542822"/>
                      </a:lnTo>
                      <a:lnTo>
                        <a:pt x="347213" y="542822"/>
                      </a:lnTo>
                      <a:lnTo>
                        <a:pt x="347213" y="554789"/>
                      </a:lnTo>
                      <a:lnTo>
                        <a:pt x="458801" y="554789"/>
                      </a:lnTo>
                      <a:lnTo>
                        <a:pt x="458801" y="594831"/>
                      </a:lnTo>
                      <a:lnTo>
                        <a:pt x="347213" y="594831"/>
                      </a:lnTo>
                      <a:lnTo>
                        <a:pt x="347213" y="606798"/>
                      </a:lnTo>
                      <a:lnTo>
                        <a:pt x="243463" y="606798"/>
                      </a:lnTo>
                      <a:lnTo>
                        <a:pt x="243463" y="594831"/>
                      </a:lnTo>
                      <a:lnTo>
                        <a:pt x="131414" y="594831"/>
                      </a:lnTo>
                      <a:lnTo>
                        <a:pt x="131414" y="554789"/>
                      </a:lnTo>
                      <a:lnTo>
                        <a:pt x="243463" y="554789"/>
                      </a:lnTo>
                      <a:lnTo>
                        <a:pt x="243463" y="542822"/>
                      </a:lnTo>
                      <a:lnTo>
                        <a:pt x="275280" y="542822"/>
                      </a:lnTo>
                      <a:close/>
                      <a:moveTo>
                        <a:pt x="341174" y="439218"/>
                      </a:moveTo>
                      <a:lnTo>
                        <a:pt x="341174" y="464548"/>
                      </a:lnTo>
                      <a:lnTo>
                        <a:pt x="416785" y="464548"/>
                      </a:lnTo>
                      <a:lnTo>
                        <a:pt x="416785" y="439218"/>
                      </a:lnTo>
                      <a:close/>
                      <a:moveTo>
                        <a:pt x="159063" y="412046"/>
                      </a:moveTo>
                      <a:cubicBezTo>
                        <a:pt x="153069" y="412046"/>
                        <a:pt x="148459" y="416651"/>
                        <a:pt x="148459" y="422638"/>
                      </a:cubicBezTo>
                      <a:cubicBezTo>
                        <a:pt x="148459" y="428625"/>
                        <a:pt x="153069" y="433692"/>
                        <a:pt x="159063" y="433692"/>
                      </a:cubicBezTo>
                      <a:cubicBezTo>
                        <a:pt x="165056" y="433692"/>
                        <a:pt x="169667" y="428625"/>
                        <a:pt x="169667" y="422638"/>
                      </a:cubicBezTo>
                      <a:cubicBezTo>
                        <a:pt x="169667" y="416651"/>
                        <a:pt x="165056" y="412046"/>
                        <a:pt x="159063" y="412046"/>
                      </a:cubicBezTo>
                      <a:close/>
                      <a:moveTo>
                        <a:pt x="145232" y="392242"/>
                      </a:moveTo>
                      <a:lnTo>
                        <a:pt x="445369" y="392242"/>
                      </a:lnTo>
                      <a:cubicBezTo>
                        <a:pt x="454590" y="392242"/>
                        <a:pt x="462428" y="400071"/>
                        <a:pt x="462428" y="409743"/>
                      </a:cubicBezTo>
                      <a:lnTo>
                        <a:pt x="462428" y="468693"/>
                      </a:lnTo>
                      <a:cubicBezTo>
                        <a:pt x="462428" y="478365"/>
                        <a:pt x="454590" y="486194"/>
                        <a:pt x="445369" y="486194"/>
                      </a:cubicBezTo>
                      <a:lnTo>
                        <a:pt x="145232" y="486194"/>
                      </a:lnTo>
                      <a:cubicBezTo>
                        <a:pt x="135550" y="486194"/>
                        <a:pt x="127712" y="478365"/>
                        <a:pt x="127712" y="468693"/>
                      </a:cubicBezTo>
                      <a:lnTo>
                        <a:pt x="127712" y="409743"/>
                      </a:lnTo>
                      <a:cubicBezTo>
                        <a:pt x="127712" y="400071"/>
                        <a:pt x="135550" y="392242"/>
                        <a:pt x="145232" y="392242"/>
                      </a:cubicBezTo>
                      <a:close/>
                      <a:moveTo>
                        <a:pt x="341174" y="336094"/>
                      </a:moveTo>
                      <a:lnTo>
                        <a:pt x="341174" y="360968"/>
                      </a:lnTo>
                      <a:lnTo>
                        <a:pt x="416785" y="360968"/>
                      </a:lnTo>
                      <a:lnTo>
                        <a:pt x="416785" y="336094"/>
                      </a:lnTo>
                      <a:close/>
                      <a:moveTo>
                        <a:pt x="159063" y="308917"/>
                      </a:moveTo>
                      <a:cubicBezTo>
                        <a:pt x="153069" y="308917"/>
                        <a:pt x="148459" y="313523"/>
                        <a:pt x="148459" y="319511"/>
                      </a:cubicBezTo>
                      <a:cubicBezTo>
                        <a:pt x="148459" y="325500"/>
                        <a:pt x="153069" y="330106"/>
                        <a:pt x="159063" y="330106"/>
                      </a:cubicBezTo>
                      <a:cubicBezTo>
                        <a:pt x="165056" y="330106"/>
                        <a:pt x="169667" y="325500"/>
                        <a:pt x="169667" y="319511"/>
                      </a:cubicBezTo>
                      <a:cubicBezTo>
                        <a:pt x="169667" y="313523"/>
                        <a:pt x="165056" y="308917"/>
                        <a:pt x="159063" y="308917"/>
                      </a:cubicBezTo>
                      <a:close/>
                      <a:moveTo>
                        <a:pt x="145232" y="289110"/>
                      </a:moveTo>
                      <a:lnTo>
                        <a:pt x="445369" y="289110"/>
                      </a:lnTo>
                      <a:cubicBezTo>
                        <a:pt x="454590" y="289110"/>
                        <a:pt x="462428" y="296941"/>
                        <a:pt x="462428" y="306153"/>
                      </a:cubicBezTo>
                      <a:lnTo>
                        <a:pt x="462428" y="365574"/>
                      </a:lnTo>
                      <a:cubicBezTo>
                        <a:pt x="462428" y="375247"/>
                        <a:pt x="454590" y="382617"/>
                        <a:pt x="445369" y="382617"/>
                      </a:cubicBezTo>
                      <a:lnTo>
                        <a:pt x="145232" y="382617"/>
                      </a:lnTo>
                      <a:cubicBezTo>
                        <a:pt x="135550" y="382617"/>
                        <a:pt x="127712" y="375247"/>
                        <a:pt x="127712" y="365574"/>
                      </a:cubicBezTo>
                      <a:lnTo>
                        <a:pt x="127712" y="306153"/>
                      </a:lnTo>
                      <a:cubicBezTo>
                        <a:pt x="127712" y="296941"/>
                        <a:pt x="135550" y="289110"/>
                        <a:pt x="145232" y="289110"/>
                      </a:cubicBezTo>
                      <a:close/>
                      <a:moveTo>
                        <a:pt x="341174" y="232510"/>
                      </a:moveTo>
                      <a:lnTo>
                        <a:pt x="341174" y="257840"/>
                      </a:lnTo>
                      <a:lnTo>
                        <a:pt x="416785" y="257840"/>
                      </a:lnTo>
                      <a:lnTo>
                        <a:pt x="416785" y="232510"/>
                      </a:lnTo>
                      <a:close/>
                      <a:moveTo>
                        <a:pt x="159063" y="205338"/>
                      </a:moveTo>
                      <a:cubicBezTo>
                        <a:pt x="153069" y="205338"/>
                        <a:pt x="148459" y="209943"/>
                        <a:pt x="148459" y="215930"/>
                      </a:cubicBezTo>
                      <a:cubicBezTo>
                        <a:pt x="148459" y="221917"/>
                        <a:pt x="153069" y="226984"/>
                        <a:pt x="159063" y="226984"/>
                      </a:cubicBezTo>
                      <a:cubicBezTo>
                        <a:pt x="165056" y="226984"/>
                        <a:pt x="169667" y="221917"/>
                        <a:pt x="169667" y="215930"/>
                      </a:cubicBezTo>
                      <a:cubicBezTo>
                        <a:pt x="169667" y="209943"/>
                        <a:pt x="165056" y="205338"/>
                        <a:pt x="159063" y="205338"/>
                      </a:cubicBezTo>
                      <a:close/>
                      <a:moveTo>
                        <a:pt x="145232" y="185534"/>
                      </a:moveTo>
                      <a:lnTo>
                        <a:pt x="445369" y="185534"/>
                      </a:lnTo>
                      <a:cubicBezTo>
                        <a:pt x="454590" y="185534"/>
                        <a:pt x="462428" y="193363"/>
                        <a:pt x="462428" y="203035"/>
                      </a:cubicBezTo>
                      <a:lnTo>
                        <a:pt x="462428" y="261985"/>
                      </a:lnTo>
                      <a:cubicBezTo>
                        <a:pt x="462428" y="271657"/>
                        <a:pt x="454590" y="279486"/>
                        <a:pt x="445369" y="279486"/>
                      </a:cubicBezTo>
                      <a:lnTo>
                        <a:pt x="145232" y="279486"/>
                      </a:lnTo>
                      <a:cubicBezTo>
                        <a:pt x="135550" y="279486"/>
                        <a:pt x="127712" y="271657"/>
                        <a:pt x="127712" y="261985"/>
                      </a:cubicBezTo>
                      <a:lnTo>
                        <a:pt x="127712" y="203035"/>
                      </a:lnTo>
                      <a:cubicBezTo>
                        <a:pt x="127712" y="193363"/>
                        <a:pt x="135550" y="185534"/>
                        <a:pt x="145232" y="185534"/>
                      </a:cubicBezTo>
                      <a:close/>
                      <a:moveTo>
                        <a:pt x="253115" y="0"/>
                      </a:moveTo>
                      <a:cubicBezTo>
                        <a:pt x="284927" y="0"/>
                        <a:pt x="315356" y="10129"/>
                        <a:pt x="340253" y="29007"/>
                      </a:cubicBezTo>
                      <a:cubicBezTo>
                        <a:pt x="343019" y="31309"/>
                        <a:pt x="346707" y="32230"/>
                        <a:pt x="349935" y="32230"/>
                      </a:cubicBezTo>
                      <a:cubicBezTo>
                        <a:pt x="352701" y="31770"/>
                        <a:pt x="355006" y="31770"/>
                        <a:pt x="357772" y="31770"/>
                      </a:cubicBezTo>
                      <a:cubicBezTo>
                        <a:pt x="398806" y="31770"/>
                        <a:pt x="437533" y="52028"/>
                        <a:pt x="461508" y="84258"/>
                      </a:cubicBezTo>
                      <a:cubicBezTo>
                        <a:pt x="463813" y="87941"/>
                        <a:pt x="467963" y="89783"/>
                        <a:pt x="472112" y="90244"/>
                      </a:cubicBezTo>
                      <a:cubicBezTo>
                        <a:pt x="538503" y="95769"/>
                        <a:pt x="590140" y="151480"/>
                        <a:pt x="590140" y="218702"/>
                      </a:cubicBezTo>
                      <a:cubicBezTo>
                        <a:pt x="590140" y="280400"/>
                        <a:pt x="546341" y="332428"/>
                        <a:pt x="487788" y="344399"/>
                      </a:cubicBezTo>
                      <a:lnTo>
                        <a:pt x="487788" y="306183"/>
                      </a:lnTo>
                      <a:cubicBezTo>
                        <a:pt x="487788" y="301579"/>
                        <a:pt x="487327" y="296975"/>
                        <a:pt x="485482" y="292831"/>
                      </a:cubicBezTo>
                      <a:cubicBezTo>
                        <a:pt x="516834" y="282702"/>
                        <a:pt x="539425" y="253234"/>
                        <a:pt x="539425" y="218702"/>
                      </a:cubicBezTo>
                      <a:cubicBezTo>
                        <a:pt x="539425" y="175422"/>
                        <a:pt x="504385" y="140430"/>
                        <a:pt x="461508" y="140430"/>
                      </a:cubicBezTo>
                      <a:cubicBezTo>
                        <a:pt x="458742" y="140430"/>
                        <a:pt x="455975" y="140890"/>
                        <a:pt x="453670" y="140890"/>
                      </a:cubicBezTo>
                      <a:cubicBezTo>
                        <a:pt x="443066" y="142272"/>
                        <a:pt x="432923" y="136286"/>
                        <a:pt x="428313" y="126617"/>
                      </a:cubicBezTo>
                      <a:cubicBezTo>
                        <a:pt x="414942" y="99452"/>
                        <a:pt x="387740" y="82416"/>
                        <a:pt x="357772" y="82416"/>
                      </a:cubicBezTo>
                      <a:cubicBezTo>
                        <a:pt x="352240" y="82416"/>
                        <a:pt x="347168" y="82877"/>
                        <a:pt x="341636" y="84258"/>
                      </a:cubicBezTo>
                      <a:cubicBezTo>
                        <a:pt x="333337" y="86100"/>
                        <a:pt x="325038" y="83337"/>
                        <a:pt x="318583" y="77352"/>
                      </a:cubicBezTo>
                      <a:cubicBezTo>
                        <a:pt x="301064" y="60316"/>
                        <a:pt x="277550" y="50647"/>
                        <a:pt x="253115" y="50647"/>
                      </a:cubicBezTo>
                      <a:cubicBezTo>
                        <a:pt x="209776" y="50647"/>
                        <a:pt x="172432" y="80114"/>
                        <a:pt x="161827" y="122013"/>
                      </a:cubicBezTo>
                      <a:cubicBezTo>
                        <a:pt x="159061" y="133984"/>
                        <a:pt x="147535" y="141811"/>
                        <a:pt x="135087" y="140890"/>
                      </a:cubicBezTo>
                      <a:cubicBezTo>
                        <a:pt x="133243" y="140890"/>
                        <a:pt x="130937" y="140430"/>
                        <a:pt x="129093" y="140430"/>
                      </a:cubicBezTo>
                      <a:cubicBezTo>
                        <a:pt x="85755" y="140430"/>
                        <a:pt x="50715" y="175422"/>
                        <a:pt x="50715" y="218702"/>
                      </a:cubicBezTo>
                      <a:cubicBezTo>
                        <a:pt x="50715" y="253234"/>
                        <a:pt x="73306" y="282702"/>
                        <a:pt x="104658" y="292831"/>
                      </a:cubicBezTo>
                      <a:cubicBezTo>
                        <a:pt x="103275" y="296975"/>
                        <a:pt x="102352" y="301579"/>
                        <a:pt x="102352" y="306183"/>
                      </a:cubicBezTo>
                      <a:lnTo>
                        <a:pt x="102352" y="344859"/>
                      </a:lnTo>
                      <a:cubicBezTo>
                        <a:pt x="43799" y="332428"/>
                        <a:pt x="0" y="280400"/>
                        <a:pt x="0" y="218702"/>
                      </a:cubicBezTo>
                      <a:cubicBezTo>
                        <a:pt x="0" y="153782"/>
                        <a:pt x="48410" y="99913"/>
                        <a:pt x="110651" y="91164"/>
                      </a:cubicBezTo>
                      <a:cubicBezTo>
                        <a:pt x="115723" y="90244"/>
                        <a:pt x="120333" y="87021"/>
                        <a:pt x="122177" y="82416"/>
                      </a:cubicBezTo>
                      <a:cubicBezTo>
                        <a:pt x="145691" y="32690"/>
                        <a:pt x="196406" y="0"/>
                        <a:pt x="253115" y="0"/>
                      </a:cubicBezTo>
                      <a:close/>
                    </a:path>
                  </a:pathLst>
                </a:custGeom>
                <a:solidFill>
                  <a:srgbClr val="F84D4D">
                    <a:alpha val="100000"/>
                  </a:srgbClr>
                </a:solidFill>
                <a:ln>
                  <a:headEnd type="none"/>
                  <a:tailEnd type="none"/>
                </a:ln>
              </p:spPr>
            </p:sp>
            <p:grpSp>
              <p:nvGrpSpPr>
                <p:cNvPr id="19" name="Group 19"/>
                <p:cNvGrpSpPr/>
                <p:nvPr/>
              </p:nvGrpSpPr>
              <p:grpSpPr>
                <a:xfrm rot="0">
                  <a:off x="669925" y="4702501"/>
                  <a:ext cx="5966294" cy="1792886"/>
                  <a:chOff x="669925" y="4702501"/>
                  <a:chExt cx="5966294" cy="1792886"/>
                </a:xfrm>
              </p:grpSpPr>
              <p:sp>
                <p:nvSpPr>
                  <p:cNvPr id="20" name="AutoShape 20"/>
                  <p:cNvSpPr/>
                  <p:nvPr/>
                </p:nvSpPr>
                <p:spPr>
                  <a:xfrm flipH="1">
                    <a:off x="669925" y="5193452"/>
                    <a:ext cx="5966294" cy="0"/>
                  </a:xfrm>
                  <a:prstGeom prst="line">
                    <a:avLst/>
                  </a:prstGeom>
                  <a:ln w="3175">
                    <a:solidFill>
                      <a:srgbClr val="F0F0F0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21" name="Group 21"/>
                  <p:cNvGrpSpPr/>
                  <p:nvPr/>
                </p:nvGrpSpPr>
                <p:grpSpPr>
                  <a:xfrm rot="0">
                    <a:off x="673100" y="4702501"/>
                    <a:ext cx="3892900" cy="1792886"/>
                    <a:chOff x="673100" y="4702501"/>
                    <a:chExt cx="3892900" cy="1792886"/>
                  </a:xfrm>
                </p:grpSpPr>
                <p:sp>
                  <p:nvSpPr>
                    <p:cNvPr id="22" name="TextBox 22"/>
                    <p:cNvSpPr txBox="1"/>
                    <p:nvPr/>
                  </p:nvSpPr>
                  <p:spPr>
                    <a:xfrm>
                      <a:off x="673100" y="5193452"/>
                      <a:ext cx="3892900" cy="1301935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vert="horz" wrap="square" lIns="90000" tIns="46800" rIns="90000" bIns="46800" rtlCol="0" anchor="t" anchorCtr="0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buFont typeface="Arial" panose="020B0604020202020204"/>
                        <a:buChar char="•"/>
                        <a:defRPr/>
                      </a:pPr>
                      <a:r>
                        <a:rPr lang="en-US" sz="1200" b="0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用例图、顺序图、通信图、状态机图、活动图、时间图、交互纵览图。</a:t>
                      </a:r>
                      <a:endParaRPr lang="en-US" sz="1100"/>
                    </a:p>
                  </p:txBody>
                </p:sp>
                <p:sp>
                  <p:nvSpPr>
                    <p:cNvPr id="23" name="TextBox 23"/>
                    <p:cNvSpPr txBox="1"/>
                    <p:nvPr/>
                  </p:nvSpPr>
                  <p:spPr>
                    <a:xfrm>
                      <a:off x="673100" y="4702501"/>
                      <a:ext cx="3892900" cy="490951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vert="horz" wrap="square" lIns="90000" tIns="46800" rIns="90000" bIns="46800" rtlCol="0" anchor="b" anchorCtr="0"/>
                    <a:lstStyle/>
                    <a:p>
                      <a:pPr algn="l">
                        <a:spcBef>
                          <a:spcPts val="0"/>
                        </a:spcBef>
                        <a:defRPr/>
                      </a:pPr>
                      <a:r>
                        <a:rPr lang="en-US"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行为图</a:t>
                      </a:r>
                      <a:endParaRPr lang="en-US" sz="1100"/>
                    </a:p>
                  </p:txBody>
                </p:sp>
              </p:grpSp>
            </p:grpSp>
          </p:grpSp>
        </p:grpSp>
        <p:sp>
          <p:nvSpPr>
            <p:cNvPr id="24" name="TextBox 24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UML 2.x全景图</a:t>
              </a:r>
              <a:endParaRPr lang="en-US" sz="11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14种图分类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5c9360d-5c05-44ad-878d-b1c195c5da5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7296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最常用图复习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5212387" y="1960750"/>
              <a:ext cx="1754527" cy="0"/>
            </a:xfrm>
            <a:prstGeom prst="line">
              <a:avLst/>
            </a:prstGeom>
            <a:ln w="22225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0400" y="2257722"/>
              <a:ext cx="2508989" cy="3876378"/>
              <a:chOff x="818851" y="2257722"/>
              <a:chExt cx="2508989" cy="3876378"/>
            </a:xfrm>
          </p:grpSpPr>
          <p:sp>
            <p:nvSpPr>
              <p:cNvPr id="7" name="AutoShape 7"/>
              <p:cNvSpPr/>
              <p:nvPr/>
            </p:nvSpPr>
            <p:spPr>
              <a:xfrm flipV="1">
                <a:off x="818851" y="2815722"/>
                <a:ext cx="695467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2630318" y="2815722"/>
                <a:ext cx="697522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 rot="0">
                <a:off x="818851" y="2257722"/>
                <a:ext cx="2506937" cy="3876378"/>
                <a:chOff x="818851" y="2257722"/>
                <a:chExt cx="2506937" cy="3876378"/>
              </a:xfrm>
            </p:grpSpPr>
            <p:grpSp>
              <p:nvGrpSpPr>
                <p:cNvPr id="10" name="Group 10"/>
                <p:cNvGrpSpPr/>
                <p:nvPr/>
              </p:nvGrpSpPr>
              <p:grpSpPr>
                <a:xfrm rot="0">
                  <a:off x="1609994" y="5652153"/>
                  <a:ext cx="924650" cy="141821"/>
                  <a:chOff x="1897459" y="5652153"/>
                  <a:chExt cx="924650" cy="141821"/>
                </a:xfrm>
              </p:grpSpPr>
              <p:sp>
                <p:nvSpPr>
                  <p:cNvPr id="11" name="AutoShape 11"/>
                  <p:cNvSpPr/>
                  <p:nvPr/>
                </p:nvSpPr>
                <p:spPr>
                  <a:xfrm>
                    <a:off x="1897459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" name="AutoShape 12"/>
                  <p:cNvSpPr/>
                  <p:nvPr/>
                </p:nvSpPr>
                <p:spPr>
                  <a:xfrm>
                    <a:off x="2158402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3" name="AutoShape 13"/>
                  <p:cNvSpPr/>
                  <p:nvPr/>
                </p:nvSpPr>
                <p:spPr>
                  <a:xfrm>
                    <a:off x="2419345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4" name="AutoShape 14"/>
                  <p:cNvSpPr/>
                  <p:nvPr/>
                </p:nvSpPr>
                <p:spPr>
                  <a:xfrm>
                    <a:off x="2680288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15" name="AutoShape 15"/>
                <p:cNvSpPr/>
                <p:nvPr/>
              </p:nvSpPr>
              <p:spPr>
                <a:xfrm>
                  <a:off x="818851" y="2824087"/>
                  <a:ext cx="2506937" cy="331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1868" h="3310013">
                      <a:moveTo>
                        <a:pt x="3081868" y="0"/>
                      </a:moveTo>
                      <a:lnTo>
                        <a:pt x="3081868" y="3310013"/>
                      </a:lnTo>
                      <a:lnTo>
                        <a:pt x="0" y="3310013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6" name="Group 16"/>
                <p:cNvGrpSpPr/>
                <p:nvPr/>
              </p:nvGrpSpPr>
              <p:grpSpPr>
                <a:xfrm rot="0">
                  <a:off x="992088" y="2257722"/>
                  <a:ext cx="2160462" cy="3178905"/>
                  <a:chOff x="967017" y="2257722"/>
                  <a:chExt cx="2785534" cy="3178905"/>
                </a:xfrm>
              </p:grpSpPr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1640340" y="2257722"/>
                    <a:ext cx="1438885" cy="111600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3600" b="1" i="0">
                        <a:solidFill>
                          <a:srgbClr val="2F2F2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01</a:t>
                    </a:r>
                    <a:endParaRPr lang="en-US" sz="1100"/>
                  </a:p>
                </p:txBody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967017" y="3622598"/>
                    <a:ext cx="2785533" cy="534124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用例图</a:t>
                    </a:r>
                    <a:endParaRPr lang="en-US" sz="1100"/>
                  </a:p>
                </p:txBody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967018" y="4156722"/>
                    <a:ext cx="2785533" cy="127990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核心用途是定义系统需求范围。常见误区是用例粒度太细，或将其描述为内部功能。</a:t>
                    </a:r>
                    <a:endParaRPr lang="en-US" sz="1100"/>
                  </a:p>
                </p:txBody>
              </p:sp>
            </p:grpSp>
          </p:grpSp>
        </p:grpSp>
        <p:grpSp>
          <p:nvGrpSpPr>
            <p:cNvPr id="20" name="Group 20"/>
            <p:cNvGrpSpPr/>
            <p:nvPr/>
          </p:nvGrpSpPr>
          <p:grpSpPr>
            <a:xfrm rot="0">
              <a:off x="3443570" y="2257722"/>
              <a:ext cx="2508989" cy="3876378"/>
              <a:chOff x="3843634" y="2257722"/>
              <a:chExt cx="2508989" cy="3876378"/>
            </a:xfrm>
          </p:grpSpPr>
          <p:sp>
            <p:nvSpPr>
              <p:cNvPr id="21" name="AutoShape 21"/>
              <p:cNvSpPr/>
              <p:nvPr/>
            </p:nvSpPr>
            <p:spPr>
              <a:xfrm flipV="1">
                <a:off x="3843634" y="2815722"/>
                <a:ext cx="695467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5655101" y="2815722"/>
                <a:ext cx="697522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 rot="0">
                <a:off x="3843634" y="2257722"/>
                <a:ext cx="2506937" cy="3876378"/>
                <a:chOff x="4548713" y="2257722"/>
                <a:chExt cx="2506937" cy="3876378"/>
              </a:xfrm>
            </p:grpSpPr>
            <p:sp>
              <p:nvSpPr>
                <p:cNvPr id="24" name="AutoShape 24"/>
                <p:cNvSpPr/>
                <p:nvPr/>
              </p:nvSpPr>
              <p:spPr>
                <a:xfrm>
                  <a:off x="4548713" y="2824087"/>
                  <a:ext cx="2506937" cy="331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1868" h="3310013">
                      <a:moveTo>
                        <a:pt x="3081868" y="0"/>
                      </a:moveTo>
                      <a:lnTo>
                        <a:pt x="3081868" y="3310013"/>
                      </a:lnTo>
                      <a:lnTo>
                        <a:pt x="0" y="3310013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25" name="Group 25"/>
                <p:cNvGrpSpPr/>
                <p:nvPr/>
              </p:nvGrpSpPr>
              <p:grpSpPr>
                <a:xfrm rot="0">
                  <a:off x="5339856" y="5652153"/>
                  <a:ext cx="924650" cy="141821"/>
                  <a:chOff x="5627323" y="5652153"/>
                  <a:chExt cx="924650" cy="141821"/>
                </a:xfrm>
              </p:grpSpPr>
              <p:sp>
                <p:nvSpPr>
                  <p:cNvPr id="26" name="AutoShape 26"/>
                  <p:cNvSpPr/>
                  <p:nvPr/>
                </p:nvSpPr>
                <p:spPr>
                  <a:xfrm>
                    <a:off x="5627323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7" name="AutoShape 27"/>
                  <p:cNvSpPr/>
                  <p:nvPr/>
                </p:nvSpPr>
                <p:spPr>
                  <a:xfrm>
                    <a:off x="5888266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8" name="AutoShape 28"/>
                  <p:cNvSpPr/>
                  <p:nvPr/>
                </p:nvSpPr>
                <p:spPr>
                  <a:xfrm>
                    <a:off x="6149209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" name="AutoShape 29"/>
                  <p:cNvSpPr/>
                  <p:nvPr/>
                </p:nvSpPr>
                <p:spPr>
                  <a:xfrm>
                    <a:off x="6410152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0" name="Group 30"/>
                <p:cNvGrpSpPr/>
                <p:nvPr/>
              </p:nvGrpSpPr>
              <p:grpSpPr>
                <a:xfrm rot="0">
                  <a:off x="4721950" y="2257722"/>
                  <a:ext cx="2160462" cy="3178905"/>
                  <a:chOff x="4696881" y="2257722"/>
                  <a:chExt cx="2785534" cy="3178905"/>
                </a:xfrm>
              </p:grpSpPr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5370204" y="2257722"/>
                    <a:ext cx="1438885" cy="111600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3600" b="1" i="0">
                        <a:solidFill>
                          <a:srgbClr val="2F2F2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02</a:t>
                    </a:r>
                    <a:endParaRPr lang="en-US" sz="1100"/>
                  </a:p>
                </p:txBody>
              </p:sp>
              <p:sp>
                <p:nvSpPr>
                  <p:cNvPr id="32" name="TextBox 32"/>
                  <p:cNvSpPr txBox="1"/>
                  <p:nvPr/>
                </p:nvSpPr>
                <p:spPr>
                  <a:xfrm>
                    <a:off x="4696881" y="3622598"/>
                    <a:ext cx="2785533" cy="534124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类图</a:t>
                    </a:r>
                    <a:endParaRPr lang="en-US" sz="1100"/>
                  </a:p>
                </p:txBody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4696882" y="4156722"/>
                    <a:ext cx="2785533" cy="127990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核心用途是描述系统的静态结构。常见误区是滥用双向关联，或忽略多重度关系。</a:t>
                    </a:r>
                    <a:endParaRPr lang="en-US" sz="1100"/>
                  </a:p>
                </p:txBody>
              </p:sp>
            </p:grpSp>
          </p:grpSp>
        </p:grpSp>
        <p:grpSp>
          <p:nvGrpSpPr>
            <p:cNvPr id="34" name="Group 34"/>
            <p:cNvGrpSpPr/>
            <p:nvPr/>
          </p:nvGrpSpPr>
          <p:grpSpPr>
            <a:xfrm rot="0">
              <a:off x="6226740" y="2257722"/>
              <a:ext cx="2508989" cy="3876378"/>
              <a:chOff x="6482828" y="2257722"/>
              <a:chExt cx="2508989" cy="3876378"/>
            </a:xfrm>
          </p:grpSpPr>
          <p:sp>
            <p:nvSpPr>
              <p:cNvPr id="35" name="AutoShape 35"/>
              <p:cNvSpPr/>
              <p:nvPr/>
            </p:nvSpPr>
            <p:spPr>
              <a:xfrm flipV="1">
                <a:off x="6482828" y="2815722"/>
                <a:ext cx="695467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36" name="AutoShape 36"/>
              <p:cNvSpPr/>
              <p:nvPr/>
            </p:nvSpPr>
            <p:spPr>
              <a:xfrm>
                <a:off x="8294295" y="2815722"/>
                <a:ext cx="697522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 rot="0">
                <a:off x="6482828" y="2257722"/>
                <a:ext cx="2506937" cy="3876378"/>
                <a:chOff x="8278576" y="2257722"/>
                <a:chExt cx="2506937" cy="3876378"/>
              </a:xfrm>
            </p:grpSpPr>
            <p:sp>
              <p:nvSpPr>
                <p:cNvPr id="38" name="AutoShape 38"/>
                <p:cNvSpPr/>
                <p:nvPr/>
              </p:nvSpPr>
              <p:spPr>
                <a:xfrm>
                  <a:off x="8278576" y="2824087"/>
                  <a:ext cx="2506937" cy="331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1868" h="3310013">
                      <a:moveTo>
                        <a:pt x="3081868" y="0"/>
                      </a:moveTo>
                      <a:lnTo>
                        <a:pt x="3081868" y="3310013"/>
                      </a:lnTo>
                      <a:lnTo>
                        <a:pt x="0" y="3310013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39" name="Group 39"/>
                <p:cNvGrpSpPr/>
                <p:nvPr/>
              </p:nvGrpSpPr>
              <p:grpSpPr>
                <a:xfrm rot="0">
                  <a:off x="9069719" y="5652153"/>
                  <a:ext cx="924650" cy="141821"/>
                  <a:chOff x="9357190" y="5652153"/>
                  <a:chExt cx="924650" cy="141821"/>
                </a:xfrm>
              </p:grpSpPr>
              <p:sp>
                <p:nvSpPr>
                  <p:cNvPr id="40" name="AutoShape 40"/>
                  <p:cNvSpPr/>
                  <p:nvPr/>
                </p:nvSpPr>
                <p:spPr>
                  <a:xfrm>
                    <a:off x="9357190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1" name="AutoShape 41"/>
                  <p:cNvSpPr/>
                  <p:nvPr/>
                </p:nvSpPr>
                <p:spPr>
                  <a:xfrm>
                    <a:off x="9618133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2" name="AutoShape 42"/>
                  <p:cNvSpPr/>
                  <p:nvPr/>
                </p:nvSpPr>
                <p:spPr>
                  <a:xfrm>
                    <a:off x="9879076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3" name="AutoShape 43"/>
                  <p:cNvSpPr/>
                  <p:nvPr/>
                </p:nvSpPr>
                <p:spPr>
                  <a:xfrm>
                    <a:off x="10140019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44" name="Group 44"/>
                <p:cNvGrpSpPr/>
                <p:nvPr/>
              </p:nvGrpSpPr>
              <p:grpSpPr>
                <a:xfrm rot="0">
                  <a:off x="8451813" y="2257722"/>
                  <a:ext cx="2160462" cy="3178905"/>
                  <a:chOff x="8426748" y="2257722"/>
                  <a:chExt cx="2785534" cy="3178905"/>
                </a:xfrm>
              </p:grpSpPr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9100071" y="2257722"/>
                    <a:ext cx="1438885" cy="111600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3600" b="1" i="0">
                        <a:solidFill>
                          <a:srgbClr val="2F2F2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03</a:t>
                    </a:r>
                    <a:endParaRPr lang="en-US" sz="1100"/>
                  </a:p>
                </p:txBody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8426748" y="3622598"/>
                    <a:ext cx="2785533" cy="534124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顺序图</a:t>
                    </a:r>
                    <a:endParaRPr lang="en-US" sz="1100"/>
                  </a:p>
                </p:txBody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8426749" y="4156722"/>
                    <a:ext cx="2785533" cy="127990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核心用途是描述对象间的交互顺序。常见误区是忽略返回消息，或生命线不对齐。</a:t>
                    </a:r>
                    <a:endParaRPr lang="en-US" sz="1100"/>
                  </a:p>
                </p:txBody>
              </p:sp>
            </p:grpSp>
          </p:grpSp>
        </p:grpSp>
        <p:grpSp>
          <p:nvGrpSpPr>
            <p:cNvPr id="48" name="Group 48"/>
            <p:cNvGrpSpPr/>
            <p:nvPr/>
          </p:nvGrpSpPr>
          <p:grpSpPr>
            <a:xfrm rot="0">
              <a:off x="9009911" y="2257722"/>
              <a:ext cx="2508989" cy="3876378"/>
              <a:chOff x="6482828" y="2257722"/>
              <a:chExt cx="2508989" cy="3876378"/>
            </a:xfrm>
          </p:grpSpPr>
          <p:sp>
            <p:nvSpPr>
              <p:cNvPr id="49" name="AutoShape 49"/>
              <p:cNvSpPr/>
              <p:nvPr/>
            </p:nvSpPr>
            <p:spPr>
              <a:xfrm flipV="1">
                <a:off x="6482828" y="2815722"/>
                <a:ext cx="695467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8294295" y="2815722"/>
                <a:ext cx="697522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 rot="0">
                <a:off x="6482828" y="2257722"/>
                <a:ext cx="2506937" cy="3876378"/>
                <a:chOff x="8278576" y="2257722"/>
                <a:chExt cx="2506937" cy="3876378"/>
              </a:xfrm>
            </p:grpSpPr>
            <p:sp>
              <p:nvSpPr>
                <p:cNvPr id="52" name="AutoShape 52"/>
                <p:cNvSpPr/>
                <p:nvPr/>
              </p:nvSpPr>
              <p:spPr>
                <a:xfrm>
                  <a:off x="8278576" y="2824087"/>
                  <a:ext cx="2506937" cy="331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1868" h="3310013">
                      <a:moveTo>
                        <a:pt x="3081868" y="0"/>
                      </a:moveTo>
                      <a:lnTo>
                        <a:pt x="3081868" y="3310013"/>
                      </a:lnTo>
                      <a:lnTo>
                        <a:pt x="0" y="3310013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53" name="Group 53"/>
                <p:cNvGrpSpPr/>
                <p:nvPr/>
              </p:nvGrpSpPr>
              <p:grpSpPr>
                <a:xfrm rot="0">
                  <a:off x="9069719" y="5652153"/>
                  <a:ext cx="924650" cy="141821"/>
                  <a:chOff x="9357190" y="5652153"/>
                  <a:chExt cx="924650" cy="141821"/>
                </a:xfrm>
              </p:grpSpPr>
              <p:sp>
                <p:nvSpPr>
                  <p:cNvPr id="54" name="AutoShape 54"/>
                  <p:cNvSpPr/>
                  <p:nvPr/>
                </p:nvSpPr>
                <p:spPr>
                  <a:xfrm>
                    <a:off x="9357190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55" name="AutoShape 55"/>
                  <p:cNvSpPr/>
                  <p:nvPr/>
                </p:nvSpPr>
                <p:spPr>
                  <a:xfrm>
                    <a:off x="9618133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56" name="AutoShape 56"/>
                  <p:cNvSpPr/>
                  <p:nvPr/>
                </p:nvSpPr>
                <p:spPr>
                  <a:xfrm>
                    <a:off x="9879076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57" name="AutoShape 57"/>
                  <p:cNvSpPr/>
                  <p:nvPr/>
                </p:nvSpPr>
                <p:spPr>
                  <a:xfrm>
                    <a:off x="10140019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58" name="Group 58"/>
                <p:cNvGrpSpPr/>
                <p:nvPr/>
              </p:nvGrpSpPr>
              <p:grpSpPr>
                <a:xfrm rot="0">
                  <a:off x="8451813" y="2257722"/>
                  <a:ext cx="2160462" cy="3178905"/>
                  <a:chOff x="8426748" y="2257722"/>
                  <a:chExt cx="2785534" cy="3178905"/>
                </a:xfrm>
              </p:grpSpPr>
              <p:sp>
                <p:nvSpPr>
                  <p:cNvPr id="59" name="TextBox 59"/>
                  <p:cNvSpPr txBox="1"/>
                  <p:nvPr/>
                </p:nvSpPr>
                <p:spPr>
                  <a:xfrm>
                    <a:off x="9100071" y="2257722"/>
                    <a:ext cx="1438885" cy="111600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3600" b="1" i="0">
                        <a:solidFill>
                          <a:srgbClr val="2F2F2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04</a:t>
                    </a:r>
                    <a:endParaRPr lang="en-US" sz="1100"/>
                  </a:p>
                </p:txBody>
              </p:sp>
              <p:sp>
                <p:nvSpPr>
                  <p:cNvPr id="60" name="TextBox 60"/>
                  <p:cNvSpPr txBox="1"/>
                  <p:nvPr/>
                </p:nvSpPr>
                <p:spPr>
                  <a:xfrm>
                    <a:off x="8426748" y="3622598"/>
                    <a:ext cx="2785533" cy="534124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状态机图</a:t>
                    </a:r>
                    <a:endParaRPr lang="en-US" sz="1100"/>
                  </a:p>
                </p:txBody>
              </p:sp>
              <p:sp>
                <p:nvSpPr>
                  <p:cNvPr id="61" name="TextBox 61"/>
                  <p:cNvSpPr txBox="1"/>
                  <p:nvPr/>
                </p:nvSpPr>
                <p:spPr>
                  <a:xfrm>
                    <a:off x="8426749" y="4156722"/>
                    <a:ext cx="2785533" cy="127990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核心用途是描述对象在其生命周期内的状态变迁。常见误区是初始状态多于一个，或终态设置不当。</a:t>
                    </a:r>
                    <a:endParaRPr lang="en-US" sz="1100"/>
                  </a:p>
                </p:txBody>
              </p:sp>
            </p:grpSp>
          </p:grpSp>
        </p:grpSp>
      </p:grpSp>
      <p:sp>
        <p:nvSpPr>
          <p:cNvPr id="62" name="TextBox 6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重点图对比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907a899-b5bc-44e1-8150-492847ebdd4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4482814"/>
            <a:chOff x="660400" y="1130300"/>
            <a:chExt cx="10858500" cy="4482814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70843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我们为何学UML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73100" y="2394000"/>
              <a:ext cx="3494616" cy="3219114"/>
              <a:chOff x="673100" y="2394000"/>
              <a:chExt cx="3494616" cy="3219114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73100" y="2394000"/>
                <a:ext cx="3494616" cy="3219114"/>
              </a:xfrm>
              <a:prstGeom prst="roundRect">
                <a:avLst>
                  <a:gd name="adj" fmla="val 6684"/>
                </a:avLst>
              </a:prstGeom>
              <a:ln w="3175">
                <a:solidFill>
                  <a:srgbClr val="F0F0F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29169" y="4170199"/>
                <a:ext cx="3182478" cy="13392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/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作为一种可视化建模语言，UML为开发团队、需求分析师、测试人员等提供了一种共同沟通和理解系统的标准方式。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29169" y="3504967"/>
                <a:ext cx="3182478" cy="6652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统一团队语言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068608" y="2463572"/>
                <a:ext cx="1041394" cy="1041394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329078" y="2394000"/>
              <a:ext cx="3494616" cy="3219114"/>
              <a:chOff x="4329078" y="2394000"/>
              <a:chExt cx="3494616" cy="3219114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329078" y="2394000"/>
                <a:ext cx="3494616" cy="3219114"/>
              </a:xfrm>
              <a:prstGeom prst="roundRect">
                <a:avLst>
                  <a:gd name="adj" fmla="val 6684"/>
                </a:avLst>
              </a:prstGeom>
              <a:ln w="3175">
                <a:solidFill>
                  <a:srgbClr val="F0F0F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85147" y="4170199"/>
                <a:ext cx="3182478" cy="13392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/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在编写代码之前，通过UML模型来验证设计的合理性、架构的可行性以及用例的实现路径，降低后期修改成本。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485147" y="3504967"/>
                <a:ext cx="3182478" cy="6652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编码前验证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724586" y="2463572"/>
                <a:ext cx="1041394" cy="1041394"/>
              </a:xfrm>
              <a:prstGeom prst="ellipse">
                <a:avLst/>
              </a:prstGeom>
              <a:solidFill>
                <a:srgbClr val="F0F0F0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024284" y="2394000"/>
              <a:ext cx="3494616" cy="3219114"/>
              <a:chOff x="8024284" y="2394000"/>
              <a:chExt cx="3494616" cy="3219114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8024284" y="2394000"/>
                <a:ext cx="3494616" cy="3219114"/>
              </a:xfrm>
              <a:prstGeom prst="roundRect">
                <a:avLst>
                  <a:gd name="adj" fmla="val 6684"/>
                </a:avLst>
              </a:prstGeom>
              <a:ln w="3175">
                <a:solidFill>
                  <a:srgbClr val="F0F0F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180353" y="4170199"/>
                <a:ext cx="3182478" cy="13392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/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良好的UML模型可以作为系统的重要文档，帮助新成员快速理解系统架构，支持系统的长期维护和迭代开发。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80353" y="3504967"/>
                <a:ext cx="3182478" cy="6652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支持长期维护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419791" y="2463572"/>
                <a:ext cx="1041394" cy="1041394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UML核心价值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3fb86fd-21f8-4575-ab50-a2b98b3b0e6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学无止境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1" y="2748550"/>
              <a:ext cx="2520122" cy="3385550"/>
              <a:chOff x="660401" y="2748550"/>
              <a:chExt cx="2520122" cy="338555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1" y="3860800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SysML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1" y="4526996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系统建模语言，在UML基础上扩展，用于复杂系统工程，如航空航天、汽车电子等领域。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08631" y="2748550"/>
                <a:ext cx="1060307" cy="1060307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429319" y="2748550"/>
              <a:ext cx="2520122" cy="3385550"/>
              <a:chOff x="3429319" y="2748550"/>
              <a:chExt cx="2520122" cy="338555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429319" y="3860800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BPMN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29319" y="4526996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业务流程建模与标注，专注于描述业务流程的各个步骤、决策点和参与者，广泛用于企业流程管理。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77549" y="2748550"/>
                <a:ext cx="1060307" cy="1060307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229856" y="2748550"/>
              <a:ext cx="2520123" cy="3385550"/>
              <a:chOff x="6229856" y="2748550"/>
              <a:chExt cx="2520123" cy="338555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229856" y="3860800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可执行UML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229857" y="4526996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探索如何让UML模型本身具有可执行性，减少模型与代码之间的鸿沟，提升开发效率。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878087" y="2748550"/>
                <a:ext cx="1060307" cy="1060307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998778" y="2748549"/>
              <a:ext cx="2520122" cy="3385550"/>
              <a:chOff x="8998778" y="2748549"/>
              <a:chExt cx="2520122" cy="338555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998778" y="3860799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AI与建模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98778" y="4526995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研究如何利用人工智能技术辅助生成、优化和验证UML模型，提升建模的效率与准确性。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647009" y="2748549"/>
                <a:ext cx="1014056" cy="1060307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UML拓展方向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5c09ba8-3d2f-4b9d-806b-842eeb0ff0f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4941576"/>
            <a:chOff x="660400" y="1130300"/>
            <a:chExt cx="10858500" cy="4941576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66133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UML是思考工具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1016002" y="2312638"/>
              <a:ext cx="10121896" cy="3759238"/>
              <a:chOff x="1016002" y="2312638"/>
              <a:chExt cx="10121896" cy="3759238"/>
            </a:xfrm>
          </p:grpSpPr>
          <p:grpSp>
            <p:nvGrpSpPr>
              <p:cNvPr id="6" name="Group 6"/>
              <p:cNvGrpSpPr/>
              <p:nvPr/>
            </p:nvGrpSpPr>
            <p:grpSpPr>
              <a:xfrm rot="0">
                <a:off x="1016002" y="2312638"/>
                <a:ext cx="10121896" cy="878569"/>
                <a:chOff x="1016002" y="2312638"/>
                <a:chExt cx="10121896" cy="878569"/>
              </a:xfrm>
            </p:grpSpPr>
            <p:grpSp>
              <p:nvGrpSpPr>
                <p:cNvPr id="7" name="Group 7"/>
                <p:cNvGrpSpPr/>
                <p:nvPr/>
              </p:nvGrpSpPr>
              <p:grpSpPr>
                <a:xfrm rot="0">
                  <a:off x="1016002" y="2312638"/>
                  <a:ext cx="6093512" cy="878569"/>
                  <a:chOff x="1016002" y="2312638"/>
                  <a:chExt cx="6093512" cy="878569"/>
                </a:xfrm>
              </p:grpSpPr>
              <p:sp>
                <p:nvSpPr>
                  <p:cNvPr id="8" name="TextBox 8"/>
                  <p:cNvSpPr txBox="1"/>
                  <p:nvPr/>
                </p:nvSpPr>
                <p:spPr>
                  <a:xfrm>
                    <a:off x="1016002" y="2312638"/>
                    <a:ext cx="5898485" cy="87856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0F0F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72000" tIns="45720" rIns="180000" bIns="45720" rtlCol="0" anchor="ctr" anchorCtr="0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2F2F2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UML本身不是过程或方法，而是一种表达语言和思考工具，其价值在于如何被应用。</a:t>
                    </a:r>
                    <a:endParaRPr lang="en-US" sz="1100"/>
                  </a:p>
                </p:txBody>
              </p:sp>
              <p:sp>
                <p:nvSpPr>
                  <p:cNvPr id="9" name="TextBox 9"/>
                  <p:cNvSpPr txBox="1"/>
                  <p:nvPr/>
                </p:nvSpPr>
                <p:spPr>
                  <a:xfrm>
                    <a:off x="1114655" y="2398251"/>
                    <a:ext cx="707343" cy="707343"/>
                  </a:xfrm>
                  <a:prstGeom prst="ellipse">
                    <a:avLst/>
                  </a:prstGeom>
                  <a:ln w="12700">
                    <a:solidFill>
                      <a:srgbClr val="FFFFFF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2F2F2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01</a:t>
                    </a:r>
                    <a:endParaRPr lang="en-US" sz="1100"/>
                  </a:p>
                </p:txBody>
              </p:sp>
              <p:sp>
                <p:nvSpPr>
                  <p:cNvPr id="10" name="AutoShape 10"/>
                  <p:cNvSpPr/>
                  <p:nvPr/>
                </p:nvSpPr>
                <p:spPr>
                  <a:xfrm rot="5400000">
                    <a:off x="6844162" y="2629074"/>
                    <a:ext cx="285007" cy="245696"/>
                  </a:xfrm>
                  <a:prstGeom prst="triangle">
                    <a:avLst/>
                  </a:prstGeom>
                  <a:solidFill>
                    <a:srgbClr val="F0F0F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11" name="AutoShape 11"/>
                <p:cNvSpPr/>
                <p:nvPr/>
              </p:nvSpPr>
              <p:spPr>
                <a:xfrm>
                  <a:off x="7798107" y="2312638"/>
                  <a:ext cx="0" cy="878569"/>
                </a:xfrm>
                <a:prstGeom prst="line">
                  <a:avLst/>
                </a:prstGeom>
                <a:ln w="15875">
                  <a:solidFill>
                    <a:srgbClr val="F0F0F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8569649" y="2422133"/>
                  <a:ext cx="2568249" cy="729568"/>
                </a:xfrm>
                <a:prstGeom prst="roundRect">
                  <a:avLst/>
                </a:prstGeom>
                <a:solidFill>
                  <a:srgbClr val="F0F0F0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108000" tIns="54000" rIns="108000" bIns="5040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UML不是银弹</a:t>
                  </a:r>
                  <a:endParaRPr lang="en-US" sz="1100"/>
                </a:p>
              </p:txBody>
            </p:sp>
          </p:grpSp>
          <p:grpSp>
            <p:nvGrpSpPr>
              <p:cNvPr id="13" name="Group 13"/>
              <p:cNvGrpSpPr/>
              <p:nvPr/>
            </p:nvGrpSpPr>
            <p:grpSpPr>
              <a:xfrm rot="0">
                <a:off x="1016002" y="3752972"/>
                <a:ext cx="10121896" cy="878569"/>
                <a:chOff x="1016002" y="3752972"/>
                <a:chExt cx="10121896" cy="878569"/>
              </a:xfrm>
            </p:grpSpPr>
            <p:grpSp>
              <p:nvGrpSpPr>
                <p:cNvPr id="14" name="Group 14"/>
                <p:cNvGrpSpPr/>
                <p:nvPr/>
              </p:nvGrpSpPr>
              <p:grpSpPr>
                <a:xfrm rot="0">
                  <a:off x="1016002" y="3752972"/>
                  <a:ext cx="6093512" cy="878569"/>
                  <a:chOff x="1016002" y="3752972"/>
                  <a:chExt cx="6093512" cy="878569"/>
                </a:xfrm>
              </p:grpSpPr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1016002" y="3752972"/>
                    <a:ext cx="5898485" cy="87856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84D4D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72000" tIns="45720" rIns="180000" bIns="45720" rtlCol="0" anchor="ctr" anchorCtr="0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好的模型应该服务于沟通和决策，而不是为了建模而建模。</a:t>
                    </a:r>
                    <a:endParaRPr lang="en-US" sz="1100"/>
                  </a:p>
                </p:txBody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1114655" y="3838585"/>
                    <a:ext cx="707343" cy="707343"/>
                  </a:xfrm>
                  <a:prstGeom prst="ellipse">
                    <a:avLst/>
                  </a:prstGeom>
                  <a:ln w="12700">
                    <a:solidFill>
                      <a:srgbClr val="FFFFFF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02</a:t>
                    </a:r>
                    <a:endParaRPr lang="en-US" sz="1100"/>
                  </a:p>
                </p:txBody>
              </p:sp>
              <p:sp>
                <p:nvSpPr>
                  <p:cNvPr id="17" name="AutoShape 17"/>
                  <p:cNvSpPr/>
                  <p:nvPr/>
                </p:nvSpPr>
                <p:spPr>
                  <a:xfrm rot="5400000">
                    <a:off x="6844162" y="4069408"/>
                    <a:ext cx="285007" cy="245696"/>
                  </a:xfrm>
                  <a:prstGeom prst="triangle">
                    <a:avLst/>
                  </a:prstGeom>
                  <a:solidFill>
                    <a:srgbClr val="F84D4D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18" name="AutoShape 18"/>
                <p:cNvSpPr/>
                <p:nvPr/>
              </p:nvSpPr>
              <p:spPr>
                <a:xfrm>
                  <a:off x="7798107" y="3752972"/>
                  <a:ext cx="0" cy="878569"/>
                </a:xfrm>
                <a:prstGeom prst="line">
                  <a:avLst/>
                </a:prstGeom>
                <a:ln w="15875">
                  <a:solidFill>
                    <a:srgbClr val="F0F0F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569649" y="3862467"/>
                  <a:ext cx="2568249" cy="729568"/>
                </a:xfrm>
                <a:prstGeom prst="roundRect">
                  <a:avLst/>
                </a:prstGeom>
                <a:solidFill>
                  <a:srgbClr val="F0F0F0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108000" tIns="54000" rIns="108000" bIns="5040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服务沟通决策</a:t>
                  </a:r>
                  <a:endParaRPr lang="en-US" sz="1100"/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 rot="0">
                <a:off x="1016002" y="5193307"/>
                <a:ext cx="10121896" cy="878569"/>
                <a:chOff x="1016002" y="5193307"/>
                <a:chExt cx="10121896" cy="878569"/>
              </a:xfrm>
            </p:grpSpPr>
            <p:grpSp>
              <p:nvGrpSpPr>
                <p:cNvPr id="21" name="Group 21"/>
                <p:cNvGrpSpPr/>
                <p:nvPr/>
              </p:nvGrpSpPr>
              <p:grpSpPr>
                <a:xfrm rot="0">
                  <a:off x="1016002" y="5193307"/>
                  <a:ext cx="6093512" cy="878569"/>
                  <a:chOff x="1016002" y="5193307"/>
                  <a:chExt cx="6093512" cy="878569"/>
                </a:xfrm>
              </p:grpSpPr>
              <p:sp>
                <p:nvSpPr>
                  <p:cNvPr id="22" name="TextBox 22"/>
                  <p:cNvSpPr txBox="1"/>
                  <p:nvPr/>
                </p:nvSpPr>
                <p:spPr>
                  <a:xfrm>
                    <a:off x="1016002" y="5193307"/>
                    <a:ext cx="5898485" cy="87856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0F0F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72000" tIns="45720" rIns="180000" bIns="45720" rtlCol="0" anchor="ctr" anchorCtr="0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2F2F2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根据项目规模、团队习惯和当前阶段的具体需求，灵活选择合适的UML图和抽象层次。</a:t>
                    </a:r>
                    <a:endParaRPr lang="en-US" sz="1100"/>
                  </a:p>
                </p:txBody>
              </p:sp>
              <p:sp>
                <p:nvSpPr>
                  <p:cNvPr id="23" name="TextBox 23"/>
                  <p:cNvSpPr txBox="1"/>
                  <p:nvPr/>
                </p:nvSpPr>
                <p:spPr>
                  <a:xfrm>
                    <a:off x="1114655" y="5278920"/>
                    <a:ext cx="707343" cy="707343"/>
                  </a:xfrm>
                  <a:prstGeom prst="ellipse">
                    <a:avLst/>
                  </a:prstGeom>
                  <a:ln w="12700">
                    <a:solidFill>
                      <a:srgbClr val="FFFFFF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solidFill>
                          <a:srgbClr val="2F2F2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03</a:t>
                    </a:r>
                    <a:endParaRPr lang="en-US" sz="1100"/>
                  </a:p>
                </p:txBody>
              </p:sp>
              <p:sp>
                <p:nvSpPr>
                  <p:cNvPr id="24" name="AutoShape 24"/>
                  <p:cNvSpPr/>
                  <p:nvPr/>
                </p:nvSpPr>
                <p:spPr>
                  <a:xfrm rot="5400000">
                    <a:off x="6844162" y="5509743"/>
                    <a:ext cx="285007" cy="245696"/>
                  </a:xfrm>
                  <a:prstGeom prst="triangle">
                    <a:avLst/>
                  </a:prstGeom>
                  <a:solidFill>
                    <a:srgbClr val="F0F0F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25" name="AutoShape 25"/>
                <p:cNvSpPr/>
                <p:nvPr/>
              </p:nvSpPr>
              <p:spPr>
                <a:xfrm>
                  <a:off x="7798107" y="5193307"/>
                  <a:ext cx="0" cy="878569"/>
                </a:xfrm>
                <a:prstGeom prst="line">
                  <a:avLst/>
                </a:prstGeom>
                <a:ln w="15875">
                  <a:solidFill>
                    <a:srgbClr val="F0F0F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8569649" y="5302802"/>
                  <a:ext cx="2568249" cy="729568"/>
                </a:xfrm>
                <a:prstGeom prst="roundRect">
                  <a:avLst/>
                </a:prstGeom>
                <a:solidFill>
                  <a:srgbClr val="F0F0F0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108000" tIns="54000" rIns="108000" bIns="5040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灵活选择应用</a:t>
                  </a:r>
                  <a:endParaRPr lang="en-US" sz="1100"/>
                </a:p>
              </p:txBody>
            </p:sp>
          </p:grpSp>
        </p:grp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总结与思考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09600" y="609600"/>
            <a:ext cx="10858500" cy="4451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选择题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以下哪一组UML图全部属于行为图？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类图、构件图、部署图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用例图、顺序图、状态机图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对象图、包图、组合结构图 </a:t>
            </a:r>
            <a:endParaRPr lang="en-US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活动图、时间图、外廓图A. 边界类</a:t>
            </a:r>
            <a:r>
              <a:rPr lang="zh-CN" altLang="en-US" sz="1100"/>
              <a:t>类 </a:t>
            </a:r>
            <a:r>
              <a:rPr lang="en-US" altLang="zh-CN" sz="1100"/>
              <a:t>D. </a:t>
            </a:r>
            <a:r>
              <a:rPr lang="zh-CN" altLang="en-US" sz="1100"/>
              <a:t>构件类</a:t>
            </a:r>
            <a:endParaRPr lang="zh-CN" alt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7754" y="1436914"/>
            <a:ext cx="5751146" cy="20500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结束语与问答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767754" y="3492500"/>
            <a:ext cx="5751146" cy="19285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课程核心内容结束，进入互动问答环节，鼓励同学们提出问题，共同探讨。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a2a4c61-699c-424e-9860-49123af719f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3"/>
            <a:ext cx="10858500" cy="4161223"/>
            <a:chOff x="660400" y="1130303"/>
            <a:chExt cx="10858500" cy="4161223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660400" y="2364920"/>
              <a:ext cx="2828210" cy="2926606"/>
              <a:chOff x="660401" y="2364920"/>
              <a:chExt cx="1878874" cy="2926606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1" y="2364920"/>
                <a:ext cx="1878874" cy="2926606"/>
              </a:xfrm>
              <a:prstGeom prst="roundRect">
                <a:avLst>
                  <a:gd name="adj" fmla="val 5758"/>
                </a:avLst>
              </a:prstGeom>
              <a:gradFill>
                <a:gsLst>
                  <a:gs pos="0">
                    <a:srgbClr val="F84D4D">
                      <a:alpha val="100000"/>
                      <a:lumMod val="60000"/>
                      <a:lumOff val="40000"/>
                    </a:srgbClr>
                  </a:gs>
                  <a:gs pos="60000">
                    <a:srgbClr val="F84D4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84501" y="2486170"/>
                <a:ext cx="853146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F8F8F8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15737" y="3536093"/>
                <a:ext cx="1752781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8F8F8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灵活应用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15736" y="4278629"/>
                <a:ext cx="1752781" cy="8717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8F8F8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不要生搬硬套UML规则，应根据具体场景和团队需要进行调整。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675545" y="2364920"/>
              <a:ext cx="2828210" cy="2926606"/>
              <a:chOff x="2908482" y="2364920"/>
              <a:chExt cx="1878874" cy="2926606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2908482" y="2364920"/>
                <a:ext cx="1878874" cy="2926606"/>
              </a:xfrm>
              <a:prstGeom prst="roundRect">
                <a:avLst>
                  <a:gd name="adj" fmla="val 5758"/>
                </a:avLst>
              </a:prstGeom>
              <a:gradFill>
                <a:gsLst>
                  <a:gs pos="0">
                    <a:srgbClr val="FF6B42">
                      <a:alpha val="100000"/>
                      <a:lumMod val="60000"/>
                      <a:lumOff val="40000"/>
                    </a:srgbClr>
                  </a:gs>
                  <a:gs pos="60000">
                    <a:srgbClr val="FF6B42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006491" y="2486170"/>
                <a:ext cx="853146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F8F8F8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937727" y="3536093"/>
                <a:ext cx="1752781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8F8F8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目标导向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937726" y="4278629"/>
                <a:ext cx="1752781" cy="8717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8F8F8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软件工程没有唯一的标准答案，有效解决实际问题才是最终目标。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690690" y="2364920"/>
              <a:ext cx="2828210" cy="2926606"/>
              <a:chOff x="5156563" y="2364920"/>
              <a:chExt cx="1878874" cy="2926606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5156563" y="2364920"/>
                <a:ext cx="1878874" cy="2926606"/>
              </a:xfrm>
              <a:prstGeom prst="roundRect">
                <a:avLst>
                  <a:gd name="adj" fmla="val 5758"/>
                </a:avLst>
              </a:prstGeom>
              <a:gradFill>
                <a:gsLst>
                  <a:gs pos="0">
                    <a:srgbClr val="5BA3EB">
                      <a:alpha val="100000"/>
                      <a:lumMod val="60000"/>
                      <a:lumOff val="40000"/>
                    </a:srgbClr>
                  </a:gs>
                  <a:gs pos="60000">
                    <a:srgbClr val="5BA3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280663" y="2486170"/>
                <a:ext cx="853146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F8F8F8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211899" y="3536093"/>
                <a:ext cx="1752781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8F8F8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持续学习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211898" y="4278629"/>
                <a:ext cx="1752781" cy="8717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8F8F8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UML的海洋广阔，保持学习的热情，不断在实践中提升建模能力。</a:t>
                </a:r>
                <a:endParaRPr lang="en-US" sz="1100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0400" y="1130303"/>
              <a:ext cx="10858500" cy="7781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知识是死的，技能是活的</a:t>
              </a:r>
              <a:endParaRPr lang="en-US" sz="11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结束语</a:t>
            </a:r>
            <a:endParaRPr lang="en-US"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85c8d56-8460-4c77-a852-ee22b339286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FFFFFF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4259232"/>
            <a:chOff x="660400" y="1130300"/>
            <a:chExt cx="10858500" cy="4259232"/>
          </a:xfrm>
        </p:grpSpPr>
        <p:sp>
          <p:nvSpPr>
            <p:cNvPr id="4" name="AutoShape 4"/>
            <p:cNvSpPr/>
            <p:nvPr/>
          </p:nvSpPr>
          <p:spPr>
            <a:xfrm flipH="1">
              <a:off x="7001344" y="2284910"/>
              <a:ext cx="2857746" cy="884888"/>
            </a:xfrm>
            <a:prstGeom prst="roundRect">
              <a:avLst/>
            </a:prstGeom>
            <a:solidFill>
              <a:srgbClr val="F0F0F0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2472067" y="2284910"/>
              <a:ext cx="2857746" cy="884888"/>
            </a:xfrm>
            <a:prstGeom prst="roundRect">
              <a:avLst/>
            </a:prstGeom>
            <a:solidFill>
              <a:srgbClr val="F0F0F0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Q &amp; A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2320208" y="2156292"/>
              <a:ext cx="3009607" cy="3233240"/>
              <a:chOff x="2320208" y="2156292"/>
              <a:chExt cx="3009607" cy="3233240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2596263" y="2434964"/>
                <a:ext cx="639919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236182" y="2284910"/>
                <a:ext cx="1927739" cy="8848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自由提问</a:t>
                </a:r>
                <a:endParaRPr lang="en-US" sz="1100"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2472067" y="3372081"/>
                <a:ext cx="2857748" cy="2017451"/>
              </a:xfrm>
              <a:prstGeom prst="roundRect">
                <a:avLst>
                  <a:gd name="adj" fmla="val 6800"/>
                </a:avLst>
              </a:prstGeom>
              <a:solidFill>
                <a:srgbClr val="F0F0F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596263" y="3512741"/>
                <a:ext cx="2609356" cy="17817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欢迎同学们提出关于本次课程内容、案例、工具使用或未来学习方向等任何问题。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2320208" y="2156292"/>
                <a:ext cx="306300" cy="306300"/>
              </a:xfrm>
              <a:prstGeom prst="ellipse">
                <a:avLst/>
              </a:prstGeom>
              <a:solidFill>
                <a:srgbClr val="F0F0F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 rot="0">
              <a:off x="6848194" y="2156292"/>
              <a:ext cx="3010899" cy="3233240"/>
              <a:chOff x="6848194" y="2156292"/>
              <a:chExt cx="3010899" cy="323324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113221" y="2434964"/>
                <a:ext cx="639919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solidFill>
                      <a:srgbClr val="F84D4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07156" y="2284910"/>
                <a:ext cx="1927739" cy="8848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84D4D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共同探讨</a:t>
                </a:r>
                <a:endParaRPr lang="en-US" sz="1100"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7001345" y="3372081"/>
                <a:ext cx="2857748" cy="2017451"/>
              </a:xfrm>
              <a:prstGeom prst="roundRect">
                <a:avLst>
                  <a:gd name="adj" fmla="val 6800"/>
                </a:avLst>
              </a:prstGeom>
              <a:solidFill>
                <a:srgbClr val="F0F0F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125539" y="3501403"/>
                <a:ext cx="2609356" cy="17817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让我们通过交流和讨论，共同深化对UML的理解与应用。</a:t>
                </a:r>
                <a:endParaRPr lang="en-US" sz="110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6848194" y="2156292"/>
                <a:ext cx="306300" cy="306300"/>
              </a:xfrm>
              <a:prstGeom prst="ellipse">
                <a:avLst/>
              </a:prstGeom>
              <a:solidFill>
                <a:srgbClr val="F84D4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现场问答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7674708" cy="3187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2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3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4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5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6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7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8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9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10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11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12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13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14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15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16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ags/tag17.xml><?xml version="1.0" encoding="utf-8"?>
<p:tagLst xmlns:p="http://schemas.openxmlformats.org/presentationml/2006/main">
  <p:tag name="KSO_WM_DIAGRAM_VIRTUALLY_FRAME" val="{&quot;height&quot;:375.6499212598425,&quot;left&quot;:52,&quot;top&quot;:89,&quot;width&quot;:855}"/>
</p:tagLst>
</file>

<file path=ppt/theme/theme1.xml><?xml version="1.0" encoding="utf-8"?>
<a:theme xmlns:a="http://schemas.openxmlformats.org/drawingml/2006/main" name="9e25ea2a-a943-4bb2-83fe-c7a7b40ba00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6233</Words>
  <Application>WPS 演示</Application>
  <PresentationFormat>On-screen Show (4:3)</PresentationFormat>
  <Paragraphs>905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quote-cjk-patch</vt:lpstr>
      <vt:lpstr>Segoe Print</vt:lpstr>
      <vt:lpstr>9e25ea2a-a943-4bb2-83fe-c7a7b40ba00c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渡劫</cp:lastModifiedBy>
  <cp:revision>3</cp:revision>
  <dcterms:created xsi:type="dcterms:W3CDTF">2006-08-16T00:00:00Z</dcterms:created>
  <dcterms:modified xsi:type="dcterms:W3CDTF">2026-05-31T10:40:14Z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5FD38E3612504664A3E3945BA8A0B28E_12</vt:lpwstr>
  </property>
</Properties>
</file>